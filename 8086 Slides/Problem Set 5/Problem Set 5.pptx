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65" r:id="rId3"/>
    <p:sldId id="266" r:id="rId4"/>
    <p:sldId id="257" r:id="rId5"/>
    <p:sldId id="258" r:id="rId6"/>
    <p:sldId id="263" r:id="rId7"/>
    <p:sldId id="259" r:id="rId8"/>
    <p:sldId id="264" r:id="rId9"/>
    <p:sldId id="260" r:id="rId10"/>
    <p:sldId id="261" r:id="rId11"/>
    <p:sldId id="262" r:id="rId12"/>
    <p:sldId id="267" r:id="rId13"/>
    <p:sldId id="277" r:id="rId14"/>
    <p:sldId id="278" r:id="rId15"/>
    <p:sldId id="279" r:id="rId16"/>
    <p:sldId id="280" r:id="rId17"/>
    <p:sldId id="281" r:id="rId18"/>
    <p:sldId id="282" r:id="rId19"/>
    <p:sldId id="284" r:id="rId20"/>
    <p:sldId id="285" r:id="rId21"/>
    <p:sldId id="28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5B935-A599-492C-90EA-8DCFE8E1808F}"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6C930-C5C0-43A6-8398-BFE835322519}" type="slidenum">
              <a:rPr lang="en-US" smtClean="0"/>
              <a:t>‹#›</a:t>
            </a:fld>
            <a:endParaRPr lang="en-US"/>
          </a:p>
        </p:txBody>
      </p:sp>
    </p:spTree>
    <p:extLst>
      <p:ext uri="{BB962C8B-B14F-4D97-AF65-F5344CB8AC3E}">
        <p14:creationId xmlns:p14="http://schemas.microsoft.com/office/powerpoint/2010/main" val="1448273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027337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561746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4012306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534791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3114EB-0FAB-4E01-854D-9FC43738702D}"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107707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700470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196568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710974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182903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036678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73272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71973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851046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80573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556924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065552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153357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23114EB-0FAB-4E01-854D-9FC43738702D}" type="datetimeFigureOut">
              <a:rPr lang="en-US" smtClean="0"/>
              <a:t>3/16/2026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Tree>
    <p:extLst>
      <p:ext uri="{BB962C8B-B14F-4D97-AF65-F5344CB8AC3E}">
        <p14:creationId xmlns:p14="http://schemas.microsoft.com/office/powerpoint/2010/main" val="131756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ircuit board">
            <a:extLst>
              <a:ext uri="{FF2B5EF4-FFF2-40B4-BE49-F238E27FC236}">
                <a16:creationId xmlns:a16="http://schemas.microsoft.com/office/drawing/2014/main" id="{A139660C-237F-C86E-9138-037A1A8FEBFC}"/>
              </a:ext>
            </a:extLst>
          </p:cNvPr>
          <p:cNvPicPr>
            <a:picLocks noChangeAspect="1"/>
          </p:cNvPicPr>
          <p:nvPr/>
        </p:nvPicPr>
        <p:blipFill>
          <a:blip r:embed="rId2">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406DFD7E-9621-250E-61FA-D33C63991B29}"/>
              </a:ext>
            </a:extLst>
          </p:cNvPr>
          <p:cNvSpPr>
            <a:spLocks noGrp="1"/>
          </p:cNvSpPr>
          <p:nvPr>
            <p:ph type="ctrTitle"/>
          </p:nvPr>
        </p:nvSpPr>
        <p:spPr>
          <a:xfrm>
            <a:off x="1154955" y="1447800"/>
            <a:ext cx="8825658" cy="3329581"/>
          </a:xfrm>
        </p:spPr>
        <p:txBody>
          <a:bodyPr>
            <a:normAutofit/>
          </a:bodyPr>
          <a:lstStyle/>
          <a:p>
            <a:r>
              <a:rPr lang="en-US" dirty="0">
                <a:solidFill>
                  <a:schemeClr val="tx1"/>
                </a:solidFill>
              </a:rPr>
              <a:t>8086 Assembly</a:t>
            </a:r>
          </a:p>
        </p:txBody>
      </p:sp>
      <p:sp>
        <p:nvSpPr>
          <p:cNvPr id="3" name="Subtitle 2">
            <a:extLst>
              <a:ext uri="{FF2B5EF4-FFF2-40B4-BE49-F238E27FC236}">
                <a16:creationId xmlns:a16="http://schemas.microsoft.com/office/drawing/2014/main" id="{4C5168E7-6B95-D696-897C-0898DF7A5467}"/>
              </a:ext>
            </a:extLst>
          </p:cNvPr>
          <p:cNvSpPr>
            <a:spLocks noGrp="1"/>
          </p:cNvSpPr>
          <p:nvPr>
            <p:ph type="subTitle" idx="1"/>
          </p:nvPr>
        </p:nvSpPr>
        <p:spPr>
          <a:xfrm>
            <a:off x="1154955" y="4777380"/>
            <a:ext cx="8825658" cy="861420"/>
          </a:xfrm>
        </p:spPr>
        <p:txBody>
          <a:bodyPr>
            <a:normAutofit/>
          </a:bodyPr>
          <a:lstStyle/>
          <a:p>
            <a:r>
              <a:rPr lang="en-US" dirty="0">
                <a:solidFill>
                  <a:schemeClr val="tx1"/>
                </a:solidFill>
              </a:rPr>
              <a:t>Problem Set 5</a:t>
            </a:r>
          </a:p>
        </p:txBody>
      </p:sp>
      <p:sp>
        <p:nvSpPr>
          <p:cNvPr id="11" name="Rectangle 1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4931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4914C-28EB-2572-7E06-FB01809A6304}"/>
              </a:ext>
            </a:extLst>
          </p:cNvPr>
          <p:cNvSpPr>
            <a:spLocks noGrp="1"/>
          </p:cNvSpPr>
          <p:nvPr>
            <p:ph type="title"/>
          </p:nvPr>
        </p:nvSpPr>
        <p:spPr/>
        <p:txBody>
          <a:bodyPr/>
          <a:lstStyle/>
          <a:p>
            <a:r>
              <a:rPr lang="en-US" dirty="0"/>
              <a:t>UART Interface</a:t>
            </a:r>
          </a:p>
        </p:txBody>
      </p:sp>
      <p:sp>
        <p:nvSpPr>
          <p:cNvPr id="3" name="Content Placeholder 2">
            <a:extLst>
              <a:ext uri="{FF2B5EF4-FFF2-40B4-BE49-F238E27FC236}">
                <a16:creationId xmlns:a16="http://schemas.microsoft.com/office/drawing/2014/main" id="{53D48C83-0815-8145-B16C-AA2471863A56}"/>
              </a:ext>
            </a:extLst>
          </p:cNvPr>
          <p:cNvSpPr>
            <a:spLocks noGrp="1"/>
          </p:cNvSpPr>
          <p:nvPr>
            <p:ph idx="1"/>
          </p:nvPr>
        </p:nvSpPr>
        <p:spPr>
          <a:xfrm>
            <a:off x="1103312" y="1698354"/>
            <a:ext cx="10354680" cy="4195481"/>
          </a:xfrm>
        </p:spPr>
        <p:txBody>
          <a:bodyPr/>
          <a:lstStyle/>
          <a:p>
            <a:r>
              <a:rPr lang="en-US" dirty="0"/>
              <a:t>UART is an interface like any other serial interface I2C, SPI, and so on</a:t>
            </a:r>
          </a:p>
          <a:p>
            <a:r>
              <a:rPr lang="en-US" dirty="0"/>
              <a:t>UART is commonly used between computers and modems, but it can be used between two computers directly</a:t>
            </a:r>
          </a:p>
          <a:p>
            <a:r>
              <a:rPr lang="en-US" dirty="0"/>
              <a:t>UART serial port has a standard pin configuration, however the usage of the pins depends on the use case of the system</a:t>
            </a:r>
          </a:p>
          <a:p>
            <a:r>
              <a:rPr lang="en-US" dirty="0"/>
              <a:t>In PC-to-PC connection (without modems) the pins are connected as follows: RXD-TXD, TXD-RXD, GND-GND, and all other pins are not used (only used if strictly needed)</a:t>
            </a:r>
          </a:p>
          <a:p>
            <a:r>
              <a:rPr lang="en-US" dirty="0"/>
              <a:t>In PC-to-modem connection (modem can be connected to another PC, another modem, a phone, or any other device): all pins are used between the </a:t>
            </a:r>
            <a:r>
              <a:rPr lang="en-US" dirty="0">
                <a:solidFill>
                  <a:schemeClr val="accent3">
                    <a:lumMod val="60000"/>
                    <a:lumOff val="40000"/>
                  </a:schemeClr>
                </a:solidFill>
              </a:rPr>
              <a:t>two UART ports on the PC and the modem</a:t>
            </a:r>
            <a:r>
              <a:rPr lang="en-US" dirty="0"/>
              <a:t>.</a:t>
            </a:r>
          </a:p>
          <a:p>
            <a:pPr lvl="1"/>
            <a:endParaRPr lang="en-US" dirty="0"/>
          </a:p>
        </p:txBody>
      </p:sp>
    </p:spTree>
    <p:extLst>
      <p:ext uri="{BB962C8B-B14F-4D97-AF65-F5344CB8AC3E}">
        <p14:creationId xmlns:p14="http://schemas.microsoft.com/office/powerpoint/2010/main" val="1980813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0BCC3-3C9E-E4CC-6FA7-06345767E37A}"/>
              </a:ext>
            </a:extLst>
          </p:cNvPr>
          <p:cNvSpPr>
            <a:spLocks noGrp="1"/>
          </p:cNvSpPr>
          <p:nvPr>
            <p:ph type="title"/>
          </p:nvPr>
        </p:nvSpPr>
        <p:spPr/>
        <p:txBody>
          <a:bodyPr/>
          <a:lstStyle/>
          <a:p>
            <a:r>
              <a:rPr lang="en-US" dirty="0"/>
              <a:t>RS232 Port</a:t>
            </a:r>
          </a:p>
        </p:txBody>
      </p:sp>
      <p:graphicFrame>
        <p:nvGraphicFramePr>
          <p:cNvPr id="4" name="Content Placeholder 3">
            <a:extLst>
              <a:ext uri="{FF2B5EF4-FFF2-40B4-BE49-F238E27FC236}">
                <a16:creationId xmlns:a16="http://schemas.microsoft.com/office/drawing/2014/main" id="{8B44063D-6DBD-3440-FB27-4C9D3116F448}"/>
              </a:ext>
            </a:extLst>
          </p:cNvPr>
          <p:cNvGraphicFramePr>
            <a:graphicFrameLocks noGrp="1"/>
          </p:cNvGraphicFramePr>
          <p:nvPr>
            <p:ph idx="1"/>
            <p:extLst>
              <p:ext uri="{D42A27DB-BD31-4B8C-83A1-F6EECF244321}">
                <p14:modId xmlns:p14="http://schemas.microsoft.com/office/powerpoint/2010/main" val="383817166"/>
              </p:ext>
            </p:extLst>
          </p:nvPr>
        </p:nvGraphicFramePr>
        <p:xfrm>
          <a:off x="646111" y="1419482"/>
          <a:ext cx="7480852" cy="4985800"/>
        </p:xfrm>
        <a:graphic>
          <a:graphicData uri="http://schemas.openxmlformats.org/drawingml/2006/table">
            <a:tbl>
              <a:tblPr firstRow="1" firstCol="1">
                <a:tableStyleId>{72833802-FEF1-4C79-8D5D-14CF1EAF98D9}</a:tableStyleId>
              </a:tblPr>
              <a:tblGrid>
                <a:gridCol w="398918">
                  <a:extLst>
                    <a:ext uri="{9D8B030D-6E8A-4147-A177-3AD203B41FA5}">
                      <a16:colId xmlns:a16="http://schemas.microsoft.com/office/drawing/2014/main" val="20000"/>
                    </a:ext>
                  </a:extLst>
                </a:gridCol>
                <a:gridCol w="625151">
                  <a:extLst>
                    <a:ext uri="{9D8B030D-6E8A-4147-A177-3AD203B41FA5}">
                      <a16:colId xmlns:a16="http://schemas.microsoft.com/office/drawing/2014/main" val="20001"/>
                    </a:ext>
                  </a:extLst>
                </a:gridCol>
                <a:gridCol w="1343608">
                  <a:extLst>
                    <a:ext uri="{9D8B030D-6E8A-4147-A177-3AD203B41FA5}">
                      <a16:colId xmlns:a16="http://schemas.microsoft.com/office/drawing/2014/main" val="20002"/>
                    </a:ext>
                  </a:extLst>
                </a:gridCol>
                <a:gridCol w="1838130">
                  <a:extLst>
                    <a:ext uri="{9D8B030D-6E8A-4147-A177-3AD203B41FA5}">
                      <a16:colId xmlns:a16="http://schemas.microsoft.com/office/drawing/2014/main" val="20003"/>
                    </a:ext>
                  </a:extLst>
                </a:gridCol>
                <a:gridCol w="3275045">
                  <a:extLst>
                    <a:ext uri="{9D8B030D-6E8A-4147-A177-3AD203B41FA5}">
                      <a16:colId xmlns:a16="http://schemas.microsoft.com/office/drawing/2014/main" val="3419822288"/>
                    </a:ext>
                  </a:extLst>
                </a:gridCol>
              </a:tblGrid>
              <a:tr h="223747">
                <a:tc>
                  <a:txBody>
                    <a:bodyPr/>
                    <a:lstStyle/>
                    <a:p>
                      <a:pPr algn="ctr"/>
                      <a:r>
                        <a:rPr lang="en-US" sz="1400" dirty="0">
                          <a:solidFill>
                            <a:schemeClr val="tx1"/>
                          </a:solidFill>
                        </a:rPr>
                        <a:t>Pin</a:t>
                      </a:r>
                      <a:endParaRPr lang="en-US" sz="1400" dirty="0">
                        <a:solidFill>
                          <a:schemeClr val="tx1"/>
                        </a:solidFill>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400">
                          <a:solidFill>
                            <a:schemeClr val="tx1"/>
                          </a:solidFill>
                        </a:rPr>
                        <a:t>SIG.</a:t>
                      </a:r>
                      <a:endParaRPr lang="en-US" sz="1400">
                        <a:solidFill>
                          <a:schemeClr val="tx1"/>
                        </a:solidFill>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400" dirty="0">
                          <a:solidFill>
                            <a:schemeClr val="tx1"/>
                          </a:solidFill>
                        </a:rPr>
                        <a:t>Signal Name</a:t>
                      </a:r>
                      <a:endParaRPr lang="en-US" sz="1400" dirty="0">
                        <a:solidFill>
                          <a:schemeClr val="tx1"/>
                        </a:solidFill>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400" dirty="0">
                          <a:solidFill>
                            <a:schemeClr val="tx1"/>
                          </a:solidFill>
                        </a:rPr>
                        <a:t>Direction</a:t>
                      </a:r>
                      <a:endParaRPr lang="en-US" sz="1400" dirty="0">
                        <a:solidFill>
                          <a:schemeClr val="tx1"/>
                        </a:solidFill>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400" dirty="0">
                          <a:solidFill>
                            <a:schemeClr val="tx1"/>
                          </a:solidFill>
                          <a:latin typeface="arial"/>
                        </a:rPr>
                        <a:t>Explanation</a:t>
                      </a: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397891">
                <a:tc>
                  <a:txBody>
                    <a:bodyPr/>
                    <a:lstStyle/>
                    <a:p>
                      <a:pPr algn="ctr"/>
                      <a:r>
                        <a:rPr lang="en-US" sz="1400" b="1" dirty="0"/>
                        <a:t>1</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dirty="0"/>
                        <a:t>DCD</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Data Carrier Detect</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modem to PC</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Indicates that the modem has detected a carrier signal from a remote device</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1"/>
                  </a:ext>
                </a:extLst>
              </a:tr>
              <a:tr h="278648">
                <a:tc>
                  <a:txBody>
                    <a:bodyPr/>
                    <a:lstStyle/>
                    <a:p>
                      <a:pPr algn="ctr"/>
                      <a:r>
                        <a:rPr lang="en-US" sz="1400" b="1" dirty="0"/>
                        <a:t>2</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dirty="0"/>
                        <a:t>RXD</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Receive Data</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modem (or a PC) to PC</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2"/>
                  </a:ext>
                </a:extLst>
              </a:tr>
              <a:tr h="397891">
                <a:tc>
                  <a:txBody>
                    <a:bodyPr/>
                    <a:lstStyle/>
                    <a:p>
                      <a:pPr algn="ctr"/>
                      <a:r>
                        <a:rPr lang="en-US" sz="1400" b="1"/>
                        <a:t>3</a:t>
                      </a:r>
                      <a:endParaRPr lang="en-US" sz="1400" b="1">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dirty="0"/>
                        <a:t>TXD</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Transmit Data</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PC to modem (or a PC)</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3"/>
                  </a:ext>
                </a:extLst>
              </a:tr>
              <a:tr h="278648">
                <a:tc>
                  <a:txBody>
                    <a:bodyPr/>
                    <a:lstStyle/>
                    <a:p>
                      <a:pPr algn="ctr"/>
                      <a:r>
                        <a:rPr lang="en-US" sz="1400" b="1" dirty="0"/>
                        <a:t>4</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dirty="0"/>
                        <a:t>DTR</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Data Terminal Ready</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PC to modem</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Tells the modem that the computer is ready</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4"/>
                  </a:ext>
                </a:extLst>
              </a:tr>
              <a:tr h="223747">
                <a:tc>
                  <a:txBody>
                    <a:bodyPr/>
                    <a:lstStyle/>
                    <a:p>
                      <a:pPr algn="ctr"/>
                      <a:r>
                        <a:rPr lang="en-US" sz="1400" b="1"/>
                        <a:t>5</a:t>
                      </a:r>
                      <a:endParaRPr lang="en-US" sz="1400" b="1">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a:t>GND</a:t>
                      </a:r>
                      <a:endParaRPr lang="en-US" sz="1400" b="1">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Signal Ground</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latin typeface="arial"/>
                        </a:rPr>
                        <a:t>-</a:t>
                      </a: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5"/>
                  </a:ext>
                </a:extLst>
              </a:tr>
              <a:tr h="278648">
                <a:tc>
                  <a:txBody>
                    <a:bodyPr/>
                    <a:lstStyle/>
                    <a:p>
                      <a:pPr algn="ctr"/>
                      <a:r>
                        <a:rPr lang="en-US" sz="1400" b="1" dirty="0"/>
                        <a:t>6</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a:t>DSR</a:t>
                      </a:r>
                      <a:endParaRPr lang="en-US" sz="1400" b="1">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Data Set Ready</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modem to PC</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Tells the computer that the modem is powered on and ready</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6"/>
                  </a:ext>
                </a:extLst>
              </a:tr>
              <a:tr h="278648">
                <a:tc>
                  <a:txBody>
                    <a:bodyPr/>
                    <a:lstStyle/>
                    <a:p>
                      <a:pPr algn="ctr"/>
                      <a:r>
                        <a:rPr lang="en-US" sz="1400" b="1" dirty="0"/>
                        <a:t>7</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a:t>RTS</a:t>
                      </a:r>
                      <a:endParaRPr lang="en-US" sz="1400" b="1">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Request to Send</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computer to PC</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Indicates the computer wants to send data</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7"/>
                  </a:ext>
                </a:extLst>
              </a:tr>
              <a:tr h="278648">
                <a:tc>
                  <a:txBody>
                    <a:bodyPr/>
                    <a:lstStyle/>
                    <a:p>
                      <a:pPr algn="ctr"/>
                      <a:r>
                        <a:rPr lang="en-US" sz="1400" b="1" dirty="0"/>
                        <a:t>8</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dirty="0"/>
                        <a:t>CTS</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Clear to Send</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modem to PC</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Modem responds that it's ready to receive data</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8"/>
                  </a:ext>
                </a:extLst>
              </a:tr>
              <a:tr h="278648">
                <a:tc>
                  <a:txBody>
                    <a:bodyPr/>
                    <a:lstStyle/>
                    <a:p>
                      <a:pPr algn="ctr"/>
                      <a:r>
                        <a:rPr lang="en-US" sz="1400" b="1" dirty="0"/>
                        <a:t>9</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b="1" dirty="0"/>
                        <a:t>RI</a:t>
                      </a:r>
                      <a:endParaRPr lang="en-US" sz="1400" b="1"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Ring Indicator</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From modem to PC</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400" dirty="0"/>
                        <a:t>Alerts the computer that the phone line is ringing (in special modems)</a:t>
                      </a:r>
                      <a:endParaRPr lang="en-US" sz="1400" dirty="0">
                        <a:latin typeface="arial"/>
                      </a:endParaRPr>
                    </a:p>
                  </a:txBody>
                  <a:tcPr marL="71846" marR="71846" marT="35930" marB="3593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pic>
        <p:nvPicPr>
          <p:cNvPr id="5" name="Picture 3" descr="http://www.db9-pinout.com/db9-pinout/db9-pinout.gif">
            <a:extLst>
              <a:ext uri="{FF2B5EF4-FFF2-40B4-BE49-F238E27FC236}">
                <a16:creationId xmlns:a16="http://schemas.microsoft.com/office/drawing/2014/main" id="{F7731E77-86BC-FFF3-38E6-FE311FA8B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2711" y="2368874"/>
            <a:ext cx="3256245" cy="314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4867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16224-A975-825D-AF5D-0C51C5AAADDA}"/>
              </a:ext>
            </a:extLst>
          </p:cNvPr>
          <p:cNvSpPr>
            <a:spLocks noGrp="1"/>
          </p:cNvSpPr>
          <p:nvPr>
            <p:ph type="title"/>
          </p:nvPr>
        </p:nvSpPr>
        <p:spPr/>
        <p:txBody>
          <a:bodyPr/>
          <a:lstStyle/>
          <a:p>
            <a:r>
              <a:rPr lang="en-US" dirty="0"/>
              <a:t>UART Frame</a:t>
            </a:r>
          </a:p>
        </p:txBody>
      </p:sp>
      <p:pic>
        <p:nvPicPr>
          <p:cNvPr id="4" name="Picture 13" descr="fg17_00300">
            <a:extLst>
              <a:ext uri="{FF2B5EF4-FFF2-40B4-BE49-F238E27FC236}">
                <a16:creationId xmlns:a16="http://schemas.microsoft.com/office/drawing/2014/main" id="{804BBFFC-997F-074E-71FC-AB8F4738704D}"/>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950376" y="2205369"/>
            <a:ext cx="10291247" cy="2447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extLst>
      <p:ext uri="{BB962C8B-B14F-4D97-AF65-F5344CB8AC3E}">
        <p14:creationId xmlns:p14="http://schemas.microsoft.com/office/powerpoint/2010/main" val="2748292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A736-5EBE-FB36-C4F0-8D6992983189}"/>
              </a:ext>
            </a:extLst>
          </p:cNvPr>
          <p:cNvSpPr>
            <a:spLocks noGrp="1"/>
          </p:cNvSpPr>
          <p:nvPr>
            <p:ph type="title"/>
          </p:nvPr>
        </p:nvSpPr>
        <p:spPr/>
        <p:txBody>
          <a:bodyPr/>
          <a:lstStyle/>
          <a:p>
            <a:r>
              <a:rPr lang="en-US" dirty="0"/>
              <a:t>Baud Rate vs Bit Rate</a:t>
            </a:r>
          </a:p>
        </p:txBody>
      </p:sp>
      <p:pic>
        <p:nvPicPr>
          <p:cNvPr id="21" name="Picture 20" descr="A diagram of a graph&#10;&#10;Description automatically generated with medium confidence">
            <a:extLst>
              <a:ext uri="{FF2B5EF4-FFF2-40B4-BE49-F238E27FC236}">
                <a16:creationId xmlns:a16="http://schemas.microsoft.com/office/drawing/2014/main" id="{9C0C7C21-5C88-5B3A-11C8-AD0328EC43F9}"/>
              </a:ext>
            </a:extLst>
          </p:cNvPr>
          <p:cNvPicPr>
            <a:picLocks noChangeAspect="1"/>
          </p:cNvPicPr>
          <p:nvPr/>
        </p:nvPicPr>
        <p:blipFill rotWithShape="1">
          <a:blip r:embed="rId2">
            <a:extLst>
              <a:ext uri="{28A0092B-C50C-407E-A947-70E740481C1C}">
                <a14:useLocalDpi xmlns:a14="http://schemas.microsoft.com/office/drawing/2010/main" val="0"/>
              </a:ext>
            </a:extLst>
          </a:blip>
          <a:srcRect l="3254" t="4451" r="2521" b="6298"/>
          <a:stretch/>
        </p:blipFill>
        <p:spPr>
          <a:xfrm>
            <a:off x="1551864" y="1703957"/>
            <a:ext cx="9159680" cy="3857087"/>
          </a:xfrm>
          <a:prstGeom prst="rect">
            <a:avLst/>
          </a:prstGeom>
        </p:spPr>
      </p:pic>
      <p:sp>
        <p:nvSpPr>
          <p:cNvPr id="22" name="TextBox 21">
            <a:extLst>
              <a:ext uri="{FF2B5EF4-FFF2-40B4-BE49-F238E27FC236}">
                <a16:creationId xmlns:a16="http://schemas.microsoft.com/office/drawing/2014/main" id="{8CBC7136-2AF3-0BF4-EC1F-FCAAA4FC8C80}"/>
              </a:ext>
            </a:extLst>
          </p:cNvPr>
          <p:cNvSpPr txBox="1"/>
          <p:nvPr/>
        </p:nvSpPr>
        <p:spPr>
          <a:xfrm>
            <a:off x="1573635" y="5747656"/>
            <a:ext cx="6164552" cy="369332"/>
          </a:xfrm>
          <a:prstGeom prst="rect">
            <a:avLst/>
          </a:prstGeom>
          <a:noFill/>
        </p:spPr>
        <p:txBody>
          <a:bodyPr wrap="square" rtlCol="0">
            <a:spAutoFit/>
          </a:bodyPr>
          <a:lstStyle/>
          <a:p>
            <a:r>
              <a:rPr lang="en-US" dirty="0"/>
              <a:t>Baud rate 	= Number of level changes per second</a:t>
            </a:r>
          </a:p>
        </p:txBody>
      </p:sp>
      <p:sp>
        <p:nvSpPr>
          <p:cNvPr id="23" name="TextBox 22">
            <a:extLst>
              <a:ext uri="{FF2B5EF4-FFF2-40B4-BE49-F238E27FC236}">
                <a16:creationId xmlns:a16="http://schemas.microsoft.com/office/drawing/2014/main" id="{EC79E3E8-07C2-86CD-4A8D-40F2681A1908}"/>
              </a:ext>
            </a:extLst>
          </p:cNvPr>
          <p:cNvSpPr txBox="1"/>
          <p:nvPr/>
        </p:nvSpPr>
        <p:spPr>
          <a:xfrm>
            <a:off x="1573635" y="6089984"/>
            <a:ext cx="6164552" cy="369332"/>
          </a:xfrm>
          <a:prstGeom prst="rect">
            <a:avLst/>
          </a:prstGeom>
          <a:noFill/>
        </p:spPr>
        <p:txBody>
          <a:bodyPr wrap="square" rtlCol="0">
            <a:spAutoFit/>
          </a:bodyPr>
          <a:lstStyle/>
          <a:p>
            <a:r>
              <a:rPr lang="en-US" dirty="0"/>
              <a:t>Bit rate 		= Number of bits transmitted per second</a:t>
            </a:r>
          </a:p>
        </p:txBody>
      </p:sp>
    </p:spTree>
    <p:extLst>
      <p:ext uri="{BB962C8B-B14F-4D97-AF65-F5344CB8AC3E}">
        <p14:creationId xmlns:p14="http://schemas.microsoft.com/office/powerpoint/2010/main" val="608642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74D74-39FE-EEEB-FCB1-C923704A7538}"/>
              </a:ext>
            </a:extLst>
          </p:cNvPr>
          <p:cNvSpPr>
            <a:spLocks noGrp="1"/>
          </p:cNvSpPr>
          <p:nvPr>
            <p:ph type="title"/>
          </p:nvPr>
        </p:nvSpPr>
        <p:spPr/>
        <p:txBody>
          <a:bodyPr/>
          <a:lstStyle/>
          <a:p>
            <a:r>
              <a:rPr lang="en-US" dirty="0"/>
              <a:t>Serial Comm. In 8086</a:t>
            </a:r>
          </a:p>
        </p:txBody>
      </p:sp>
      <p:sp>
        <p:nvSpPr>
          <p:cNvPr id="3" name="Content Placeholder 2">
            <a:extLst>
              <a:ext uri="{FF2B5EF4-FFF2-40B4-BE49-F238E27FC236}">
                <a16:creationId xmlns:a16="http://schemas.microsoft.com/office/drawing/2014/main" id="{0539EA2F-D377-1F3E-4D5E-1D5A326321BF}"/>
              </a:ext>
            </a:extLst>
          </p:cNvPr>
          <p:cNvSpPr>
            <a:spLocks noGrp="1"/>
          </p:cNvSpPr>
          <p:nvPr>
            <p:ph idx="1"/>
          </p:nvPr>
        </p:nvSpPr>
        <p:spPr>
          <a:xfrm>
            <a:off x="1119758" y="1744824"/>
            <a:ext cx="9952483" cy="3993503"/>
          </a:xfrm>
        </p:spPr>
        <p:txBody>
          <a:bodyPr>
            <a:normAutofit fontScale="92500" lnSpcReduction="10000"/>
          </a:bodyPr>
          <a:lstStyle/>
          <a:p>
            <a:pPr marL="0" indent="0">
              <a:buNone/>
            </a:pPr>
            <a:r>
              <a:rPr lang="en-US" sz="2400" dirty="0"/>
              <a:t>Two Methods to Use Serial Communications in 8086 Assembly</a:t>
            </a:r>
          </a:p>
          <a:p>
            <a:pPr marL="800100" lvl="1" indent="-342900">
              <a:buFont typeface="+mj-lt"/>
              <a:buAutoNum type="arabicPeriod"/>
            </a:pPr>
            <a:r>
              <a:rPr lang="en-US" sz="2000" dirty="0"/>
              <a:t>Using Interrupt 14h</a:t>
            </a:r>
          </a:p>
          <a:p>
            <a:pPr marL="1257300" lvl="2" indent="-342900">
              <a:buFont typeface="+mj-lt"/>
              <a:buAutoNum type="alphaLcParenR"/>
            </a:pPr>
            <a:r>
              <a:rPr lang="en-US" altLang="en-US" sz="1800" dirty="0">
                <a:solidFill>
                  <a:schemeClr val="accent3">
                    <a:lumMod val="40000"/>
                    <a:lumOff val="60000"/>
                  </a:schemeClr>
                </a:solidFill>
              </a:rPr>
              <a:t>To Initialize COM Port</a:t>
            </a:r>
          </a:p>
          <a:p>
            <a:pPr marL="1371600" lvl="3" indent="0">
              <a:buNone/>
            </a:pPr>
            <a:r>
              <a:rPr lang="en-US" altLang="en-US" sz="1600" dirty="0">
                <a:solidFill>
                  <a:schemeClr val="accent3">
                    <a:lumMod val="40000"/>
                    <a:lumOff val="60000"/>
                  </a:schemeClr>
                </a:solidFill>
              </a:rPr>
              <a:t>INT 14H, DX = Port Number, AH = 0, AL = configuration</a:t>
            </a:r>
          </a:p>
          <a:p>
            <a:pPr marL="1257300" lvl="2" indent="-342900">
              <a:buFont typeface="+mj-lt"/>
              <a:buAutoNum type="alphaLcParenR"/>
            </a:pPr>
            <a:r>
              <a:rPr lang="en-US" altLang="en-US" sz="1800" dirty="0">
                <a:solidFill>
                  <a:schemeClr val="accent3">
                    <a:lumMod val="40000"/>
                    <a:lumOff val="60000"/>
                  </a:schemeClr>
                </a:solidFill>
              </a:rPr>
              <a:t>To send a character</a:t>
            </a:r>
          </a:p>
          <a:p>
            <a:pPr marL="1371600" lvl="3" indent="0">
              <a:buNone/>
            </a:pPr>
            <a:r>
              <a:rPr lang="en-US" altLang="en-US" sz="1600" dirty="0">
                <a:solidFill>
                  <a:schemeClr val="accent3">
                    <a:lumMod val="40000"/>
                    <a:lumOff val="60000"/>
                  </a:schemeClr>
                </a:solidFill>
              </a:rPr>
              <a:t>INT 14H, DX = Port Number, AH = 1, AL = character</a:t>
            </a:r>
          </a:p>
          <a:p>
            <a:pPr marL="1257300" lvl="2" indent="-342900">
              <a:buFont typeface="+mj-lt"/>
              <a:buAutoNum type="alphaLcParenR"/>
            </a:pPr>
            <a:r>
              <a:rPr lang="en-US" altLang="en-US" sz="1800" dirty="0">
                <a:solidFill>
                  <a:schemeClr val="accent3">
                    <a:lumMod val="40000"/>
                    <a:lumOff val="60000"/>
                  </a:schemeClr>
                </a:solidFill>
              </a:rPr>
              <a:t>To receive a character</a:t>
            </a:r>
          </a:p>
          <a:p>
            <a:pPr marL="1371600" lvl="3" indent="0">
              <a:buNone/>
            </a:pPr>
            <a:r>
              <a:rPr lang="en-US" altLang="en-US" sz="1600" dirty="0">
                <a:solidFill>
                  <a:schemeClr val="accent3">
                    <a:lumMod val="40000"/>
                    <a:lumOff val="60000"/>
                  </a:schemeClr>
                </a:solidFill>
              </a:rPr>
              <a:t>INT 14H, DX = Port Number, AH = 3 (to get COM port status in register AH) </a:t>
            </a:r>
          </a:p>
          <a:p>
            <a:pPr marL="1257300" lvl="2" indent="-342900">
              <a:buFont typeface="+mj-lt"/>
              <a:buAutoNum type="alphaLcParenR"/>
            </a:pPr>
            <a:r>
              <a:rPr lang="en-US" altLang="en-US" sz="1800" dirty="0">
                <a:solidFill>
                  <a:schemeClr val="accent3">
                    <a:lumMod val="40000"/>
                    <a:lumOff val="60000"/>
                  </a:schemeClr>
                </a:solidFill>
              </a:rPr>
              <a:t>To read the received character</a:t>
            </a:r>
          </a:p>
          <a:p>
            <a:pPr marL="1371600" lvl="3" indent="0">
              <a:buNone/>
            </a:pPr>
            <a:r>
              <a:rPr lang="en-US" altLang="en-US" sz="1600" dirty="0">
                <a:solidFill>
                  <a:schemeClr val="accent3">
                    <a:lumMod val="40000"/>
                    <a:lumOff val="60000"/>
                  </a:schemeClr>
                </a:solidFill>
              </a:rPr>
              <a:t>INT 14H, DX = Port Number, AH = 2 (AL holds the character upon return)</a:t>
            </a:r>
            <a:endParaRPr lang="en-US" sz="1800" dirty="0">
              <a:solidFill>
                <a:schemeClr val="accent3">
                  <a:lumMod val="40000"/>
                  <a:lumOff val="60000"/>
                </a:schemeClr>
              </a:solidFill>
            </a:endParaRPr>
          </a:p>
          <a:p>
            <a:pPr marL="800100" lvl="1" indent="-342900">
              <a:buFont typeface="+mj-lt"/>
              <a:buAutoNum type="arabicPeriod"/>
            </a:pPr>
            <a:r>
              <a:rPr lang="en-US" sz="2000" dirty="0"/>
              <a:t>Using IN / OUT Instruction Directly</a:t>
            </a:r>
          </a:p>
        </p:txBody>
      </p:sp>
    </p:spTree>
    <p:extLst>
      <p:ext uri="{BB962C8B-B14F-4D97-AF65-F5344CB8AC3E}">
        <p14:creationId xmlns:p14="http://schemas.microsoft.com/office/powerpoint/2010/main" val="3171482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935D-BFAB-975C-096B-F6D647AF204C}"/>
              </a:ext>
            </a:extLst>
          </p:cNvPr>
          <p:cNvSpPr>
            <a:spLocks noGrp="1"/>
          </p:cNvSpPr>
          <p:nvPr>
            <p:ph type="title"/>
          </p:nvPr>
        </p:nvSpPr>
        <p:spPr>
          <a:xfrm>
            <a:off x="646111" y="452718"/>
            <a:ext cx="9404723" cy="788253"/>
          </a:xfrm>
        </p:spPr>
        <p:txBody>
          <a:bodyPr/>
          <a:lstStyle/>
          <a:p>
            <a:r>
              <a:rPr lang="en-US" dirty="0"/>
              <a:t>Serial Ports</a:t>
            </a:r>
          </a:p>
        </p:txBody>
      </p:sp>
      <p:graphicFrame>
        <p:nvGraphicFramePr>
          <p:cNvPr id="5" name="Table 4">
            <a:extLst>
              <a:ext uri="{FF2B5EF4-FFF2-40B4-BE49-F238E27FC236}">
                <a16:creationId xmlns:a16="http://schemas.microsoft.com/office/drawing/2014/main" id="{0191C010-D3B0-3F02-C525-B7105106ECB7}"/>
              </a:ext>
            </a:extLst>
          </p:cNvPr>
          <p:cNvGraphicFramePr>
            <a:graphicFrameLocks noGrp="1"/>
          </p:cNvGraphicFramePr>
          <p:nvPr>
            <p:extLst>
              <p:ext uri="{D42A27DB-BD31-4B8C-83A1-F6EECF244321}">
                <p14:modId xmlns:p14="http://schemas.microsoft.com/office/powerpoint/2010/main" val="102999805"/>
              </p:ext>
            </p:extLst>
          </p:nvPr>
        </p:nvGraphicFramePr>
        <p:xfrm>
          <a:off x="2357897" y="1591987"/>
          <a:ext cx="7476205" cy="2168245"/>
        </p:xfrm>
        <a:graphic>
          <a:graphicData uri="http://schemas.openxmlformats.org/drawingml/2006/table">
            <a:tbl>
              <a:tblPr/>
              <a:tblGrid>
                <a:gridCol w="3604002">
                  <a:extLst>
                    <a:ext uri="{9D8B030D-6E8A-4147-A177-3AD203B41FA5}">
                      <a16:colId xmlns:a16="http://schemas.microsoft.com/office/drawing/2014/main" val="497451484"/>
                    </a:ext>
                  </a:extLst>
                </a:gridCol>
                <a:gridCol w="3872203">
                  <a:extLst>
                    <a:ext uri="{9D8B030D-6E8A-4147-A177-3AD203B41FA5}">
                      <a16:colId xmlns:a16="http://schemas.microsoft.com/office/drawing/2014/main" val="1010051133"/>
                    </a:ext>
                  </a:extLst>
                </a:gridCol>
              </a:tblGrid>
              <a:tr h="433649">
                <a:tc>
                  <a:txBody>
                    <a:bodyPr/>
                    <a:lstStyle/>
                    <a:p>
                      <a:pPr algn="ctr"/>
                      <a:r>
                        <a:rPr lang="en-US" sz="2000" b="1" dirty="0">
                          <a:solidFill>
                            <a:schemeClr val="tx1"/>
                          </a:solidFill>
                        </a:rPr>
                        <a:t>COM Port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chemeClr val="accent1">
                        <a:lumMod val="75000"/>
                      </a:schemeClr>
                    </a:solidFill>
                  </a:tcPr>
                </a:tc>
                <a:tc>
                  <a:txBody>
                    <a:bodyPr/>
                    <a:lstStyle/>
                    <a:p>
                      <a:pPr algn="ctr"/>
                      <a:r>
                        <a:rPr lang="en-US" sz="2000" b="1" dirty="0">
                          <a:solidFill>
                            <a:schemeClr val="tx1"/>
                          </a:solidFill>
                        </a:rPr>
                        <a:t>IO Port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189897769"/>
                  </a:ext>
                </a:extLst>
              </a:tr>
              <a:tr h="433649">
                <a:tc>
                  <a:txBody>
                    <a:bodyPr/>
                    <a:lstStyle/>
                    <a:p>
                      <a:r>
                        <a:rPr lang="en-US" sz="2000" dirty="0">
                          <a:solidFill>
                            <a:schemeClr val="tx1"/>
                          </a:solidFill>
                        </a:rPr>
                        <a:t>COM1</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r>
                        <a:rPr lang="en-US" sz="2000">
                          <a:solidFill>
                            <a:schemeClr val="tx1"/>
                          </a:solidFill>
                        </a:rPr>
                        <a:t>0x3F8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1599314179"/>
                  </a:ext>
                </a:extLst>
              </a:tr>
              <a:tr h="433649">
                <a:tc>
                  <a:txBody>
                    <a:bodyPr/>
                    <a:lstStyle/>
                    <a:p>
                      <a:r>
                        <a:rPr lang="en-US" sz="2000" dirty="0">
                          <a:solidFill>
                            <a:schemeClr val="tx1"/>
                          </a:solidFill>
                        </a:rPr>
                        <a:t>COM2</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r>
                        <a:rPr lang="en-US" sz="2000">
                          <a:solidFill>
                            <a:schemeClr val="tx1"/>
                          </a:solidFill>
                        </a:rPr>
                        <a:t>0x2F8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1944504578"/>
                  </a:ext>
                </a:extLst>
              </a:tr>
              <a:tr h="433649">
                <a:tc>
                  <a:txBody>
                    <a:bodyPr/>
                    <a:lstStyle/>
                    <a:p>
                      <a:r>
                        <a:rPr lang="en-US" sz="2000">
                          <a:solidFill>
                            <a:schemeClr val="tx1"/>
                          </a:solidFill>
                        </a:rPr>
                        <a:t>COM3</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r>
                        <a:rPr lang="en-US" sz="2000">
                          <a:solidFill>
                            <a:schemeClr val="tx1"/>
                          </a:solidFill>
                        </a:rPr>
                        <a:t>0x3E8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2198804086"/>
                  </a:ext>
                </a:extLst>
              </a:tr>
              <a:tr h="433649">
                <a:tc>
                  <a:txBody>
                    <a:bodyPr/>
                    <a:lstStyle/>
                    <a:p>
                      <a:r>
                        <a:rPr lang="en-US" sz="2000" dirty="0">
                          <a:solidFill>
                            <a:schemeClr val="tx1"/>
                          </a:solidFill>
                        </a:rPr>
                        <a:t>COM4</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r>
                        <a:rPr lang="en-US" sz="2000" dirty="0">
                          <a:solidFill>
                            <a:schemeClr val="tx1"/>
                          </a:solidFill>
                        </a:rPr>
                        <a:t>0x2E8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3314079050"/>
                  </a:ext>
                </a:extLst>
              </a:tr>
            </a:tbl>
          </a:graphicData>
        </a:graphic>
      </p:graphicFrame>
      <p:sp>
        <p:nvSpPr>
          <p:cNvPr id="6" name="Title 1">
            <a:extLst>
              <a:ext uri="{FF2B5EF4-FFF2-40B4-BE49-F238E27FC236}">
                <a16:creationId xmlns:a16="http://schemas.microsoft.com/office/drawing/2014/main" id="{4163A06C-85EC-63CD-FF81-E2C7FFFF1C09}"/>
              </a:ext>
            </a:extLst>
          </p:cNvPr>
          <p:cNvSpPr txBox="1">
            <a:spLocks/>
          </p:cNvSpPr>
          <p:nvPr/>
        </p:nvSpPr>
        <p:spPr>
          <a:xfrm>
            <a:off x="646111" y="1026368"/>
            <a:ext cx="9404723" cy="598531"/>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Base Address</a:t>
            </a:r>
          </a:p>
        </p:txBody>
      </p:sp>
      <p:sp>
        <p:nvSpPr>
          <p:cNvPr id="7" name="Title 1">
            <a:extLst>
              <a:ext uri="{FF2B5EF4-FFF2-40B4-BE49-F238E27FC236}">
                <a16:creationId xmlns:a16="http://schemas.microsoft.com/office/drawing/2014/main" id="{CC059384-6254-C5B5-F328-C4C2C61D505E}"/>
              </a:ext>
            </a:extLst>
          </p:cNvPr>
          <p:cNvSpPr txBox="1">
            <a:spLocks/>
          </p:cNvSpPr>
          <p:nvPr/>
        </p:nvSpPr>
        <p:spPr>
          <a:xfrm>
            <a:off x="646110" y="3701509"/>
            <a:ext cx="9404723" cy="598531"/>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Registers Offsets</a:t>
            </a:r>
          </a:p>
        </p:txBody>
      </p:sp>
      <p:graphicFrame>
        <p:nvGraphicFramePr>
          <p:cNvPr id="8" name="Table 7">
            <a:extLst>
              <a:ext uri="{FF2B5EF4-FFF2-40B4-BE49-F238E27FC236}">
                <a16:creationId xmlns:a16="http://schemas.microsoft.com/office/drawing/2014/main" id="{747941F4-A5F9-4AD7-2851-7BAB97D13C09}"/>
              </a:ext>
            </a:extLst>
          </p:cNvPr>
          <p:cNvGraphicFramePr>
            <a:graphicFrameLocks noGrp="1"/>
          </p:cNvGraphicFramePr>
          <p:nvPr>
            <p:extLst>
              <p:ext uri="{D42A27DB-BD31-4B8C-83A1-F6EECF244321}">
                <p14:modId xmlns:p14="http://schemas.microsoft.com/office/powerpoint/2010/main" val="243854734"/>
              </p:ext>
            </p:extLst>
          </p:nvPr>
        </p:nvGraphicFramePr>
        <p:xfrm>
          <a:off x="2357897" y="4208405"/>
          <a:ext cx="7476205" cy="2334036"/>
        </p:xfrm>
        <a:graphic>
          <a:graphicData uri="http://schemas.openxmlformats.org/drawingml/2006/table">
            <a:tbl>
              <a:tblPr/>
              <a:tblGrid>
                <a:gridCol w="3604002">
                  <a:extLst>
                    <a:ext uri="{9D8B030D-6E8A-4147-A177-3AD203B41FA5}">
                      <a16:colId xmlns:a16="http://schemas.microsoft.com/office/drawing/2014/main" val="497451484"/>
                    </a:ext>
                  </a:extLst>
                </a:gridCol>
                <a:gridCol w="3872203">
                  <a:extLst>
                    <a:ext uri="{9D8B030D-6E8A-4147-A177-3AD203B41FA5}">
                      <a16:colId xmlns:a16="http://schemas.microsoft.com/office/drawing/2014/main" val="1010051133"/>
                    </a:ext>
                  </a:extLst>
                </a:gridCol>
              </a:tblGrid>
              <a:tr h="433649">
                <a:tc>
                  <a:txBody>
                    <a:bodyPr/>
                    <a:lstStyle/>
                    <a:p>
                      <a:pPr algn="ctr"/>
                      <a:r>
                        <a:rPr lang="en-US" sz="2000" b="1" dirty="0">
                          <a:solidFill>
                            <a:schemeClr val="tx1"/>
                          </a:solidFill>
                        </a:rPr>
                        <a:t>COM Port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chemeClr val="accent1">
                        <a:lumMod val="75000"/>
                      </a:schemeClr>
                    </a:solidFill>
                  </a:tcPr>
                </a:tc>
                <a:tc>
                  <a:txBody>
                    <a:bodyPr/>
                    <a:lstStyle/>
                    <a:p>
                      <a:pPr algn="ctr"/>
                      <a:r>
                        <a:rPr lang="en-US" sz="2000" b="1" dirty="0">
                          <a:solidFill>
                            <a:schemeClr val="tx1"/>
                          </a:solidFill>
                        </a:rPr>
                        <a:t>IO Port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189897769"/>
                  </a:ext>
                </a:extLst>
              </a:tr>
              <a:tr h="433649">
                <a:tc>
                  <a:txBody>
                    <a:bodyPr/>
                    <a:lstStyle/>
                    <a:p>
                      <a:r>
                        <a:rPr lang="en-US" sz="1600" dirty="0">
                          <a:solidFill>
                            <a:schemeClr val="tx1"/>
                          </a:solidFill>
                        </a:rPr>
                        <a:t>I/O Data Register / Lower Baud Rate Divisor Register</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r>
                        <a:rPr lang="en-US" sz="2000" dirty="0">
                          <a:solidFill>
                            <a:schemeClr val="tx1"/>
                          </a:solidFill>
                        </a:rPr>
                        <a:t>0x000</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1599314179"/>
                  </a:ext>
                </a:extLst>
              </a:tr>
              <a:tr h="433649">
                <a:tc>
                  <a:txBody>
                    <a:bodyPr/>
                    <a:lstStyle/>
                    <a:p>
                      <a:r>
                        <a:rPr lang="en-US" sz="1600" dirty="0">
                          <a:solidFill>
                            <a:schemeClr val="tx1"/>
                          </a:solidFill>
                        </a:rPr>
                        <a:t>Higher Baud Rate Divisor Register</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r>
                        <a:rPr lang="en-US" sz="2000" dirty="0">
                          <a:solidFill>
                            <a:schemeClr val="tx1"/>
                          </a:solidFill>
                        </a:rPr>
                        <a:t>0x001</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1944504578"/>
                  </a:ext>
                </a:extLst>
              </a:tr>
              <a:tr h="433649">
                <a:tc>
                  <a:txBody>
                    <a:bodyPr/>
                    <a:lstStyle/>
                    <a:p>
                      <a:r>
                        <a:rPr lang="en-US" sz="2000" dirty="0">
                          <a:solidFill>
                            <a:schemeClr val="tx1"/>
                          </a:solidFill>
                        </a:rPr>
                        <a:t>Line Control Register</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r>
                        <a:rPr lang="en-US" sz="2000" dirty="0">
                          <a:solidFill>
                            <a:schemeClr val="tx1"/>
                          </a:solidFill>
                        </a:rPr>
                        <a:t>0x003</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2198804086"/>
                  </a:ext>
                </a:extLst>
              </a:tr>
              <a:tr h="433649">
                <a:tc>
                  <a:txBody>
                    <a:bodyPr/>
                    <a:lstStyle/>
                    <a:p>
                      <a:r>
                        <a:rPr lang="en-US" sz="2000" dirty="0">
                          <a:solidFill>
                            <a:schemeClr val="tx1"/>
                          </a:solidFill>
                        </a:rPr>
                        <a:t>Line Status Register</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0x005 </a:t>
                      </a:r>
                    </a:p>
                  </a:txBody>
                  <a:tcPr marL="55880" marR="55880" marT="55880" marB="5588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noFill/>
                  </a:tcPr>
                </a:tc>
                <a:extLst>
                  <a:ext uri="{0D108BD9-81ED-4DB2-BD59-A6C34878D82A}">
                    <a16:rowId xmlns:a16="http://schemas.microsoft.com/office/drawing/2014/main" val="3314079050"/>
                  </a:ext>
                </a:extLst>
              </a:tr>
            </a:tbl>
          </a:graphicData>
        </a:graphic>
      </p:graphicFrame>
    </p:spTree>
    <p:extLst>
      <p:ext uri="{BB962C8B-B14F-4D97-AF65-F5344CB8AC3E}">
        <p14:creationId xmlns:p14="http://schemas.microsoft.com/office/powerpoint/2010/main" val="427857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A3EAF-1A53-DE29-6546-8C2709D3903F}"/>
              </a:ext>
            </a:extLst>
          </p:cNvPr>
          <p:cNvSpPr>
            <a:spLocks noGrp="1"/>
          </p:cNvSpPr>
          <p:nvPr>
            <p:ph type="title"/>
          </p:nvPr>
        </p:nvSpPr>
        <p:spPr/>
        <p:txBody>
          <a:bodyPr/>
          <a:lstStyle/>
          <a:p>
            <a:r>
              <a:rPr lang="en-US" dirty="0"/>
              <a:t>Data Register</a:t>
            </a:r>
          </a:p>
        </p:txBody>
      </p:sp>
      <p:sp>
        <p:nvSpPr>
          <p:cNvPr id="3" name="Content Placeholder 2">
            <a:extLst>
              <a:ext uri="{FF2B5EF4-FFF2-40B4-BE49-F238E27FC236}">
                <a16:creationId xmlns:a16="http://schemas.microsoft.com/office/drawing/2014/main" id="{CEABC7C7-BEA2-4DD8-6FAA-675150EF1691}"/>
              </a:ext>
            </a:extLst>
          </p:cNvPr>
          <p:cNvSpPr>
            <a:spLocks noGrp="1"/>
          </p:cNvSpPr>
          <p:nvPr>
            <p:ph idx="1"/>
          </p:nvPr>
        </p:nvSpPr>
        <p:spPr>
          <a:xfrm>
            <a:off x="1103312" y="2052918"/>
            <a:ext cx="8946541" cy="845433"/>
          </a:xfrm>
        </p:spPr>
        <p:txBody>
          <a:bodyPr/>
          <a:lstStyle/>
          <a:p>
            <a:r>
              <a:rPr lang="en-US" dirty="0"/>
              <a:t>The transmitter / receiver data register is internally composed of two internal registers:</a:t>
            </a:r>
          </a:p>
        </p:txBody>
      </p:sp>
      <p:graphicFrame>
        <p:nvGraphicFramePr>
          <p:cNvPr id="7" name="Table 6">
            <a:extLst>
              <a:ext uri="{FF2B5EF4-FFF2-40B4-BE49-F238E27FC236}">
                <a16:creationId xmlns:a16="http://schemas.microsoft.com/office/drawing/2014/main" id="{1225696A-F729-BEB0-3997-D0429157AB96}"/>
              </a:ext>
            </a:extLst>
          </p:cNvPr>
          <p:cNvGraphicFramePr>
            <a:graphicFrameLocks noGrp="1"/>
          </p:cNvGraphicFramePr>
          <p:nvPr>
            <p:extLst>
              <p:ext uri="{D42A27DB-BD31-4B8C-83A1-F6EECF244321}">
                <p14:modId xmlns:p14="http://schemas.microsoft.com/office/powerpoint/2010/main" val="403990458"/>
              </p:ext>
            </p:extLst>
          </p:nvPr>
        </p:nvGraphicFramePr>
        <p:xfrm>
          <a:off x="1489790" y="2898351"/>
          <a:ext cx="9404723" cy="1645920"/>
        </p:xfrm>
        <a:graphic>
          <a:graphicData uri="http://schemas.openxmlformats.org/drawingml/2006/table">
            <a:tbl>
              <a:tblPr/>
              <a:tblGrid>
                <a:gridCol w="2676311">
                  <a:extLst>
                    <a:ext uri="{9D8B030D-6E8A-4147-A177-3AD203B41FA5}">
                      <a16:colId xmlns:a16="http://schemas.microsoft.com/office/drawing/2014/main" val="259210123"/>
                    </a:ext>
                  </a:extLst>
                </a:gridCol>
                <a:gridCol w="1800947">
                  <a:extLst>
                    <a:ext uri="{9D8B030D-6E8A-4147-A177-3AD203B41FA5}">
                      <a16:colId xmlns:a16="http://schemas.microsoft.com/office/drawing/2014/main" val="628398895"/>
                    </a:ext>
                  </a:extLst>
                </a:gridCol>
                <a:gridCol w="2093487">
                  <a:extLst>
                    <a:ext uri="{9D8B030D-6E8A-4147-A177-3AD203B41FA5}">
                      <a16:colId xmlns:a16="http://schemas.microsoft.com/office/drawing/2014/main" val="258006468"/>
                    </a:ext>
                  </a:extLst>
                </a:gridCol>
                <a:gridCol w="2833978">
                  <a:extLst>
                    <a:ext uri="{9D8B030D-6E8A-4147-A177-3AD203B41FA5}">
                      <a16:colId xmlns:a16="http://schemas.microsoft.com/office/drawing/2014/main" val="67482819"/>
                    </a:ext>
                  </a:extLst>
                </a:gridCol>
              </a:tblGrid>
              <a:tr h="365760">
                <a:tc>
                  <a:txBody>
                    <a:bodyPr/>
                    <a:lstStyle/>
                    <a:p>
                      <a:pPr algn="ctr"/>
                      <a:r>
                        <a:rPr lang="en-US" sz="1600"/>
                        <a:t>Register</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600" dirty="0"/>
                        <a:t>Direction</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600"/>
                        <a:t>Role</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600" dirty="0"/>
                        <a:t>Common Flag</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495259839"/>
                  </a:ext>
                </a:extLst>
              </a:tr>
              <a:tr h="640080">
                <a:tc>
                  <a:txBody>
                    <a:bodyPr/>
                    <a:lstStyle/>
                    <a:p>
                      <a:pPr algn="l"/>
                      <a:r>
                        <a:rPr lang="en-US" sz="1500" dirty="0"/>
                        <a:t>Transmit Holding Reg (THR)</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l"/>
                      <a:r>
                        <a:rPr lang="en-US" sz="1500" dirty="0"/>
                        <a:t>Output (Transmit)</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l"/>
                      <a:r>
                        <a:rPr lang="en-US" sz="1500" dirty="0"/>
                        <a:t>Holds data to send</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l"/>
                      <a:r>
                        <a:rPr lang="en-US" sz="1500" dirty="0"/>
                        <a:t>THRE (THR Empty)</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22205040"/>
                  </a:ext>
                </a:extLst>
              </a:tr>
              <a:tr h="640080">
                <a:tc>
                  <a:txBody>
                    <a:bodyPr/>
                    <a:lstStyle/>
                    <a:p>
                      <a:pPr algn="l"/>
                      <a:r>
                        <a:rPr lang="en-US" sz="1500" dirty="0"/>
                        <a:t>Receiver Buffer Reg (RBR)</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l"/>
                      <a:r>
                        <a:rPr lang="en-US" sz="1500"/>
                        <a:t>Input (Receive)</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l"/>
                      <a:r>
                        <a:rPr lang="en-US" sz="1500"/>
                        <a:t>Holds received data</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l"/>
                      <a:r>
                        <a:rPr lang="en-US" sz="1500" dirty="0"/>
                        <a:t>RDR (Receiver Data Ready)</a:t>
                      </a:r>
                    </a:p>
                  </a:txBody>
                  <a:tcPr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3777266305"/>
                  </a:ext>
                </a:extLst>
              </a:tr>
            </a:tbl>
          </a:graphicData>
        </a:graphic>
      </p:graphicFrame>
      <p:sp>
        <p:nvSpPr>
          <p:cNvPr id="8" name="Content Placeholder 2">
            <a:extLst>
              <a:ext uri="{FF2B5EF4-FFF2-40B4-BE49-F238E27FC236}">
                <a16:creationId xmlns:a16="http://schemas.microsoft.com/office/drawing/2014/main" id="{0A34E0DC-9A66-E7C1-71E3-0BCC23ED4E87}"/>
              </a:ext>
            </a:extLst>
          </p:cNvPr>
          <p:cNvSpPr txBox="1">
            <a:spLocks/>
          </p:cNvSpPr>
          <p:nvPr/>
        </p:nvSpPr>
        <p:spPr>
          <a:xfrm>
            <a:off x="1103311" y="4762243"/>
            <a:ext cx="8946541" cy="84543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Both registers use the same port address without conflicts because writes and reads are mutually exclusive in behavior</a:t>
            </a:r>
          </a:p>
        </p:txBody>
      </p:sp>
    </p:spTree>
    <p:extLst>
      <p:ext uri="{BB962C8B-B14F-4D97-AF65-F5344CB8AC3E}">
        <p14:creationId xmlns:p14="http://schemas.microsoft.com/office/powerpoint/2010/main" val="729807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021A4-A7E6-5B9F-9115-89161047BE04}"/>
              </a:ext>
            </a:extLst>
          </p:cNvPr>
          <p:cNvSpPr>
            <a:spLocks noGrp="1"/>
          </p:cNvSpPr>
          <p:nvPr>
            <p:ph type="title"/>
          </p:nvPr>
        </p:nvSpPr>
        <p:spPr>
          <a:xfrm>
            <a:off x="646111" y="452718"/>
            <a:ext cx="9404723" cy="918882"/>
          </a:xfrm>
        </p:spPr>
        <p:txBody>
          <a:bodyPr/>
          <a:lstStyle/>
          <a:p>
            <a:r>
              <a:rPr lang="en-US" dirty="0"/>
              <a:t>Line Control Register</a:t>
            </a:r>
          </a:p>
        </p:txBody>
      </p:sp>
      <p:graphicFrame>
        <p:nvGraphicFramePr>
          <p:cNvPr id="4" name="Content Placeholder 8">
            <a:extLst>
              <a:ext uri="{FF2B5EF4-FFF2-40B4-BE49-F238E27FC236}">
                <a16:creationId xmlns:a16="http://schemas.microsoft.com/office/drawing/2014/main" id="{1DDF6B6D-FD0E-070A-08F3-E4F8FC894FFE}"/>
              </a:ext>
            </a:extLst>
          </p:cNvPr>
          <p:cNvGraphicFramePr>
            <a:graphicFrameLocks/>
          </p:cNvGraphicFramePr>
          <p:nvPr>
            <p:extLst>
              <p:ext uri="{D42A27DB-BD31-4B8C-83A1-F6EECF244321}">
                <p14:modId xmlns:p14="http://schemas.microsoft.com/office/powerpoint/2010/main" val="1293124384"/>
              </p:ext>
            </p:extLst>
          </p:nvPr>
        </p:nvGraphicFramePr>
        <p:xfrm>
          <a:off x="1885950" y="1474237"/>
          <a:ext cx="8339193" cy="4803668"/>
        </p:xfrm>
        <a:graphic>
          <a:graphicData uri="http://schemas.openxmlformats.org/drawingml/2006/table">
            <a:tbl>
              <a:tblPr>
                <a:tableStyleId>{5C22544A-7EE6-4342-B048-85BDC9FD1C3A}</a:tableStyleId>
              </a:tblPr>
              <a:tblGrid>
                <a:gridCol w="1683936">
                  <a:extLst>
                    <a:ext uri="{9D8B030D-6E8A-4147-A177-3AD203B41FA5}">
                      <a16:colId xmlns:a16="http://schemas.microsoft.com/office/drawing/2014/main" val="4082201761"/>
                    </a:ext>
                  </a:extLst>
                </a:gridCol>
                <a:gridCol w="563463">
                  <a:extLst>
                    <a:ext uri="{9D8B030D-6E8A-4147-A177-3AD203B41FA5}">
                      <a16:colId xmlns:a16="http://schemas.microsoft.com/office/drawing/2014/main" val="3067982191"/>
                    </a:ext>
                  </a:extLst>
                </a:gridCol>
                <a:gridCol w="194345">
                  <a:extLst>
                    <a:ext uri="{9D8B030D-6E8A-4147-A177-3AD203B41FA5}">
                      <a16:colId xmlns:a16="http://schemas.microsoft.com/office/drawing/2014/main" val="1771845238"/>
                    </a:ext>
                  </a:extLst>
                </a:gridCol>
                <a:gridCol w="220834">
                  <a:extLst>
                    <a:ext uri="{9D8B030D-6E8A-4147-A177-3AD203B41FA5}">
                      <a16:colId xmlns:a16="http://schemas.microsoft.com/office/drawing/2014/main" val="2265991417"/>
                    </a:ext>
                  </a:extLst>
                </a:gridCol>
                <a:gridCol w="135439">
                  <a:extLst>
                    <a:ext uri="{9D8B030D-6E8A-4147-A177-3AD203B41FA5}">
                      <a16:colId xmlns:a16="http://schemas.microsoft.com/office/drawing/2014/main" val="3005842902"/>
                    </a:ext>
                  </a:extLst>
                </a:gridCol>
                <a:gridCol w="367222">
                  <a:extLst>
                    <a:ext uri="{9D8B030D-6E8A-4147-A177-3AD203B41FA5}">
                      <a16:colId xmlns:a16="http://schemas.microsoft.com/office/drawing/2014/main" val="1921891058"/>
                    </a:ext>
                  </a:extLst>
                </a:gridCol>
                <a:gridCol w="192615">
                  <a:extLst>
                    <a:ext uri="{9D8B030D-6E8A-4147-A177-3AD203B41FA5}">
                      <a16:colId xmlns:a16="http://schemas.microsoft.com/office/drawing/2014/main" val="3615453015"/>
                    </a:ext>
                  </a:extLst>
                </a:gridCol>
                <a:gridCol w="4981339">
                  <a:extLst>
                    <a:ext uri="{9D8B030D-6E8A-4147-A177-3AD203B41FA5}">
                      <a16:colId xmlns:a16="http://schemas.microsoft.com/office/drawing/2014/main" val="3637284983"/>
                    </a:ext>
                  </a:extLst>
                </a:gridCol>
              </a:tblGrid>
              <a:tr h="226458">
                <a:tc rowSpan="2">
                  <a:txBody>
                    <a:bodyPr/>
                    <a:lstStyle/>
                    <a:p>
                      <a:pPr algn="ctr" fontAlgn="t"/>
                      <a:r>
                        <a:rPr lang="en-US" sz="1400" u="none" strike="noStrike" dirty="0">
                          <a:solidFill>
                            <a:schemeClr val="tx1"/>
                          </a:solidFill>
                          <a:effectLst/>
                        </a:rPr>
                        <a:t>Bit 7</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3">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gridSpan="4">
                  <a:txBody>
                    <a:bodyPr/>
                    <a:lstStyle/>
                    <a:p>
                      <a:pPr algn="ctr"/>
                      <a:r>
                        <a:rPr lang="en-US" sz="1400" u="none" strike="noStrike" dirty="0">
                          <a:solidFill>
                            <a:schemeClr val="tx1"/>
                          </a:solidFill>
                          <a:effectLst/>
                        </a:rPr>
                        <a:t>Divisor Latch Access Bit</a:t>
                      </a:r>
                      <a:endParaRPr lang="en-US" dirty="0"/>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dirty="0"/>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hMerge="1">
                  <a:txBody>
                    <a:bodyPr/>
                    <a:lstStyle/>
                    <a:p>
                      <a:endParaRPr lang="en-US" dirty="0"/>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559175701"/>
                  </a:ext>
                </a:extLst>
              </a:tr>
              <a:tr h="360661">
                <a:tc vMerge="1">
                  <a:txBody>
                    <a:bodyPr/>
                    <a:lstStyle/>
                    <a:p>
                      <a:endParaRPr lang="en-US"/>
                    </a:p>
                  </a:txBody>
                  <a:tcPr/>
                </a:tc>
                <a:tc gridSpan="3">
                  <a:txBody>
                    <a:bodyPr/>
                    <a:lstStyle/>
                    <a:p>
                      <a:pPr algn="ctr" fontAlgn="ctr"/>
                      <a:r>
                        <a:rPr lang="en-US" sz="1400" u="none" strike="noStrike" dirty="0">
                          <a:solidFill>
                            <a:schemeClr val="tx1"/>
                          </a:solidFill>
                          <a:effectLst/>
                        </a:rPr>
                        <a:t>0</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gridSpan="4">
                  <a:txBody>
                    <a:bodyPr/>
                    <a:lstStyle/>
                    <a:p>
                      <a:pPr algn="ctr"/>
                      <a:r>
                        <a:rPr lang="en-US" sz="1400" u="none" strike="noStrike" dirty="0">
                          <a:solidFill>
                            <a:schemeClr val="tx1"/>
                          </a:solidFill>
                          <a:effectLst/>
                        </a:rPr>
                        <a:t>Access to Receiver buffer, Transmitter buffer</a:t>
                      </a:r>
                      <a:endParaRPr lang="en-US" dirty="0"/>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dirty="0"/>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hMerge="1">
                  <a:txBody>
                    <a:bodyPr/>
                    <a:lstStyle/>
                    <a:p>
                      <a:endParaRPr lang="en-US" dirty="0"/>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129402217"/>
                  </a:ext>
                </a:extLst>
              </a:tr>
              <a:tr h="226458">
                <a:tc>
                  <a:txBody>
                    <a:bodyPr/>
                    <a:lstStyle/>
                    <a:p>
                      <a:pPr algn="ctr" fontAlgn="ctr"/>
                      <a:r>
                        <a:rPr lang="en-US" sz="1400" u="none" strike="noStrike">
                          <a:solidFill>
                            <a:schemeClr val="tx1"/>
                          </a:solidFill>
                          <a:effectLst/>
                        </a:rPr>
                        <a:t>Bit 6</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7">
                  <a:txBody>
                    <a:bodyPr/>
                    <a:lstStyle/>
                    <a:p>
                      <a:pPr algn="ctr" fontAlgn="ctr"/>
                      <a:r>
                        <a:rPr lang="en-US" sz="1400" u="none" strike="noStrike" dirty="0">
                          <a:solidFill>
                            <a:schemeClr val="tx1"/>
                          </a:solidFill>
                          <a:effectLst/>
                        </a:rPr>
                        <a:t>Set Break Enable</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endParaRPr lang="en-US"/>
                    </a:p>
                  </a:txBody>
                  <a:tcPr>
                    <a:lnT w="12700" cap="flat" cmpd="sng" algn="ctr">
                      <a:solidFill>
                        <a:schemeClr val="accent3">
                          <a:lumMod val="60000"/>
                          <a:lumOff val="40000"/>
                        </a:schemeClr>
                      </a:solidFill>
                      <a:prstDash val="solid"/>
                      <a:round/>
                      <a:headEnd type="none" w="med" len="med"/>
                      <a:tailEnd type="none" w="med" len="med"/>
                    </a:lnT>
                  </a:tcPr>
                </a:tc>
                <a:tc hMerge="1">
                  <a:txBody>
                    <a:bodyPr/>
                    <a:lstStyle/>
                    <a:p>
                      <a:endParaRPr lang="en-US"/>
                    </a:p>
                  </a:txBody>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466185555"/>
                  </a:ext>
                </a:extLst>
              </a:tr>
              <a:tr h="445628">
                <a:tc rowSpan="6">
                  <a:txBody>
                    <a:bodyPr/>
                    <a:lstStyle/>
                    <a:p>
                      <a:pPr algn="ctr" fontAlgn="t"/>
                      <a:r>
                        <a:rPr lang="en-US" sz="1400" u="none" strike="noStrike">
                          <a:solidFill>
                            <a:schemeClr val="tx1"/>
                          </a:solidFill>
                          <a:effectLst/>
                        </a:rPr>
                        <a:t>Bits 3, 4 And 5</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fontAlgn="ctr"/>
                      <a:r>
                        <a:rPr lang="en-US" sz="1400" u="none" strike="noStrike">
                          <a:solidFill>
                            <a:schemeClr val="tx1"/>
                          </a:solidFill>
                          <a:effectLst/>
                        </a:rPr>
                        <a:t>Bit 5</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en-US" sz="1400" u="none" strike="noStrike" dirty="0">
                          <a:solidFill>
                            <a:schemeClr val="tx1"/>
                          </a:solidFill>
                          <a:effectLst/>
                        </a:rPr>
                        <a:t>Bit 4</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r>
                        <a:rPr lang="en-US" sz="1400" u="none" strike="noStrike">
                          <a:solidFill>
                            <a:schemeClr val="tx1"/>
                          </a:solidFill>
                          <a:effectLst/>
                        </a:rPr>
                        <a:t>Bit 3</a:t>
                      </a: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Bit 3</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en-US" sz="1400" u="none" strike="noStrike" dirty="0">
                          <a:solidFill>
                            <a:schemeClr val="tx1"/>
                          </a:solidFill>
                          <a:effectLst/>
                        </a:rPr>
                        <a:t>Parity Select</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fontAlgn="ctr"/>
                      <a:r>
                        <a:rPr lang="en-US" sz="1400" u="none" strike="noStrike" dirty="0">
                          <a:solidFill>
                            <a:schemeClr val="tx1"/>
                          </a:solidFill>
                          <a:effectLst/>
                        </a:rPr>
                        <a:t>Parity Select</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9407338"/>
                  </a:ext>
                </a:extLst>
              </a:tr>
              <a:tr h="226458">
                <a:tc vMerge="1">
                  <a:txBody>
                    <a:bodyPr/>
                    <a:lstStyle/>
                    <a:p>
                      <a:endParaRPr lang="en-US"/>
                    </a:p>
                  </a:txBody>
                  <a:tcPr/>
                </a:tc>
                <a:tc>
                  <a:txBody>
                    <a:bodyPr/>
                    <a:lstStyle/>
                    <a:p>
                      <a:pPr algn="ctr" fontAlgn="ctr"/>
                      <a:r>
                        <a:rPr lang="en-US" sz="1400" u="none" strike="noStrike">
                          <a:solidFill>
                            <a:schemeClr val="tx1"/>
                          </a:solidFill>
                          <a:effectLst/>
                        </a:rPr>
                        <a:t>X</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en-US" sz="1400" u="none" strike="noStrike">
                          <a:solidFill>
                            <a:schemeClr val="tx1"/>
                          </a:solidFill>
                          <a:effectLst/>
                        </a:rPr>
                        <a:t>X</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r>
                        <a:rPr lang="en-US" sz="1400" u="none" strike="noStrike">
                          <a:solidFill>
                            <a:schemeClr val="tx1"/>
                          </a:solidFill>
                          <a:effectLst/>
                        </a:rPr>
                        <a:t>0</a:t>
                      </a: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0</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en-US" sz="1400" u="none" strike="noStrike">
                          <a:solidFill>
                            <a:schemeClr val="tx1"/>
                          </a:solidFill>
                          <a:effectLst/>
                        </a:rPr>
                        <a:t>No Parity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fontAlgn="ctr"/>
                      <a:r>
                        <a:rPr lang="en-US" sz="1400" u="none" strike="noStrike" dirty="0">
                          <a:solidFill>
                            <a:schemeClr val="tx1"/>
                          </a:solidFill>
                          <a:effectLst/>
                        </a:rPr>
                        <a:t>No Parity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667061"/>
                  </a:ext>
                </a:extLst>
              </a:tr>
              <a:tr h="226458">
                <a:tc vMerge="1">
                  <a:txBody>
                    <a:bodyPr/>
                    <a:lstStyle/>
                    <a:p>
                      <a:endParaRPr lang="en-US"/>
                    </a:p>
                  </a:txBody>
                  <a:tcPr/>
                </a:tc>
                <a:tc>
                  <a:txBody>
                    <a:bodyPr/>
                    <a:lstStyle/>
                    <a:p>
                      <a:pPr algn="ctr" fontAlgn="ctr"/>
                      <a:r>
                        <a:rPr lang="en-US" sz="1400" u="none" strike="noStrike">
                          <a:solidFill>
                            <a:schemeClr val="tx1"/>
                          </a:solidFill>
                          <a:effectLst/>
                        </a:rPr>
                        <a:t>0</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en-US" sz="1400" u="none" strike="noStrike">
                          <a:solidFill>
                            <a:schemeClr val="tx1"/>
                          </a:solidFill>
                          <a:effectLst/>
                        </a:rPr>
                        <a:t>0</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r>
                        <a:rPr lang="en-US" sz="1400" u="none" strike="noStrike">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en-US" sz="1400" u="none" strike="noStrike">
                          <a:solidFill>
                            <a:schemeClr val="tx1"/>
                          </a:solidFill>
                          <a:effectLst/>
                        </a:rPr>
                        <a:t>Odd Parity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fontAlgn="ctr"/>
                      <a:r>
                        <a:rPr lang="en-US" sz="1400" u="none" strike="noStrike" dirty="0">
                          <a:solidFill>
                            <a:schemeClr val="tx1"/>
                          </a:solidFill>
                          <a:effectLst/>
                        </a:rPr>
                        <a:t>Odd Parity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709366"/>
                  </a:ext>
                </a:extLst>
              </a:tr>
              <a:tr h="240441">
                <a:tc vMerge="1">
                  <a:txBody>
                    <a:bodyPr/>
                    <a:lstStyle/>
                    <a:p>
                      <a:endParaRPr lang="en-US"/>
                    </a:p>
                  </a:txBody>
                  <a:tcPr/>
                </a:tc>
                <a:tc>
                  <a:txBody>
                    <a:bodyPr/>
                    <a:lstStyle/>
                    <a:p>
                      <a:pPr algn="ctr" fontAlgn="ctr"/>
                      <a:r>
                        <a:rPr lang="en-US" sz="1400" u="none" strike="noStrike">
                          <a:solidFill>
                            <a:schemeClr val="tx1"/>
                          </a:solidFill>
                          <a:effectLst/>
                        </a:rPr>
                        <a:t>0</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en-US" sz="1400" u="none" strike="noStrike">
                          <a:solidFill>
                            <a:schemeClr val="tx1"/>
                          </a:solidFill>
                          <a:effectLst/>
                        </a:rPr>
                        <a:t>1</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r>
                        <a:rPr lang="en-US" sz="1400" u="none" strike="noStrike">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en-US" sz="1400" u="none" strike="noStrike">
                          <a:solidFill>
                            <a:schemeClr val="tx1"/>
                          </a:solidFill>
                          <a:effectLst/>
                        </a:rPr>
                        <a:t>Even Parity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fontAlgn="ctr"/>
                      <a:r>
                        <a:rPr lang="en-US" sz="1400" u="none" strike="noStrike" dirty="0">
                          <a:solidFill>
                            <a:schemeClr val="tx1"/>
                          </a:solidFill>
                          <a:effectLst/>
                        </a:rPr>
                        <a:t>Even Parity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6500038"/>
                  </a:ext>
                </a:extLst>
              </a:tr>
              <a:tr h="360661">
                <a:tc vMerge="1">
                  <a:txBody>
                    <a:bodyPr/>
                    <a:lstStyle/>
                    <a:p>
                      <a:endParaRPr lang="en-US"/>
                    </a:p>
                  </a:txBody>
                  <a:tcPr/>
                </a:tc>
                <a:tc>
                  <a:txBody>
                    <a:bodyPr/>
                    <a:lstStyle/>
                    <a:p>
                      <a:pPr algn="ctr" fontAlgn="ctr"/>
                      <a:r>
                        <a:rPr lang="en-US" sz="1400" u="none" strike="noStrike">
                          <a:solidFill>
                            <a:schemeClr val="tx1"/>
                          </a:solidFill>
                          <a:effectLst/>
                        </a:rPr>
                        <a:t>1</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en-US" sz="1400" u="none" strike="noStrike">
                          <a:solidFill>
                            <a:schemeClr val="tx1"/>
                          </a:solidFill>
                          <a:effectLst/>
                        </a:rPr>
                        <a:t>0</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r>
                        <a:rPr lang="en-US" sz="1400" u="none" strike="noStrike">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en-US" sz="1400" u="none" strike="noStrike">
                          <a:solidFill>
                            <a:schemeClr val="tx1"/>
                          </a:solidFill>
                          <a:effectLst/>
                        </a:rPr>
                        <a:t>High Parity (Sticky)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fontAlgn="ctr"/>
                      <a:r>
                        <a:rPr lang="en-US" sz="1400" u="none" strike="noStrike" dirty="0">
                          <a:solidFill>
                            <a:schemeClr val="tx1"/>
                          </a:solidFill>
                          <a:effectLst/>
                        </a:rPr>
                        <a:t>High Parity (Sticky)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490068"/>
                  </a:ext>
                </a:extLst>
              </a:tr>
              <a:tr h="240441">
                <a:tc vMerge="1">
                  <a:txBody>
                    <a:bodyPr/>
                    <a:lstStyle/>
                    <a:p>
                      <a:endParaRPr lang="en-US"/>
                    </a:p>
                  </a:txBody>
                  <a:tcPr/>
                </a:tc>
                <a:tc>
                  <a:txBody>
                    <a:bodyPr/>
                    <a:lstStyle/>
                    <a:p>
                      <a:pPr algn="ctr" fontAlgn="ctr"/>
                      <a:r>
                        <a:rPr lang="en-US" sz="1400" u="none" strike="noStrike">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en-US" sz="1400" u="none" strike="noStrike">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en-US" sz="1400" u="none" strike="noStrike" dirty="0">
                          <a:solidFill>
                            <a:schemeClr val="tx1"/>
                          </a:solidFill>
                          <a:effectLst/>
                        </a:rPr>
                        <a:t>Low Parity (Sticky)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a:txBody>
                    <a:bodyPr/>
                    <a:lstStyle/>
                    <a:p>
                      <a:pPr algn="ctr" fontAlgn="ctr"/>
                      <a:r>
                        <a:rPr lang="en-US" sz="1400" u="none" strike="noStrike" dirty="0">
                          <a:solidFill>
                            <a:schemeClr val="tx1"/>
                          </a:solidFill>
                          <a:effectLst/>
                        </a:rPr>
                        <a:t>Low Parity (Sticky)</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9755739"/>
                  </a:ext>
                </a:extLst>
              </a:tr>
              <a:tr h="226458">
                <a:tc rowSpan="3">
                  <a:txBody>
                    <a:bodyPr/>
                    <a:lstStyle/>
                    <a:p>
                      <a:pPr algn="ctr" fontAlgn="t"/>
                      <a:r>
                        <a:rPr lang="en-US" sz="1400" u="none" strike="noStrike">
                          <a:solidFill>
                            <a:schemeClr val="tx1"/>
                          </a:solidFill>
                          <a:effectLst/>
                        </a:rPr>
                        <a:t>Bit 2</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7">
                  <a:txBody>
                    <a:bodyPr/>
                    <a:lstStyle/>
                    <a:p>
                      <a:pPr algn="ctr" fontAlgn="ctr"/>
                      <a:r>
                        <a:rPr lang="en-US" sz="1400" u="none" strike="noStrike" dirty="0">
                          <a:solidFill>
                            <a:schemeClr val="tx1"/>
                          </a:solidFill>
                          <a:effectLst/>
                        </a:rPr>
                        <a:t>Length of Stop Bit</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endParaRPr lang="en-US"/>
                    </a:p>
                  </a:txBody>
                  <a:tcPr>
                    <a:lnT w="12700" cap="flat" cmpd="sng" algn="ctr">
                      <a:solidFill>
                        <a:schemeClr val="accent3">
                          <a:lumMod val="60000"/>
                          <a:lumOff val="40000"/>
                        </a:schemeClr>
                      </a:solidFill>
                      <a:prstDash val="solid"/>
                      <a:round/>
                      <a:headEnd type="none" w="med" len="med"/>
                      <a:tailEnd type="none" w="med" len="med"/>
                    </a:lnT>
                  </a:tcPr>
                </a:tc>
                <a:tc hMerge="1">
                  <a:txBody>
                    <a:bodyPr/>
                    <a:lstStyle/>
                    <a:p>
                      <a:endParaRPr lang="en-US"/>
                    </a:p>
                  </a:txBody>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noFill/>
                  </a:tcPr>
                </a:tc>
                <a:extLst>
                  <a:ext uri="{0D108BD9-81ED-4DB2-BD59-A6C34878D82A}">
                    <a16:rowId xmlns:a16="http://schemas.microsoft.com/office/drawing/2014/main" val="3057945810"/>
                  </a:ext>
                </a:extLst>
              </a:tr>
              <a:tr h="226458">
                <a:tc vMerge="1">
                  <a:txBody>
                    <a:bodyPr/>
                    <a:lstStyle/>
                    <a:p>
                      <a:endParaRPr lang="en-US"/>
                    </a:p>
                  </a:txBody>
                  <a:tcPr/>
                </a:tc>
                <a:tc gridSpan="2">
                  <a:txBody>
                    <a:bodyPr/>
                    <a:lstStyle/>
                    <a:p>
                      <a:pPr algn="ctr" fontAlgn="ctr"/>
                      <a:r>
                        <a:rPr lang="en-US" sz="1400" u="none" strike="noStrike">
                          <a:solidFill>
                            <a:schemeClr val="tx1"/>
                          </a:solidFill>
                          <a:effectLst/>
                        </a:rPr>
                        <a:t>0</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gridSpan="5">
                  <a:txBody>
                    <a:bodyPr/>
                    <a:lstStyle/>
                    <a:p>
                      <a:pPr algn="ctr"/>
                      <a:r>
                        <a:rPr lang="en-US" sz="1400" u="none" strike="noStrike" dirty="0">
                          <a:solidFill>
                            <a:schemeClr val="tx1"/>
                          </a:solidFill>
                          <a:effectLst/>
                        </a:rPr>
                        <a:t>One Stop Bit</a:t>
                      </a:r>
                      <a:endParaRPr lang="en-US" dirty="0"/>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endParaRPr lang="en-US"/>
                    </a:p>
                  </a:txBody>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hMerge="1">
                  <a:txBody>
                    <a:bodyPr/>
                    <a:lstStyle/>
                    <a:p>
                      <a:endParaRPr lang="en-US"/>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531638485"/>
                  </a:ext>
                </a:extLst>
              </a:tr>
              <a:tr h="445628">
                <a:tc vMerge="1">
                  <a:txBody>
                    <a:bodyPr/>
                    <a:lstStyle/>
                    <a:p>
                      <a:endParaRPr lang="en-US"/>
                    </a:p>
                  </a:txBody>
                  <a:tcPr/>
                </a:tc>
                <a:tc gridSpan="2">
                  <a:txBody>
                    <a:bodyPr/>
                    <a:lstStyle/>
                    <a:p>
                      <a:pPr algn="ctr" fontAlgn="ctr"/>
                      <a:r>
                        <a:rPr lang="en-US" sz="1400" u="none" strike="noStrike">
                          <a:solidFill>
                            <a:schemeClr val="tx1"/>
                          </a:solidFill>
                          <a:effectLst/>
                        </a:rPr>
                        <a:t>1</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gridSpan="5">
                  <a:txBody>
                    <a:bodyPr/>
                    <a:lstStyle/>
                    <a:p>
                      <a:pPr algn="ctr"/>
                      <a:r>
                        <a:rPr lang="en-US" sz="1400" u="none" strike="noStrike" dirty="0">
                          <a:solidFill>
                            <a:schemeClr val="tx1"/>
                          </a:solidFill>
                          <a:effectLst/>
                        </a:rPr>
                        <a:t>2 Stop bits for words of length 6,7 or 8 bits or 1.5 Stop Bits for Word lengths of 5 bits.</a:t>
                      </a:r>
                      <a:endParaRPr lang="en-US" dirty="0"/>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endParaRPr lang="en-US"/>
                    </a:p>
                  </a:txBody>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hMerge="1">
                  <a:txBody>
                    <a:bodyPr/>
                    <a:lstStyle/>
                    <a:p>
                      <a:endParaRPr lang="en-US" dirty="0"/>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17963734"/>
                  </a:ext>
                </a:extLst>
              </a:tr>
              <a:tr h="445628">
                <a:tc rowSpan="5">
                  <a:txBody>
                    <a:bodyPr/>
                    <a:lstStyle/>
                    <a:p>
                      <a:pPr algn="ctr" fontAlgn="t"/>
                      <a:r>
                        <a:rPr lang="en-US" sz="1400" u="none" strike="noStrike" dirty="0">
                          <a:solidFill>
                            <a:schemeClr val="tx1"/>
                          </a:solidFill>
                          <a:effectLst/>
                        </a:rPr>
                        <a:t>Bits 0 And 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fontAlgn="ctr"/>
                      <a:r>
                        <a:rPr lang="en-US" sz="1400" u="none" strike="noStrike">
                          <a:solidFill>
                            <a:schemeClr val="tx1"/>
                          </a:solidFill>
                          <a:effectLst/>
                        </a:rPr>
                        <a:t>Bit 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B w="12700" cap="flat" cmpd="sng" algn="ctr">
                      <a:solidFill>
                        <a:schemeClr val="accent3">
                          <a:lumMod val="60000"/>
                          <a:lumOff val="40000"/>
                        </a:schemeClr>
                      </a:solidFill>
                      <a:prstDash val="solid"/>
                      <a:round/>
                      <a:headEnd type="none" w="med" len="med"/>
                      <a:tailEnd type="none" w="med" len="med"/>
                    </a:lnB>
                    <a:noFill/>
                  </a:tcPr>
                </a:tc>
                <a:tc gridSpan="3">
                  <a:txBody>
                    <a:bodyPr/>
                    <a:lstStyle/>
                    <a:p>
                      <a:pPr algn="ctr" fontAlgn="ctr"/>
                      <a:r>
                        <a:rPr lang="en-US" sz="1400" u="none" strike="noStrike">
                          <a:solidFill>
                            <a:schemeClr val="tx1"/>
                          </a:solidFill>
                          <a:effectLst/>
                        </a:rPr>
                        <a:t>Bit 0</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Word Length</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179950686"/>
                  </a:ext>
                </a:extLst>
              </a:tr>
              <a:tr h="226458">
                <a:tc vMerge="1">
                  <a:txBody>
                    <a:bodyPr/>
                    <a:lstStyle/>
                    <a:p>
                      <a:endParaRPr lang="en-US"/>
                    </a:p>
                  </a:txBody>
                  <a:tcPr>
                    <a:lnT w="12700" cap="flat" cmpd="sng" algn="ctr">
                      <a:solidFill>
                        <a:schemeClr val="accent3">
                          <a:lumMod val="60000"/>
                          <a:lumOff val="40000"/>
                        </a:schemeClr>
                      </a:solidFill>
                      <a:prstDash val="solid"/>
                      <a:round/>
                      <a:headEnd type="none" w="med" len="med"/>
                      <a:tailEnd type="none" w="med" len="med"/>
                    </a:lnT>
                  </a:tcPr>
                </a:tc>
                <a:tc gridSpan="2">
                  <a:txBody>
                    <a:bodyPr/>
                    <a:lstStyle/>
                    <a:p>
                      <a:pPr algn="ctr" fontAlgn="ctr"/>
                      <a:r>
                        <a:rPr lang="en-US" sz="1400" u="none" strike="noStrike">
                          <a:solidFill>
                            <a:schemeClr val="tx1"/>
                          </a:solidFill>
                          <a:effectLst/>
                        </a:rPr>
                        <a:t>0</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3">
                  <a:txBody>
                    <a:bodyPr/>
                    <a:lstStyle/>
                    <a:p>
                      <a:pPr algn="ctr" fontAlgn="ctr"/>
                      <a:r>
                        <a:rPr lang="en-US" sz="1400" u="none" strike="noStrike">
                          <a:solidFill>
                            <a:schemeClr val="tx1"/>
                          </a:solidFill>
                          <a:effectLst/>
                        </a:rPr>
                        <a:t>0</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5 Bits</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894873492"/>
                  </a:ext>
                </a:extLst>
              </a:tr>
              <a:tr h="226458">
                <a:tc vMerge="1">
                  <a:txBody>
                    <a:bodyPr/>
                    <a:lstStyle/>
                    <a:p>
                      <a:endParaRPr lang="en-US"/>
                    </a:p>
                  </a:txBody>
                  <a:tcPr/>
                </a:tc>
                <a:tc gridSpan="2">
                  <a:txBody>
                    <a:bodyPr/>
                    <a:lstStyle/>
                    <a:p>
                      <a:pPr algn="ctr" fontAlgn="ctr"/>
                      <a:r>
                        <a:rPr lang="en-US" sz="1400" u="none" strike="noStrike">
                          <a:solidFill>
                            <a:schemeClr val="tx1"/>
                          </a:solidFill>
                          <a:effectLst/>
                        </a:rPr>
                        <a:t>0</a:t>
                      </a: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3">
                  <a:txBody>
                    <a:bodyPr/>
                    <a:lstStyle/>
                    <a:p>
                      <a:pPr algn="ctr" fontAlgn="ctr"/>
                      <a:r>
                        <a:rPr lang="en-US" sz="1400" u="none" strike="noStrike">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6 Bits</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846940924"/>
                  </a:ext>
                </a:extLst>
              </a:tr>
              <a:tr h="226458">
                <a:tc vMerge="1">
                  <a:txBody>
                    <a:bodyPr/>
                    <a:lstStyle/>
                    <a:p>
                      <a:endParaRPr lang="en-US"/>
                    </a:p>
                  </a:txBody>
                  <a:tcPr/>
                </a:tc>
                <a:tc gridSpan="2">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3">
                  <a:txBody>
                    <a:bodyPr/>
                    <a:lstStyle/>
                    <a:p>
                      <a:pPr algn="ctr" fontAlgn="ctr"/>
                      <a:r>
                        <a:rPr lang="en-US" sz="1400" u="none" strike="noStrike" dirty="0">
                          <a:solidFill>
                            <a:schemeClr val="tx1"/>
                          </a:solidFill>
                          <a:effectLst/>
                        </a:rPr>
                        <a:t>0</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7 Bits</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22132932"/>
                  </a:ext>
                </a:extLst>
              </a:tr>
              <a:tr h="226458">
                <a:tc vMerge="1">
                  <a:txBody>
                    <a:bodyPr/>
                    <a:lstStyle/>
                    <a:p>
                      <a:endParaRPr lang="en-US"/>
                    </a:p>
                  </a:txBody>
                  <a:tcPr/>
                </a:tc>
                <a:tc gridSpan="2">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3">
                  <a:txBody>
                    <a:bodyPr/>
                    <a:lstStyle/>
                    <a:p>
                      <a:pPr algn="ctr" fontAlgn="ctr"/>
                      <a:r>
                        <a:rPr lang="en-US" sz="1400" u="none" strike="noStrike" dirty="0">
                          <a:solidFill>
                            <a:schemeClr val="tx1"/>
                          </a:solidFill>
                          <a:effectLst/>
                        </a:rPr>
                        <a:t>1</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accent3">
                          <a:lumMod val="60000"/>
                          <a:lumOff val="40000"/>
                        </a:schemeClr>
                      </a:solidFill>
                      <a:prstDash val="solid"/>
                      <a:round/>
                      <a:headEnd type="none" w="med" len="med"/>
                      <a:tailEnd type="none" w="med" len="med"/>
                    </a:ln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tc gridSpan="2">
                  <a:txBody>
                    <a:bodyPr/>
                    <a:lstStyle/>
                    <a:p>
                      <a:pPr algn="ctr" fontAlgn="ctr"/>
                      <a:r>
                        <a:rPr lang="en-US" sz="1400" u="none" strike="noStrike" dirty="0">
                          <a:solidFill>
                            <a:schemeClr val="tx1"/>
                          </a:solidFill>
                          <a:effectLst/>
                        </a:rPr>
                        <a:t>8 Bits</a:t>
                      </a:r>
                      <a:endParaRPr lang="en-US" sz="1400" b="0" i="0" u="none" strike="noStrike" dirty="0">
                        <a:solidFill>
                          <a:schemeClr val="tx1"/>
                        </a:solidFill>
                        <a:effectLst/>
                        <a:latin typeface="Arial" panose="020B0604020202020204" pitchFamily="34" charset="0"/>
                      </a:endParaRPr>
                    </a:p>
                  </a:txBody>
                  <a:tcPr marL="7094" marR="7094" marT="709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400" b="0" i="0" u="none" strike="noStrike" dirty="0">
                        <a:solidFill>
                          <a:schemeClr val="tx1"/>
                        </a:solidFill>
                        <a:effectLst/>
                        <a:latin typeface="Arial" panose="020B0604020202020204" pitchFamily="34" charset="0"/>
                      </a:endParaRPr>
                    </a:p>
                  </a:txBody>
                  <a:tcPr marL="7094" marR="7094" marT="7094" marB="0"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930958489"/>
                  </a:ext>
                </a:extLst>
              </a:tr>
            </a:tbl>
          </a:graphicData>
        </a:graphic>
      </p:graphicFrame>
    </p:spTree>
    <p:extLst>
      <p:ext uri="{BB962C8B-B14F-4D97-AF65-F5344CB8AC3E}">
        <p14:creationId xmlns:p14="http://schemas.microsoft.com/office/powerpoint/2010/main" val="3407375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CDCB4-04B7-B4C3-117A-59C7B59F54F0}"/>
              </a:ext>
            </a:extLst>
          </p:cNvPr>
          <p:cNvSpPr>
            <a:spLocks noGrp="1"/>
          </p:cNvSpPr>
          <p:nvPr>
            <p:ph type="title"/>
          </p:nvPr>
        </p:nvSpPr>
        <p:spPr>
          <a:xfrm>
            <a:off x="646111" y="452718"/>
            <a:ext cx="9404723" cy="932457"/>
          </a:xfrm>
        </p:spPr>
        <p:txBody>
          <a:bodyPr/>
          <a:lstStyle/>
          <a:p>
            <a:r>
              <a:rPr lang="en-US" dirty="0"/>
              <a:t>Baud Rate Divisor Register Values</a:t>
            </a:r>
          </a:p>
        </p:txBody>
      </p:sp>
      <p:graphicFrame>
        <p:nvGraphicFramePr>
          <p:cNvPr id="4" name="Content Placeholder 3">
            <a:extLst>
              <a:ext uri="{FF2B5EF4-FFF2-40B4-BE49-F238E27FC236}">
                <a16:creationId xmlns:a16="http://schemas.microsoft.com/office/drawing/2014/main" id="{E948F89C-3E23-AED1-A49B-49139D285867}"/>
              </a:ext>
            </a:extLst>
          </p:cNvPr>
          <p:cNvGraphicFramePr>
            <a:graphicFrameLocks noGrp="1"/>
          </p:cNvGraphicFramePr>
          <p:nvPr>
            <p:ph idx="1"/>
            <p:extLst>
              <p:ext uri="{D42A27DB-BD31-4B8C-83A1-F6EECF244321}">
                <p14:modId xmlns:p14="http://schemas.microsoft.com/office/powerpoint/2010/main" val="2420967823"/>
              </p:ext>
            </p:extLst>
          </p:nvPr>
        </p:nvGraphicFramePr>
        <p:xfrm>
          <a:off x="1170687" y="1853248"/>
          <a:ext cx="4411455" cy="3619577"/>
        </p:xfrm>
        <a:graphic>
          <a:graphicData uri="http://schemas.openxmlformats.org/drawingml/2006/table">
            <a:tbl>
              <a:tblPr/>
              <a:tblGrid>
                <a:gridCol w="1470485">
                  <a:extLst>
                    <a:ext uri="{9D8B030D-6E8A-4147-A177-3AD203B41FA5}">
                      <a16:colId xmlns:a16="http://schemas.microsoft.com/office/drawing/2014/main" val="604628453"/>
                    </a:ext>
                  </a:extLst>
                </a:gridCol>
                <a:gridCol w="1470485">
                  <a:extLst>
                    <a:ext uri="{9D8B030D-6E8A-4147-A177-3AD203B41FA5}">
                      <a16:colId xmlns:a16="http://schemas.microsoft.com/office/drawing/2014/main" val="2337405931"/>
                    </a:ext>
                  </a:extLst>
                </a:gridCol>
                <a:gridCol w="1470485">
                  <a:extLst>
                    <a:ext uri="{9D8B030D-6E8A-4147-A177-3AD203B41FA5}">
                      <a16:colId xmlns:a16="http://schemas.microsoft.com/office/drawing/2014/main" val="828647331"/>
                    </a:ext>
                  </a:extLst>
                </a:gridCol>
              </a:tblGrid>
              <a:tr h="450761">
                <a:tc>
                  <a:txBody>
                    <a:bodyPr/>
                    <a:lstStyle/>
                    <a:p>
                      <a:pPr marL="0" algn="ctr" defTabSz="457200" rtl="0" eaLnBrk="1" fontAlgn="t" latinLnBrk="0" hangingPunct="1"/>
                      <a:r>
                        <a:rPr lang="en-US" sz="1400" u="none" strike="noStrike" kern="1200" dirty="0">
                          <a:solidFill>
                            <a:schemeClr val="tx1"/>
                          </a:solidFill>
                          <a:effectLst/>
                          <a:latin typeface="+mn-lt"/>
                          <a:ea typeface="+mn-ea"/>
                          <a:cs typeface="+mn-cs"/>
                        </a:rPr>
                        <a:t>Bits Per Second</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200" dirty="0"/>
                        <a:t>3F9/3F9 Value</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a:r>
                        <a:rPr lang="en-US" sz="1200" dirty="0"/>
                        <a:t>3F8/2F8 Value</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320224031"/>
                  </a:ext>
                </a:extLst>
              </a:tr>
              <a:tr h="264068">
                <a:tc>
                  <a:txBody>
                    <a:bodyPr/>
                    <a:lstStyle/>
                    <a:p>
                      <a:pPr algn="ctr"/>
                      <a:r>
                        <a:rPr lang="en-US" sz="1200"/>
                        <a:t>110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4</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17h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3639891093"/>
                  </a:ext>
                </a:extLst>
              </a:tr>
              <a:tr h="264068">
                <a:tc>
                  <a:txBody>
                    <a:bodyPr/>
                    <a:lstStyle/>
                    <a:p>
                      <a:pPr algn="ctr"/>
                      <a:r>
                        <a:rPr lang="en-US" sz="1200"/>
                        <a:t>300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1</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80h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3770827626"/>
                  </a:ext>
                </a:extLst>
              </a:tr>
              <a:tr h="264068">
                <a:tc>
                  <a:txBody>
                    <a:bodyPr/>
                    <a:lstStyle/>
                    <a:p>
                      <a:pPr algn="ctr"/>
                      <a:r>
                        <a:rPr lang="en-US" sz="1200"/>
                        <a:t>600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C0h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2257382233"/>
                  </a:ext>
                </a:extLst>
              </a:tr>
              <a:tr h="264068">
                <a:tc>
                  <a:txBody>
                    <a:bodyPr/>
                    <a:lstStyle/>
                    <a:p>
                      <a:pPr algn="ctr"/>
                      <a:r>
                        <a:rPr lang="en-US" sz="1200"/>
                        <a:t>1200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60h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1934238772"/>
                  </a:ext>
                </a:extLst>
              </a:tr>
              <a:tr h="264068">
                <a:tc>
                  <a:txBody>
                    <a:bodyPr/>
                    <a:lstStyle/>
                    <a:p>
                      <a:pPr algn="ctr"/>
                      <a:r>
                        <a:rPr lang="en-US" sz="1200"/>
                        <a:t>1800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40h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334584458"/>
                  </a:ext>
                </a:extLst>
              </a:tr>
              <a:tr h="264068">
                <a:tc>
                  <a:txBody>
                    <a:bodyPr/>
                    <a:lstStyle/>
                    <a:p>
                      <a:pPr algn="ctr"/>
                      <a:r>
                        <a:rPr lang="en-US" sz="1200"/>
                        <a:t>2400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30h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579243485"/>
                  </a:ext>
                </a:extLst>
              </a:tr>
              <a:tr h="264068">
                <a:tc>
                  <a:txBody>
                    <a:bodyPr/>
                    <a:lstStyle/>
                    <a:p>
                      <a:pPr algn="ctr"/>
                      <a:r>
                        <a:rPr lang="en-US" sz="1200"/>
                        <a:t>3600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20h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2738330137"/>
                  </a:ext>
                </a:extLst>
              </a:tr>
              <a:tr h="264068">
                <a:tc>
                  <a:txBody>
                    <a:bodyPr/>
                    <a:lstStyle/>
                    <a:p>
                      <a:pPr algn="ctr"/>
                      <a:r>
                        <a:rPr lang="en-US" sz="1200"/>
                        <a:t>4800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18h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2221886125"/>
                  </a:ext>
                </a:extLst>
              </a:tr>
              <a:tr h="264068">
                <a:tc>
                  <a:txBody>
                    <a:bodyPr/>
                    <a:lstStyle/>
                    <a:p>
                      <a:pPr algn="ctr"/>
                      <a:r>
                        <a:rPr lang="en-US" sz="1200"/>
                        <a:t>9600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0Ch</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2325243868"/>
                  </a:ext>
                </a:extLst>
              </a:tr>
              <a:tr h="264068">
                <a:tc>
                  <a:txBody>
                    <a:bodyPr/>
                    <a:lstStyle/>
                    <a:p>
                      <a:pPr algn="ctr"/>
                      <a:r>
                        <a:rPr lang="en-US" sz="1200"/>
                        <a:t>19.2K</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6</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2522816994"/>
                  </a:ext>
                </a:extLst>
              </a:tr>
              <a:tr h="264068">
                <a:tc>
                  <a:txBody>
                    <a:bodyPr/>
                    <a:lstStyle/>
                    <a:p>
                      <a:pPr algn="ctr"/>
                      <a:r>
                        <a:rPr lang="en-US" sz="1200"/>
                        <a:t>38.4K</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3</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393986028"/>
                  </a:ext>
                </a:extLst>
              </a:tr>
              <a:tr h="264068">
                <a:tc>
                  <a:txBody>
                    <a:bodyPr/>
                    <a:lstStyle/>
                    <a:p>
                      <a:pPr algn="ctr"/>
                      <a:r>
                        <a:rPr lang="en-US" sz="1200"/>
                        <a:t>56K</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a:t>0</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tc>
                  <a:txBody>
                    <a:bodyPr/>
                    <a:lstStyle/>
                    <a:p>
                      <a:pPr algn="ctr"/>
                      <a:r>
                        <a:rPr lang="en-US" sz="1200" dirty="0"/>
                        <a:t>1</a:t>
                      </a:r>
                    </a:p>
                  </a:txBody>
                  <a:tcPr marL="62760" marR="62760" marT="31380" marB="3138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tcPr>
                </a:tc>
                <a:extLst>
                  <a:ext uri="{0D108BD9-81ED-4DB2-BD59-A6C34878D82A}">
                    <a16:rowId xmlns:a16="http://schemas.microsoft.com/office/drawing/2014/main" val="3900681452"/>
                  </a:ext>
                </a:extLst>
              </a:tr>
            </a:tbl>
          </a:graphicData>
        </a:graphic>
      </p:graphicFrame>
      <p:pic>
        <p:nvPicPr>
          <p:cNvPr id="5" name="Picture 4">
            <a:extLst>
              <a:ext uri="{FF2B5EF4-FFF2-40B4-BE49-F238E27FC236}">
                <a16:creationId xmlns:a16="http://schemas.microsoft.com/office/drawing/2014/main" id="{DDDA48F6-4C46-BD2E-4605-30EBBDDD785F}"/>
              </a:ext>
            </a:extLst>
          </p:cNvPr>
          <p:cNvPicPr>
            <a:picLocks noChangeAspect="1"/>
          </p:cNvPicPr>
          <p:nvPr/>
        </p:nvPicPr>
        <p:blipFill>
          <a:blip r:embed="rId2" cstate="print"/>
          <a:stretch>
            <a:fillRect/>
          </a:stretch>
        </p:blipFill>
        <p:spPr>
          <a:xfrm>
            <a:off x="6444813" y="2905537"/>
            <a:ext cx="4576500" cy="1046925"/>
          </a:xfrm>
          <a:prstGeom prst="rect">
            <a:avLst/>
          </a:prstGeom>
        </p:spPr>
      </p:pic>
      <p:sp>
        <p:nvSpPr>
          <p:cNvPr id="3" name="TextBox 2">
            <a:extLst>
              <a:ext uri="{FF2B5EF4-FFF2-40B4-BE49-F238E27FC236}">
                <a16:creationId xmlns:a16="http://schemas.microsoft.com/office/drawing/2014/main" id="{0E868668-53FD-499E-F60E-5B8B01933FD6}"/>
              </a:ext>
            </a:extLst>
          </p:cNvPr>
          <p:cNvSpPr txBox="1"/>
          <p:nvPr/>
        </p:nvSpPr>
        <p:spPr>
          <a:xfrm>
            <a:off x="1643407" y="5775649"/>
            <a:ext cx="3466013" cy="369332"/>
          </a:xfrm>
          <a:prstGeom prst="rect">
            <a:avLst/>
          </a:prstGeom>
          <a:noFill/>
        </p:spPr>
        <p:txBody>
          <a:bodyPr wrap="none" rtlCol="0">
            <a:spAutoFit/>
          </a:bodyPr>
          <a:lstStyle/>
          <a:p>
            <a:r>
              <a:rPr lang="en-US" dirty="0"/>
              <a:t>Assuming Clock = </a:t>
            </a:r>
            <a:r>
              <a:rPr lang="en-US" b="1" dirty="0"/>
              <a:t>1.8432 MHz</a:t>
            </a:r>
            <a:endParaRPr lang="en-US" dirty="0"/>
          </a:p>
        </p:txBody>
      </p:sp>
      <p:sp>
        <p:nvSpPr>
          <p:cNvPr id="6" name="Rectangle 5">
            <a:extLst>
              <a:ext uri="{FF2B5EF4-FFF2-40B4-BE49-F238E27FC236}">
                <a16:creationId xmlns:a16="http://schemas.microsoft.com/office/drawing/2014/main" id="{189D44B5-ABCB-F4E1-F1B1-9A57645ACA7D}"/>
              </a:ext>
            </a:extLst>
          </p:cNvPr>
          <p:cNvSpPr/>
          <p:nvPr/>
        </p:nvSpPr>
        <p:spPr>
          <a:xfrm>
            <a:off x="10144140" y="3429000"/>
            <a:ext cx="324807" cy="349898"/>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104D2B09-31D9-415B-F774-2438D2E9422C}"/>
              </a:ext>
            </a:extLst>
          </p:cNvPr>
          <p:cNvSpPr txBox="1"/>
          <p:nvPr/>
        </p:nvSpPr>
        <p:spPr>
          <a:xfrm>
            <a:off x="9252184" y="4302361"/>
            <a:ext cx="2108718" cy="923330"/>
          </a:xfrm>
          <a:prstGeom prst="rect">
            <a:avLst/>
          </a:prstGeom>
          <a:noFill/>
          <a:ln w="28575"/>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solidFill>
                  <a:schemeClr val="tx1"/>
                </a:solidFill>
              </a:rPr>
              <a:t>For Hardware Design Reasons (resampling rate)</a:t>
            </a:r>
          </a:p>
        </p:txBody>
      </p:sp>
      <p:cxnSp>
        <p:nvCxnSpPr>
          <p:cNvPr id="11" name="Straight Arrow Connector 10">
            <a:extLst>
              <a:ext uri="{FF2B5EF4-FFF2-40B4-BE49-F238E27FC236}">
                <a16:creationId xmlns:a16="http://schemas.microsoft.com/office/drawing/2014/main" id="{5A50CB68-0F9D-4031-E463-E2D649AD20B0}"/>
              </a:ext>
            </a:extLst>
          </p:cNvPr>
          <p:cNvCxnSpPr>
            <a:stCxn id="6" idx="2"/>
            <a:endCxn id="7" idx="0"/>
          </p:cNvCxnSpPr>
          <p:nvPr/>
        </p:nvCxnSpPr>
        <p:spPr>
          <a:xfrm flipH="1">
            <a:off x="10306543" y="3778898"/>
            <a:ext cx="1" cy="52346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755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834D9-46BB-3E1D-42F3-E095412876BB}"/>
              </a:ext>
            </a:extLst>
          </p:cNvPr>
          <p:cNvSpPr>
            <a:spLocks noGrp="1"/>
          </p:cNvSpPr>
          <p:nvPr>
            <p:ph type="title"/>
          </p:nvPr>
        </p:nvSpPr>
        <p:spPr/>
        <p:txBody>
          <a:bodyPr/>
          <a:lstStyle/>
          <a:p>
            <a:r>
              <a:rPr lang="en-US" dirty="0"/>
              <a:t>Line Status Register</a:t>
            </a:r>
          </a:p>
        </p:txBody>
      </p:sp>
      <p:graphicFrame>
        <p:nvGraphicFramePr>
          <p:cNvPr id="4" name="Content Placeholder 3">
            <a:extLst>
              <a:ext uri="{FF2B5EF4-FFF2-40B4-BE49-F238E27FC236}">
                <a16:creationId xmlns:a16="http://schemas.microsoft.com/office/drawing/2014/main" id="{AFB51D1F-8D69-8600-1D62-50B9A90104A5}"/>
              </a:ext>
            </a:extLst>
          </p:cNvPr>
          <p:cNvGraphicFramePr>
            <a:graphicFrameLocks noGrp="1"/>
          </p:cNvGraphicFramePr>
          <p:nvPr>
            <p:ph idx="1"/>
            <p:extLst>
              <p:ext uri="{D42A27DB-BD31-4B8C-83A1-F6EECF244321}">
                <p14:modId xmlns:p14="http://schemas.microsoft.com/office/powerpoint/2010/main" val="3277668030"/>
              </p:ext>
            </p:extLst>
          </p:nvPr>
        </p:nvGraphicFramePr>
        <p:xfrm>
          <a:off x="2311659" y="1986169"/>
          <a:ext cx="7568682" cy="3390050"/>
        </p:xfrm>
        <a:graphic>
          <a:graphicData uri="http://schemas.openxmlformats.org/drawingml/2006/table">
            <a:tbl>
              <a:tblPr>
                <a:tableStyleId>{5C22544A-7EE6-4342-B048-85BDC9FD1C3A}</a:tableStyleId>
              </a:tblPr>
              <a:tblGrid>
                <a:gridCol w="801143">
                  <a:extLst>
                    <a:ext uri="{9D8B030D-6E8A-4147-A177-3AD203B41FA5}">
                      <a16:colId xmlns:a16="http://schemas.microsoft.com/office/drawing/2014/main" val="139535584"/>
                    </a:ext>
                  </a:extLst>
                </a:gridCol>
                <a:gridCol w="6767539">
                  <a:extLst>
                    <a:ext uri="{9D8B030D-6E8A-4147-A177-3AD203B41FA5}">
                      <a16:colId xmlns:a16="http://schemas.microsoft.com/office/drawing/2014/main" val="3946774836"/>
                    </a:ext>
                  </a:extLst>
                </a:gridCol>
              </a:tblGrid>
              <a:tr h="323090">
                <a:tc>
                  <a:txBody>
                    <a:bodyPr/>
                    <a:lstStyle/>
                    <a:p>
                      <a:pPr algn="ctr" fontAlgn="ctr"/>
                      <a:r>
                        <a:rPr lang="en-US" sz="1600" b="0" i="0" kern="1200" dirty="0">
                          <a:solidFill>
                            <a:schemeClr val="tx2"/>
                          </a:solidFill>
                          <a:latin typeface="+mj-lt"/>
                          <a:ea typeface="+mj-ea"/>
                          <a:cs typeface="+mj-cs"/>
                        </a:rPr>
                        <a:t>Bit</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Notes</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55677941"/>
                  </a:ext>
                </a:extLst>
              </a:tr>
              <a:tr h="321974">
                <a:tc>
                  <a:txBody>
                    <a:bodyPr/>
                    <a:lstStyle/>
                    <a:p>
                      <a:pPr algn="ctr" fontAlgn="ctr"/>
                      <a:r>
                        <a:rPr lang="en-US" sz="1600" b="0" i="0" kern="1200" dirty="0">
                          <a:solidFill>
                            <a:schemeClr val="tx2"/>
                          </a:solidFill>
                          <a:latin typeface="+mj-lt"/>
                          <a:ea typeface="+mj-ea"/>
                          <a:cs typeface="+mj-cs"/>
                        </a:rPr>
                        <a:t>Bit 7</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Error in Received FIFO</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1937451271"/>
                  </a:ext>
                </a:extLst>
              </a:tr>
              <a:tr h="298579">
                <a:tc>
                  <a:txBody>
                    <a:bodyPr/>
                    <a:lstStyle/>
                    <a:p>
                      <a:pPr algn="ctr" fontAlgn="ctr"/>
                      <a:r>
                        <a:rPr lang="en-US" sz="1600" b="0" i="0" kern="1200" dirty="0">
                          <a:solidFill>
                            <a:schemeClr val="tx2"/>
                          </a:solidFill>
                          <a:latin typeface="+mj-lt"/>
                          <a:ea typeface="+mj-ea"/>
                          <a:cs typeface="+mj-cs"/>
                        </a:rPr>
                        <a:t>Bit 6</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Transmitter shift Register is Empty</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3063750078"/>
                  </a:ext>
                </a:extLst>
              </a:tr>
              <a:tr h="288102">
                <a:tc>
                  <a:txBody>
                    <a:bodyPr/>
                    <a:lstStyle/>
                    <a:p>
                      <a:pPr algn="ctr" fontAlgn="ctr"/>
                      <a:r>
                        <a:rPr lang="en-US" sz="1600" b="0" i="0" kern="1200" dirty="0">
                          <a:solidFill>
                            <a:schemeClr val="tx2"/>
                          </a:solidFill>
                          <a:latin typeface="+mj-lt"/>
                          <a:ea typeface="+mj-ea"/>
                          <a:cs typeface="+mj-cs"/>
                        </a:rPr>
                        <a:t>Bit 5</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Transmitter Holding Register is Empty (You can send data)</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483817590"/>
                  </a:ext>
                </a:extLst>
              </a:tr>
              <a:tr h="323090">
                <a:tc>
                  <a:txBody>
                    <a:bodyPr/>
                    <a:lstStyle/>
                    <a:p>
                      <a:pPr algn="ctr" fontAlgn="ctr"/>
                      <a:r>
                        <a:rPr lang="en-US" sz="1600" b="0" i="0" kern="1200" dirty="0">
                          <a:solidFill>
                            <a:schemeClr val="tx2"/>
                          </a:solidFill>
                          <a:latin typeface="+mj-lt"/>
                          <a:ea typeface="+mj-ea"/>
                          <a:cs typeface="+mj-cs"/>
                        </a:rPr>
                        <a:t>Bit 4</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Break Interrupt</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242883631"/>
                  </a:ext>
                </a:extLst>
              </a:tr>
              <a:tr h="393612">
                <a:tc>
                  <a:txBody>
                    <a:bodyPr/>
                    <a:lstStyle/>
                    <a:p>
                      <a:pPr algn="ctr" fontAlgn="ctr"/>
                      <a:r>
                        <a:rPr lang="en-US" sz="1600" b="0" i="0" kern="1200" dirty="0">
                          <a:solidFill>
                            <a:schemeClr val="tx2"/>
                          </a:solidFill>
                          <a:latin typeface="+mj-lt"/>
                          <a:ea typeface="+mj-ea"/>
                          <a:cs typeface="+mj-cs"/>
                        </a:rPr>
                        <a:t>Bit 3</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Framing Error</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1074614154"/>
                  </a:ext>
                </a:extLst>
              </a:tr>
              <a:tr h="323090">
                <a:tc>
                  <a:txBody>
                    <a:bodyPr/>
                    <a:lstStyle/>
                    <a:p>
                      <a:pPr algn="ctr" fontAlgn="ctr"/>
                      <a:r>
                        <a:rPr lang="en-US" sz="1600" b="0" i="0" kern="1200" dirty="0">
                          <a:solidFill>
                            <a:schemeClr val="tx2"/>
                          </a:solidFill>
                          <a:latin typeface="+mj-lt"/>
                          <a:ea typeface="+mj-ea"/>
                          <a:cs typeface="+mj-cs"/>
                        </a:rPr>
                        <a:t>Bit 2</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Parity Error</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1663521538"/>
                  </a:ext>
                </a:extLst>
              </a:tr>
              <a:tr h="795423">
                <a:tc>
                  <a:txBody>
                    <a:bodyPr/>
                    <a:lstStyle/>
                    <a:p>
                      <a:pPr algn="ctr" fontAlgn="ctr"/>
                      <a:r>
                        <a:rPr lang="en-US" sz="1600" b="0" i="0" kern="1200" dirty="0">
                          <a:solidFill>
                            <a:schemeClr val="tx2"/>
                          </a:solidFill>
                          <a:latin typeface="+mj-lt"/>
                          <a:ea typeface="+mj-ea"/>
                          <a:cs typeface="+mj-cs"/>
                        </a:rPr>
                        <a:t>Bit 1</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Overrun Error occurs when another byte of data arrives even before the previous byte has not been read from the UART's receive buffer.</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1515526623"/>
                  </a:ext>
                </a:extLst>
              </a:tr>
              <a:tr h="323090">
                <a:tc>
                  <a:txBody>
                    <a:bodyPr/>
                    <a:lstStyle/>
                    <a:p>
                      <a:pPr algn="ctr" fontAlgn="ctr"/>
                      <a:r>
                        <a:rPr lang="en-US" sz="1600" b="0" i="0" kern="1200" dirty="0">
                          <a:solidFill>
                            <a:schemeClr val="tx2"/>
                          </a:solidFill>
                          <a:latin typeface="+mj-lt"/>
                          <a:ea typeface="+mj-ea"/>
                          <a:cs typeface="+mj-cs"/>
                        </a:rPr>
                        <a:t>Bit 0</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solidFill>
                      <a:schemeClr val="accent1">
                        <a:lumMod val="75000"/>
                      </a:schemeClr>
                    </a:solidFill>
                  </a:tcPr>
                </a:tc>
                <a:tc>
                  <a:txBody>
                    <a:bodyPr/>
                    <a:lstStyle/>
                    <a:p>
                      <a:pPr algn="ctr" fontAlgn="ctr"/>
                      <a:r>
                        <a:rPr lang="en-US" sz="1600" b="0" i="0" kern="1200" dirty="0">
                          <a:solidFill>
                            <a:schemeClr val="tx2"/>
                          </a:solidFill>
                          <a:latin typeface="+mj-lt"/>
                          <a:ea typeface="+mj-ea"/>
                          <a:cs typeface="+mj-cs"/>
                        </a:rPr>
                        <a:t>Data Ready (You received data)</a:t>
                      </a:r>
                    </a:p>
                  </a:txBody>
                  <a:tcPr marL="7144" marR="7144" marT="7144" marB="0" anchor="ctr">
                    <a:lnL w="12700" cap="flat" cmpd="sng" algn="ctr">
                      <a:solidFill>
                        <a:srgbClr val="FFFFFF">
                          <a:alpha val="50196"/>
                        </a:srgbClr>
                      </a:solidFill>
                      <a:prstDash val="solid"/>
                      <a:round/>
                      <a:headEnd type="none" w="med" len="med"/>
                      <a:tailEnd type="none" w="med" len="med"/>
                    </a:lnL>
                    <a:lnR w="12700" cap="flat" cmpd="sng" algn="ctr">
                      <a:solidFill>
                        <a:srgbClr val="FFFFFF">
                          <a:alpha val="50196"/>
                        </a:srgbClr>
                      </a:solidFill>
                      <a:prstDash val="solid"/>
                      <a:round/>
                      <a:headEnd type="none" w="med" len="med"/>
                      <a:tailEnd type="none" w="med" len="med"/>
                    </a:lnR>
                    <a:lnT w="12700" cap="flat" cmpd="sng" algn="ctr">
                      <a:solidFill>
                        <a:srgbClr val="FFFFFF">
                          <a:alpha val="50196"/>
                        </a:srgbClr>
                      </a:solidFill>
                      <a:prstDash val="solid"/>
                      <a:round/>
                      <a:headEnd type="none" w="med" len="med"/>
                      <a:tailEnd type="none" w="med" len="med"/>
                    </a:lnT>
                    <a:lnB w="12700" cap="flat" cmpd="sng" algn="ctr">
                      <a:solidFill>
                        <a:srgbClr val="FFFFFF">
                          <a:alpha val="50196"/>
                        </a:srgbClr>
                      </a:solidFill>
                      <a:prstDash val="solid"/>
                      <a:round/>
                      <a:headEnd type="none" w="med" len="med"/>
                      <a:tailEnd type="none" w="med" len="med"/>
                    </a:lnB>
                    <a:noFill/>
                  </a:tcPr>
                </a:tc>
                <a:extLst>
                  <a:ext uri="{0D108BD9-81ED-4DB2-BD59-A6C34878D82A}">
                    <a16:rowId xmlns:a16="http://schemas.microsoft.com/office/drawing/2014/main" val="1252437752"/>
                  </a:ext>
                </a:extLst>
              </a:tr>
            </a:tbl>
          </a:graphicData>
        </a:graphic>
      </p:graphicFrame>
    </p:spTree>
    <p:extLst>
      <p:ext uri="{BB962C8B-B14F-4D97-AF65-F5344CB8AC3E}">
        <p14:creationId xmlns:p14="http://schemas.microsoft.com/office/powerpoint/2010/main" val="3065195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1</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8810899" cy="1066800"/>
          </a:xfrm>
        </p:spPr>
        <p:txBody>
          <a:bodyPr>
            <a:normAutofit/>
          </a:bodyPr>
          <a:lstStyle/>
          <a:p>
            <a:pPr marL="109728" indent="0">
              <a:buNone/>
            </a:pPr>
            <a:r>
              <a:rPr lang="en-US" sz="2400" dirty="0"/>
              <a:t>Calculate the overhead percentage if the data size is 6, 2 stop bits, even parity.</a:t>
            </a:r>
          </a:p>
          <a:p>
            <a:pPr marL="0" indent="0">
              <a:buNone/>
            </a:pPr>
            <a:endParaRPr lang="en-US" sz="2400" dirty="0"/>
          </a:p>
        </p:txBody>
      </p:sp>
      <p:sp>
        <p:nvSpPr>
          <p:cNvPr id="16" name="TextBox 15">
            <a:extLst>
              <a:ext uri="{FF2B5EF4-FFF2-40B4-BE49-F238E27FC236}">
                <a16:creationId xmlns:a16="http://schemas.microsoft.com/office/drawing/2014/main" id="{9E6D18D8-C43D-15DC-2D18-6F459EA4AB86}"/>
              </a:ext>
            </a:extLst>
          </p:cNvPr>
          <p:cNvSpPr txBox="1"/>
          <p:nvPr/>
        </p:nvSpPr>
        <p:spPr>
          <a:xfrm>
            <a:off x="790301" y="2981236"/>
            <a:ext cx="6097554" cy="1323439"/>
          </a:xfrm>
          <a:prstGeom prst="rect">
            <a:avLst/>
          </a:prstGeom>
          <a:noFill/>
        </p:spPr>
        <p:txBody>
          <a:bodyPr wrap="square">
            <a:spAutoFit/>
          </a:bodyPr>
          <a:lstStyle/>
          <a:p>
            <a:pPr marL="742950" lvl="1" indent="-285750">
              <a:buFont typeface="Arial" panose="020B0604020202020204" pitchFamily="34" charset="0"/>
              <a:buChar char="•"/>
            </a:pPr>
            <a:r>
              <a:rPr lang="en-US" sz="2000" dirty="0">
                <a:solidFill>
                  <a:schemeClr val="accent3">
                    <a:lumMod val="60000"/>
                    <a:lumOff val="40000"/>
                  </a:schemeClr>
                </a:solidFill>
              </a:rPr>
              <a:t>1 start bit</a:t>
            </a:r>
          </a:p>
          <a:p>
            <a:pPr marL="742950" lvl="1" indent="-285750">
              <a:buFont typeface="Arial" panose="020B0604020202020204" pitchFamily="34" charset="0"/>
              <a:buChar char="•"/>
            </a:pPr>
            <a:r>
              <a:rPr lang="en-US" sz="2000" dirty="0">
                <a:solidFill>
                  <a:schemeClr val="accent3">
                    <a:lumMod val="60000"/>
                    <a:lumOff val="40000"/>
                  </a:schemeClr>
                </a:solidFill>
              </a:rPr>
              <a:t>2 stop bits</a:t>
            </a:r>
          </a:p>
          <a:p>
            <a:pPr marL="742950" lvl="1" indent="-285750">
              <a:buFont typeface="Arial" panose="020B0604020202020204" pitchFamily="34" charset="0"/>
              <a:buChar char="•"/>
            </a:pPr>
            <a:r>
              <a:rPr lang="en-US" sz="2000" dirty="0">
                <a:solidFill>
                  <a:schemeClr val="accent3">
                    <a:lumMod val="60000"/>
                    <a:lumOff val="40000"/>
                  </a:schemeClr>
                </a:solidFill>
              </a:rPr>
              <a:t>1 parity bit</a:t>
            </a:r>
          </a:p>
          <a:p>
            <a:pPr marL="742950" lvl="1" indent="-285750">
              <a:buFont typeface="Arial" panose="020B0604020202020204" pitchFamily="34" charset="0"/>
              <a:buChar char="•"/>
            </a:pPr>
            <a:r>
              <a:rPr lang="en-US" sz="2000" dirty="0">
                <a:solidFill>
                  <a:schemeClr val="accent3">
                    <a:lumMod val="60000"/>
                    <a:lumOff val="40000"/>
                  </a:schemeClr>
                </a:solidFill>
              </a:rPr>
              <a:t>Overhead=Extra/total=4/(6+4) *100=40%</a:t>
            </a:r>
          </a:p>
        </p:txBody>
      </p:sp>
    </p:spTree>
    <p:extLst>
      <p:ext uri="{BB962C8B-B14F-4D97-AF65-F5344CB8AC3E}">
        <p14:creationId xmlns:p14="http://schemas.microsoft.com/office/powerpoint/2010/main" val="69416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2</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8810899" cy="1066800"/>
          </a:xfrm>
        </p:spPr>
        <p:txBody>
          <a:bodyPr>
            <a:normAutofit/>
          </a:bodyPr>
          <a:lstStyle/>
          <a:p>
            <a:pPr marL="109728" indent="0">
              <a:buNone/>
            </a:pPr>
            <a:r>
              <a:rPr lang="en-US" sz="2400" dirty="0"/>
              <a:t>True or false. The longer the cable, the higher the data transfer baud rate. Why?</a:t>
            </a:r>
          </a:p>
          <a:p>
            <a:pPr marL="0" indent="0">
              <a:buNone/>
            </a:pPr>
            <a:endParaRPr lang="en-US" sz="2400" dirty="0"/>
          </a:p>
        </p:txBody>
      </p:sp>
      <p:sp>
        <p:nvSpPr>
          <p:cNvPr id="16" name="TextBox 15">
            <a:extLst>
              <a:ext uri="{FF2B5EF4-FFF2-40B4-BE49-F238E27FC236}">
                <a16:creationId xmlns:a16="http://schemas.microsoft.com/office/drawing/2014/main" id="{9E6D18D8-C43D-15DC-2D18-6F459EA4AB86}"/>
              </a:ext>
            </a:extLst>
          </p:cNvPr>
          <p:cNvSpPr txBox="1"/>
          <p:nvPr/>
        </p:nvSpPr>
        <p:spPr>
          <a:xfrm>
            <a:off x="790300" y="2981236"/>
            <a:ext cx="8568303" cy="1015663"/>
          </a:xfrm>
          <a:prstGeom prst="rect">
            <a:avLst/>
          </a:prstGeom>
          <a:noFill/>
        </p:spPr>
        <p:txBody>
          <a:bodyPr wrap="square">
            <a:spAutoFit/>
          </a:bodyPr>
          <a:lstStyle/>
          <a:p>
            <a:pPr marL="742950" lvl="1" indent="-285750">
              <a:buFont typeface="Arial" panose="020B0604020202020204" pitchFamily="34" charset="0"/>
              <a:buChar char="•"/>
            </a:pPr>
            <a:r>
              <a:rPr lang="en-US" sz="2000" dirty="0">
                <a:solidFill>
                  <a:schemeClr val="accent3">
                    <a:lumMod val="60000"/>
                    <a:lumOff val="40000"/>
                  </a:schemeClr>
                </a:solidFill>
              </a:rPr>
              <a:t>False.</a:t>
            </a:r>
          </a:p>
          <a:p>
            <a:pPr marL="742950" lvl="1" indent="-285750">
              <a:buFont typeface="Arial" panose="020B0604020202020204" pitchFamily="34" charset="0"/>
              <a:buChar char="•"/>
            </a:pPr>
            <a:r>
              <a:rPr lang="en-US" sz="2000" dirty="0">
                <a:solidFill>
                  <a:schemeClr val="accent3">
                    <a:lumMod val="60000"/>
                    <a:lumOff val="40000"/>
                  </a:schemeClr>
                </a:solidFill>
              </a:rPr>
              <a:t>The baud rate is the rate at which information is transferred in a communication channel</a:t>
            </a:r>
          </a:p>
        </p:txBody>
      </p:sp>
    </p:spTree>
    <p:extLst>
      <p:ext uri="{BB962C8B-B14F-4D97-AF65-F5344CB8AC3E}">
        <p14:creationId xmlns:p14="http://schemas.microsoft.com/office/powerpoint/2010/main" val="18356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3</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826311" cy="1066800"/>
          </a:xfrm>
        </p:spPr>
        <p:txBody>
          <a:bodyPr>
            <a:normAutofit fontScale="92500" lnSpcReduction="10000"/>
          </a:bodyPr>
          <a:lstStyle/>
          <a:p>
            <a:pPr marL="109728" indent="0">
              <a:buNone/>
            </a:pPr>
            <a:r>
              <a:rPr lang="en-US" sz="2400" dirty="0"/>
              <a:t>It is required to transfer 2 Gigabytes of data between two PCs. The distance between these PCs is 600 m. What is the best transmission method to be used? (Serial/ Parallel – synchronous/ asynchronous)</a:t>
            </a:r>
          </a:p>
          <a:p>
            <a:pPr marL="0" indent="0">
              <a:buNone/>
            </a:pPr>
            <a:endParaRPr lang="en-US" sz="2400" dirty="0"/>
          </a:p>
        </p:txBody>
      </p:sp>
      <p:sp>
        <p:nvSpPr>
          <p:cNvPr id="16" name="TextBox 15">
            <a:extLst>
              <a:ext uri="{FF2B5EF4-FFF2-40B4-BE49-F238E27FC236}">
                <a16:creationId xmlns:a16="http://schemas.microsoft.com/office/drawing/2014/main" id="{9E6D18D8-C43D-15DC-2D18-6F459EA4AB86}"/>
              </a:ext>
            </a:extLst>
          </p:cNvPr>
          <p:cNvSpPr txBox="1"/>
          <p:nvPr/>
        </p:nvSpPr>
        <p:spPr>
          <a:xfrm>
            <a:off x="790300" y="2981236"/>
            <a:ext cx="8568303" cy="1477328"/>
          </a:xfrm>
          <a:prstGeom prst="rect">
            <a:avLst/>
          </a:prstGeom>
          <a:noFill/>
        </p:spPr>
        <p:txBody>
          <a:bodyPr wrap="square">
            <a:spAutoFit/>
          </a:bodyPr>
          <a:lstStyle/>
          <a:p>
            <a:pPr marL="742950" lvl="1" indent="-285750">
              <a:buFont typeface="Arial" panose="020B0604020202020204" pitchFamily="34" charset="0"/>
              <a:buChar char="•"/>
            </a:pPr>
            <a:r>
              <a:rPr lang="en-US" dirty="0">
                <a:solidFill>
                  <a:schemeClr val="accent3">
                    <a:lumMod val="60000"/>
                    <a:lumOff val="40000"/>
                  </a:schemeClr>
                </a:solidFill>
              </a:rPr>
              <a:t>Serial since long distance.</a:t>
            </a:r>
          </a:p>
          <a:p>
            <a:pPr marL="742950" lvl="1" indent="-285750">
              <a:buFont typeface="Arial" panose="020B0604020202020204" pitchFamily="34" charset="0"/>
              <a:buChar char="•"/>
            </a:pPr>
            <a:r>
              <a:rPr lang="en-US" dirty="0">
                <a:solidFill>
                  <a:schemeClr val="accent3">
                    <a:lumMod val="60000"/>
                    <a:lumOff val="40000"/>
                  </a:schemeClr>
                </a:solidFill>
              </a:rPr>
              <a:t>Synchronous since large data to decrease overhead.</a:t>
            </a:r>
          </a:p>
          <a:p>
            <a:pPr marL="1200150" lvl="2" indent="-285750">
              <a:buFont typeface="Arial" panose="020B0604020202020204" pitchFamily="34" charset="0"/>
              <a:buChar char="•"/>
            </a:pPr>
            <a:r>
              <a:rPr lang="en-US" altLang="en-US" b="1" dirty="0">
                <a:solidFill>
                  <a:schemeClr val="accent3">
                    <a:lumMod val="60000"/>
                    <a:lumOff val="40000"/>
                  </a:schemeClr>
                </a:solidFill>
              </a:rPr>
              <a:t>Synchronous</a:t>
            </a:r>
            <a:r>
              <a:rPr lang="en-US" altLang="en-US" dirty="0">
                <a:solidFill>
                  <a:schemeClr val="accent3">
                    <a:lumMod val="60000"/>
                    <a:lumOff val="40000"/>
                  </a:schemeClr>
                </a:solidFill>
              </a:rPr>
              <a:t> - transfers a block of data (characters)</a:t>
            </a:r>
            <a:br>
              <a:rPr lang="en-US" altLang="en-US" dirty="0">
                <a:solidFill>
                  <a:schemeClr val="accent3">
                    <a:lumMod val="60000"/>
                    <a:lumOff val="40000"/>
                  </a:schemeClr>
                </a:solidFill>
              </a:rPr>
            </a:br>
            <a:r>
              <a:rPr lang="en-US" altLang="en-US" dirty="0">
                <a:solidFill>
                  <a:schemeClr val="accent3">
                    <a:lumMod val="60000"/>
                    <a:lumOff val="40000"/>
                  </a:schemeClr>
                </a:solidFill>
              </a:rPr>
              <a:t>at a time.</a:t>
            </a:r>
          </a:p>
          <a:p>
            <a:pPr marL="1200150" lvl="2" indent="-285750">
              <a:buFont typeface="Arial" panose="020B0604020202020204" pitchFamily="34" charset="0"/>
              <a:buChar char="•"/>
            </a:pPr>
            <a:r>
              <a:rPr lang="en-US" altLang="en-US" b="1" dirty="0">
                <a:solidFill>
                  <a:schemeClr val="accent3">
                    <a:lumMod val="60000"/>
                    <a:lumOff val="40000"/>
                  </a:schemeClr>
                </a:solidFill>
              </a:rPr>
              <a:t>Asynchronous</a:t>
            </a:r>
            <a:r>
              <a:rPr lang="en-US" altLang="en-US" dirty="0">
                <a:solidFill>
                  <a:schemeClr val="accent3">
                    <a:lumMod val="60000"/>
                    <a:lumOff val="40000"/>
                  </a:schemeClr>
                </a:solidFill>
              </a:rPr>
              <a:t> - transfers a single byte at a time.</a:t>
            </a:r>
          </a:p>
        </p:txBody>
      </p:sp>
    </p:spTree>
    <p:extLst>
      <p:ext uri="{BB962C8B-B14F-4D97-AF65-F5344CB8AC3E}">
        <p14:creationId xmlns:p14="http://schemas.microsoft.com/office/powerpoint/2010/main" val="127203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4</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826311" cy="1066800"/>
          </a:xfrm>
        </p:spPr>
        <p:txBody>
          <a:bodyPr>
            <a:normAutofit fontScale="92500" lnSpcReduction="10000"/>
          </a:bodyPr>
          <a:lstStyle/>
          <a:p>
            <a:pPr marL="109728" indent="0">
              <a:buNone/>
            </a:pPr>
            <a:r>
              <a:rPr lang="en-US" sz="2400" dirty="0"/>
              <a:t>Calculate the total number of bits transferred if 200 pages of ASCII data are sent using asynchronous serial data transfer. Assume a data size of 8 bits, 1 stop bit, no parity.</a:t>
            </a:r>
          </a:p>
          <a:p>
            <a:pPr marL="0" indent="0">
              <a:buNone/>
            </a:pPr>
            <a:endParaRPr lang="en-US" sz="2400" dirty="0"/>
          </a:p>
        </p:txBody>
      </p:sp>
      <p:sp>
        <p:nvSpPr>
          <p:cNvPr id="16" name="TextBox 15">
            <a:extLst>
              <a:ext uri="{FF2B5EF4-FFF2-40B4-BE49-F238E27FC236}">
                <a16:creationId xmlns:a16="http://schemas.microsoft.com/office/drawing/2014/main" id="{9E6D18D8-C43D-15DC-2D18-6F459EA4AB86}"/>
              </a:ext>
            </a:extLst>
          </p:cNvPr>
          <p:cNvSpPr txBox="1"/>
          <p:nvPr/>
        </p:nvSpPr>
        <p:spPr>
          <a:xfrm>
            <a:off x="790300" y="2981236"/>
            <a:ext cx="8568303" cy="923330"/>
          </a:xfrm>
          <a:prstGeom prst="rect">
            <a:avLst/>
          </a:prstGeom>
          <a:noFill/>
        </p:spPr>
        <p:txBody>
          <a:bodyPr wrap="square">
            <a:spAutoFit/>
          </a:bodyPr>
          <a:lstStyle/>
          <a:p>
            <a:pPr marL="742950" lvl="1" indent="-285750">
              <a:buFont typeface="Arial" panose="020B0604020202020204" pitchFamily="34" charset="0"/>
              <a:buChar char="•"/>
            </a:pPr>
            <a:r>
              <a:rPr lang="en-US" dirty="0">
                <a:solidFill>
                  <a:schemeClr val="accent3">
                    <a:lumMod val="60000"/>
                    <a:lumOff val="40000"/>
                  </a:schemeClr>
                </a:solidFill>
              </a:rPr>
              <a:t>Sent bits per char=1+8+1 </a:t>
            </a:r>
          </a:p>
          <a:p>
            <a:pPr marL="742950" lvl="1" indent="-285750">
              <a:buFont typeface="Arial" panose="020B0604020202020204" pitchFamily="34" charset="0"/>
              <a:buChar char="•"/>
            </a:pPr>
            <a:r>
              <a:rPr lang="en-US" dirty="0">
                <a:solidFill>
                  <a:schemeClr val="accent3">
                    <a:lumMod val="60000"/>
                    <a:lumOff val="40000"/>
                  </a:schemeClr>
                </a:solidFill>
              </a:rPr>
              <a:t>Num of char per page=80*25</a:t>
            </a:r>
          </a:p>
          <a:p>
            <a:pPr marL="742950" lvl="1" indent="-285750">
              <a:buFont typeface="Arial" panose="020B0604020202020204" pitchFamily="34" charset="0"/>
              <a:buChar char="•"/>
            </a:pPr>
            <a:r>
              <a:rPr lang="en-US" dirty="0">
                <a:solidFill>
                  <a:schemeClr val="accent3">
                    <a:lumMod val="60000"/>
                    <a:lumOff val="40000"/>
                  </a:schemeClr>
                </a:solidFill>
              </a:rPr>
              <a:t>Total transferred bits= 10*200*80*25= 4*10^6 bits</a:t>
            </a:r>
          </a:p>
        </p:txBody>
      </p:sp>
    </p:spTree>
    <p:extLst>
      <p:ext uri="{BB962C8B-B14F-4D97-AF65-F5344CB8AC3E}">
        <p14:creationId xmlns:p14="http://schemas.microsoft.com/office/powerpoint/2010/main" val="17395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5</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826311" cy="1066800"/>
          </a:xfrm>
        </p:spPr>
        <p:txBody>
          <a:bodyPr>
            <a:normAutofit/>
          </a:bodyPr>
          <a:lstStyle/>
          <a:p>
            <a:pPr marL="0" indent="0">
              <a:buNone/>
            </a:pPr>
            <a:r>
              <a:rPr lang="en-US" sz="2400" dirty="0"/>
              <a:t>X</a:t>
            </a:r>
            <a:r>
              <a:rPr lang="en-US" sz="2400" baseline="-25000" dirty="0"/>
              <a:t>in</a:t>
            </a:r>
            <a:r>
              <a:rPr lang="en-US" sz="2400" dirty="0"/>
              <a:t> = 3.072 MHz Calculate the baud rate divisor for each of the following baud rates: 110, 300, 9600.</a:t>
            </a:r>
          </a:p>
          <a:p>
            <a:pPr marL="0" indent="0">
              <a:buNone/>
            </a:pPr>
            <a:endParaRPr lang="en-US" sz="2400" dirty="0"/>
          </a:p>
        </p:txBody>
      </p:sp>
      <p:sp>
        <p:nvSpPr>
          <p:cNvPr id="16" name="TextBox 15">
            <a:extLst>
              <a:ext uri="{FF2B5EF4-FFF2-40B4-BE49-F238E27FC236}">
                <a16:creationId xmlns:a16="http://schemas.microsoft.com/office/drawing/2014/main" id="{9E6D18D8-C43D-15DC-2D18-6F459EA4AB86}"/>
              </a:ext>
            </a:extLst>
          </p:cNvPr>
          <p:cNvSpPr txBox="1"/>
          <p:nvPr/>
        </p:nvSpPr>
        <p:spPr>
          <a:xfrm>
            <a:off x="790300" y="2981236"/>
            <a:ext cx="8568303" cy="1477328"/>
          </a:xfrm>
          <a:prstGeom prst="rect">
            <a:avLst/>
          </a:prstGeom>
          <a:noFill/>
        </p:spPr>
        <p:txBody>
          <a:bodyPr wrap="square">
            <a:spAutoFit/>
          </a:bodyPr>
          <a:lstStyle/>
          <a:p>
            <a:pPr marL="742950" lvl="1" indent="-285750">
              <a:buFont typeface="Arial" panose="020B0604020202020204" pitchFamily="34" charset="0"/>
              <a:buChar char="•"/>
            </a:pPr>
            <a:r>
              <a:rPr lang="en-US" dirty="0">
                <a:solidFill>
                  <a:schemeClr val="accent3">
                    <a:lumMod val="60000"/>
                    <a:lumOff val="40000"/>
                  </a:schemeClr>
                </a:solidFill>
              </a:rPr>
              <a:t>3.072*10^6/110*16=1745.454545</a:t>
            </a:r>
          </a:p>
          <a:p>
            <a:pPr marL="1200150" lvl="2" indent="-285750">
              <a:buFont typeface="Arial" panose="020B0604020202020204" pitchFamily="34" charset="0"/>
              <a:buChar char="•"/>
            </a:pPr>
            <a:r>
              <a:rPr lang="en-US" dirty="0">
                <a:solidFill>
                  <a:schemeClr val="accent3">
                    <a:lumMod val="60000"/>
                    <a:lumOff val="40000"/>
                  </a:schemeClr>
                </a:solidFill>
              </a:rPr>
              <a:t>Divisor = round(1745.45)=1745, </a:t>
            </a:r>
          </a:p>
          <a:p>
            <a:pPr marL="1200150" lvl="2" indent="-285750">
              <a:buFont typeface="Arial" panose="020B0604020202020204" pitchFamily="34" charset="0"/>
              <a:buChar char="•"/>
            </a:pPr>
            <a:r>
              <a:rPr lang="en-US" dirty="0">
                <a:solidFill>
                  <a:schemeClr val="accent3">
                    <a:lumMod val="60000"/>
                    <a:lumOff val="40000"/>
                  </a:schemeClr>
                </a:solidFill>
              </a:rPr>
              <a:t>percent error=(1745.454545-1745)/1745.454545 *100=0.026</a:t>
            </a:r>
          </a:p>
          <a:p>
            <a:pPr marL="742950" lvl="1" indent="-285750">
              <a:buFont typeface="Arial" panose="020B0604020202020204" pitchFamily="34" charset="0"/>
              <a:buChar char="•"/>
            </a:pPr>
            <a:r>
              <a:rPr lang="en-US" dirty="0">
                <a:solidFill>
                  <a:schemeClr val="accent3">
                    <a:lumMod val="60000"/>
                    <a:lumOff val="40000"/>
                  </a:schemeClr>
                </a:solidFill>
              </a:rPr>
              <a:t>3.072*10^6/300*16=640</a:t>
            </a:r>
          </a:p>
          <a:p>
            <a:pPr marL="742950" lvl="1" indent="-285750">
              <a:buFont typeface="Arial" panose="020B0604020202020204" pitchFamily="34" charset="0"/>
              <a:buChar char="•"/>
            </a:pPr>
            <a:r>
              <a:rPr lang="en-US" dirty="0">
                <a:solidFill>
                  <a:schemeClr val="accent3">
                    <a:lumMod val="60000"/>
                    <a:lumOff val="40000"/>
                  </a:schemeClr>
                </a:solidFill>
              </a:rPr>
              <a:t>3.072*10^6/9600*16=20</a:t>
            </a:r>
          </a:p>
        </p:txBody>
      </p:sp>
      <p:pic>
        <p:nvPicPr>
          <p:cNvPr id="2" name="Picture 1">
            <a:extLst>
              <a:ext uri="{FF2B5EF4-FFF2-40B4-BE49-F238E27FC236}">
                <a16:creationId xmlns:a16="http://schemas.microsoft.com/office/drawing/2014/main" id="{7682D7FD-5446-A904-279B-E5200C6E3D12}"/>
              </a:ext>
            </a:extLst>
          </p:cNvPr>
          <p:cNvPicPr>
            <a:picLocks noChangeAspect="1"/>
          </p:cNvPicPr>
          <p:nvPr/>
        </p:nvPicPr>
        <p:blipFill>
          <a:blip r:embed="rId2" cstate="print"/>
          <a:stretch>
            <a:fillRect/>
          </a:stretch>
        </p:blipFill>
        <p:spPr>
          <a:xfrm>
            <a:off x="6612764" y="4787182"/>
            <a:ext cx="4576500" cy="1046925"/>
          </a:xfrm>
          <a:prstGeom prst="rect">
            <a:avLst/>
          </a:prstGeom>
        </p:spPr>
      </p:pic>
    </p:spTree>
    <p:extLst>
      <p:ext uri="{BB962C8B-B14F-4D97-AF65-F5344CB8AC3E}">
        <p14:creationId xmlns:p14="http://schemas.microsoft.com/office/powerpoint/2010/main" val="125171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6</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826311" cy="1066800"/>
          </a:xfrm>
        </p:spPr>
        <p:txBody>
          <a:bodyPr>
            <a:normAutofit/>
          </a:bodyPr>
          <a:lstStyle/>
          <a:p>
            <a:pPr marL="109728" indent="0">
              <a:buNone/>
            </a:pPr>
            <a:r>
              <a:rPr lang="en-US" sz="2400" dirty="0"/>
              <a:t>What is data overrun?</a:t>
            </a:r>
          </a:p>
        </p:txBody>
      </p:sp>
      <p:sp>
        <p:nvSpPr>
          <p:cNvPr id="16" name="TextBox 15">
            <a:extLst>
              <a:ext uri="{FF2B5EF4-FFF2-40B4-BE49-F238E27FC236}">
                <a16:creationId xmlns:a16="http://schemas.microsoft.com/office/drawing/2014/main" id="{9E6D18D8-C43D-15DC-2D18-6F459EA4AB86}"/>
              </a:ext>
            </a:extLst>
          </p:cNvPr>
          <p:cNvSpPr txBox="1"/>
          <p:nvPr/>
        </p:nvSpPr>
        <p:spPr>
          <a:xfrm>
            <a:off x="790301" y="2981236"/>
            <a:ext cx="9902582" cy="1754326"/>
          </a:xfrm>
          <a:prstGeom prst="rect">
            <a:avLst/>
          </a:prstGeom>
          <a:noFill/>
        </p:spPr>
        <p:txBody>
          <a:bodyPr wrap="square">
            <a:spAutoFit/>
          </a:bodyPr>
          <a:lstStyle/>
          <a:p>
            <a:pPr lvl="1"/>
            <a:r>
              <a:rPr lang="en-US" dirty="0">
                <a:solidFill>
                  <a:schemeClr val="accent3">
                    <a:lumMod val="60000"/>
                    <a:lumOff val="40000"/>
                  </a:schemeClr>
                </a:solidFill>
              </a:rPr>
              <a:t>Overrun error occurs when another byte of data arrives before the previous byte has been read from the UART's receive buffer. This is mainly due to time taken by CPU to service the UART interrupt to remove characters from receive buffer. If the CPU does not service the UART interrupt quick enough and does not read the received byte before the next arrives, then the buffer becomes full, and an Overrun error occurs.  </a:t>
            </a:r>
          </a:p>
        </p:txBody>
      </p:sp>
    </p:spTree>
    <p:extLst>
      <p:ext uri="{BB962C8B-B14F-4D97-AF65-F5344CB8AC3E}">
        <p14:creationId xmlns:p14="http://schemas.microsoft.com/office/powerpoint/2010/main" val="359244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7</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686351" cy="4003219"/>
          </a:xfrm>
        </p:spPr>
        <p:txBody>
          <a:bodyPr>
            <a:normAutofit/>
          </a:bodyPr>
          <a:lstStyle/>
          <a:p>
            <a:pPr marL="109728" lvl="0" indent="0">
              <a:buNone/>
            </a:pPr>
            <a:r>
              <a:rPr lang="en-US" sz="2500" dirty="0"/>
              <a:t>Assuming that we are transmitting letter "D", binary 1000100, with odd-parity bit and 2 stop bits </a:t>
            </a:r>
            <a:endParaRPr lang="en-US" sz="2900" dirty="0"/>
          </a:p>
          <a:p>
            <a:pPr lvl="1"/>
            <a:r>
              <a:rPr lang="en-US" sz="2200" dirty="0"/>
              <a:t>show the sequence of bits transferred.</a:t>
            </a:r>
          </a:p>
          <a:p>
            <a:pPr lvl="1"/>
            <a:endParaRPr lang="en-US" sz="1900" dirty="0"/>
          </a:p>
          <a:p>
            <a:pPr lvl="1"/>
            <a:endParaRPr lang="en-US" sz="1900" dirty="0"/>
          </a:p>
          <a:p>
            <a:pPr lvl="1"/>
            <a:r>
              <a:rPr lang="en-US" sz="2200" dirty="0"/>
              <a:t>find the overhead due to framing.</a:t>
            </a:r>
          </a:p>
          <a:p>
            <a:pPr lvl="1"/>
            <a:endParaRPr lang="en-US" sz="1900" dirty="0"/>
          </a:p>
          <a:p>
            <a:pPr lvl="1"/>
            <a:r>
              <a:rPr lang="en-US" sz="2200" dirty="0"/>
              <a:t>Calculate the time it takes to transfer 400 characters if we use 1200 bps. What percentage of time is wasted due to overhead?</a:t>
            </a:r>
            <a:endParaRPr lang="en-US" sz="1900" dirty="0"/>
          </a:p>
          <a:p>
            <a:endParaRPr lang="en-US" dirty="0"/>
          </a:p>
        </p:txBody>
      </p:sp>
      <p:sp>
        <p:nvSpPr>
          <p:cNvPr id="5" name="TextBox 4">
            <a:extLst>
              <a:ext uri="{FF2B5EF4-FFF2-40B4-BE49-F238E27FC236}">
                <a16:creationId xmlns:a16="http://schemas.microsoft.com/office/drawing/2014/main" id="{1CBBAD9D-E240-AEAD-3106-4489E5202D4A}"/>
              </a:ext>
            </a:extLst>
          </p:cNvPr>
          <p:cNvSpPr txBox="1"/>
          <p:nvPr/>
        </p:nvSpPr>
        <p:spPr>
          <a:xfrm>
            <a:off x="7060941" y="2423649"/>
            <a:ext cx="3047222" cy="1569660"/>
          </a:xfrm>
          <a:prstGeom prst="rect">
            <a:avLst/>
          </a:prstGeom>
          <a:noFill/>
        </p:spPr>
        <p:txBody>
          <a:bodyPr wrap="square">
            <a:spAutoFit/>
          </a:bodyPr>
          <a:lstStyle/>
          <a:p>
            <a:r>
              <a:rPr lang="en-US" dirty="0">
                <a:solidFill>
                  <a:schemeClr val="accent3">
                    <a:lumMod val="60000"/>
                    <a:lumOff val="40000"/>
                  </a:schemeClr>
                </a:solidFill>
              </a:rPr>
              <a:t>a) </a:t>
            </a:r>
            <a:r>
              <a:rPr lang="en-US" sz="2400" b="1" dirty="0">
                <a:solidFill>
                  <a:srgbClr val="0070C0"/>
                </a:solidFill>
              </a:rPr>
              <a:t>11</a:t>
            </a:r>
            <a:r>
              <a:rPr lang="en-US" sz="2400" b="1" dirty="0">
                <a:solidFill>
                  <a:srgbClr val="00B050"/>
                </a:solidFill>
              </a:rPr>
              <a:t>1</a:t>
            </a:r>
            <a:r>
              <a:rPr lang="en-US" sz="2400" b="1" dirty="0">
                <a:solidFill>
                  <a:schemeClr val="tx2">
                    <a:lumMod val="10000"/>
                  </a:schemeClr>
                </a:solidFill>
              </a:rPr>
              <a:t>100 0100</a:t>
            </a:r>
            <a:r>
              <a:rPr lang="en-US" sz="2400" b="1" dirty="0">
                <a:solidFill>
                  <a:schemeClr val="accent3">
                    <a:lumMod val="60000"/>
                    <a:lumOff val="40000"/>
                  </a:schemeClr>
                </a:solidFill>
              </a:rPr>
              <a:t> </a:t>
            </a:r>
            <a:r>
              <a:rPr lang="en-US" sz="2400" b="1" dirty="0">
                <a:solidFill>
                  <a:srgbClr val="FF0000"/>
                </a:solidFill>
              </a:rPr>
              <a:t>0</a:t>
            </a:r>
          </a:p>
          <a:p>
            <a:pPr lvl="1"/>
            <a:r>
              <a:rPr lang="en-US" dirty="0">
                <a:solidFill>
                  <a:srgbClr val="FF0000"/>
                </a:solidFill>
              </a:rPr>
              <a:t>Red: start bit</a:t>
            </a:r>
          </a:p>
          <a:p>
            <a:pPr lvl="1"/>
            <a:r>
              <a:rPr lang="en-US" dirty="0">
                <a:solidFill>
                  <a:srgbClr val="0070C0"/>
                </a:solidFill>
              </a:rPr>
              <a:t>Blue: stop bits</a:t>
            </a:r>
          </a:p>
          <a:p>
            <a:pPr lvl="1"/>
            <a:r>
              <a:rPr lang="en-US" dirty="0">
                <a:solidFill>
                  <a:schemeClr val="bg1"/>
                </a:solidFill>
              </a:rPr>
              <a:t>Black: data bits</a:t>
            </a:r>
          </a:p>
          <a:p>
            <a:pPr lvl="1"/>
            <a:r>
              <a:rPr lang="en-US" dirty="0">
                <a:solidFill>
                  <a:srgbClr val="00B050"/>
                </a:solidFill>
              </a:rPr>
              <a:t>Green: parity bit</a:t>
            </a:r>
          </a:p>
        </p:txBody>
      </p:sp>
      <p:sp>
        <p:nvSpPr>
          <p:cNvPr id="7" name="TextBox 6">
            <a:extLst>
              <a:ext uri="{FF2B5EF4-FFF2-40B4-BE49-F238E27FC236}">
                <a16:creationId xmlns:a16="http://schemas.microsoft.com/office/drawing/2014/main" id="{A124DA69-2B00-A480-4184-06425D8E803A}"/>
              </a:ext>
            </a:extLst>
          </p:cNvPr>
          <p:cNvSpPr txBox="1"/>
          <p:nvPr/>
        </p:nvSpPr>
        <p:spPr>
          <a:xfrm>
            <a:off x="1359937" y="4233379"/>
            <a:ext cx="6097554" cy="369332"/>
          </a:xfrm>
          <a:prstGeom prst="rect">
            <a:avLst/>
          </a:prstGeom>
          <a:noFill/>
        </p:spPr>
        <p:txBody>
          <a:bodyPr wrap="square">
            <a:spAutoFit/>
          </a:bodyPr>
          <a:lstStyle/>
          <a:p>
            <a:r>
              <a:rPr lang="en-US" dirty="0">
                <a:solidFill>
                  <a:schemeClr val="accent3">
                    <a:lumMod val="60000"/>
                    <a:lumOff val="40000"/>
                  </a:schemeClr>
                </a:solidFill>
              </a:rPr>
              <a:t>b) Overhead=4 bits/ frame, Frame=7+4=11 bits</a:t>
            </a:r>
          </a:p>
        </p:txBody>
      </p:sp>
      <p:sp>
        <p:nvSpPr>
          <p:cNvPr id="8" name="TextBox 7">
            <a:extLst>
              <a:ext uri="{FF2B5EF4-FFF2-40B4-BE49-F238E27FC236}">
                <a16:creationId xmlns:a16="http://schemas.microsoft.com/office/drawing/2014/main" id="{4101EFBD-784F-92E2-C6A5-78A9FB75499B}"/>
              </a:ext>
            </a:extLst>
          </p:cNvPr>
          <p:cNvSpPr txBox="1"/>
          <p:nvPr/>
        </p:nvSpPr>
        <p:spPr>
          <a:xfrm>
            <a:off x="1359937" y="5503538"/>
            <a:ext cx="7737409" cy="923330"/>
          </a:xfrm>
          <a:prstGeom prst="rect">
            <a:avLst/>
          </a:prstGeom>
          <a:noFill/>
        </p:spPr>
        <p:txBody>
          <a:bodyPr wrap="square">
            <a:spAutoFit/>
          </a:bodyPr>
          <a:lstStyle/>
          <a:p>
            <a:r>
              <a:rPr lang="en-US" dirty="0">
                <a:solidFill>
                  <a:schemeClr val="accent3">
                    <a:lumMod val="60000"/>
                    <a:lumOff val="40000"/>
                  </a:schemeClr>
                </a:solidFill>
              </a:rPr>
              <a:t>c) 	Transfer time=11*400 bits/1200=11/3=3.67 seconds</a:t>
            </a:r>
          </a:p>
          <a:p>
            <a:pPr lvl="1"/>
            <a:r>
              <a:rPr lang="en-US" dirty="0">
                <a:solidFill>
                  <a:schemeClr val="accent3">
                    <a:lumMod val="60000"/>
                    <a:lumOff val="40000"/>
                  </a:schemeClr>
                </a:solidFill>
              </a:rPr>
              <a:t>Overhead time=4*400/1200=4/3=1.33 seconds</a:t>
            </a:r>
          </a:p>
          <a:p>
            <a:pPr lvl="1"/>
            <a:r>
              <a:rPr lang="en-US" dirty="0">
                <a:solidFill>
                  <a:schemeClr val="accent3">
                    <a:lumMod val="60000"/>
                    <a:lumOff val="40000"/>
                  </a:schemeClr>
                </a:solidFill>
              </a:rPr>
              <a:t>%time wasted=(4/3)/(11/3)=36.4%</a:t>
            </a:r>
          </a:p>
        </p:txBody>
      </p:sp>
    </p:spTree>
    <p:extLst>
      <p:ext uri="{BB962C8B-B14F-4D97-AF65-F5344CB8AC3E}">
        <p14:creationId xmlns:p14="http://schemas.microsoft.com/office/powerpoint/2010/main" val="15155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8</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826311" cy="1066800"/>
          </a:xfrm>
        </p:spPr>
        <p:txBody>
          <a:bodyPr>
            <a:normAutofit/>
          </a:bodyPr>
          <a:lstStyle/>
          <a:p>
            <a:pPr marL="109728" indent="0">
              <a:buNone/>
            </a:pPr>
            <a:r>
              <a:rPr lang="en-US" sz="2400" dirty="0"/>
              <a:t>If in a given PC the COM port is defective, which handshake signal indicates this to the modem?</a:t>
            </a:r>
          </a:p>
        </p:txBody>
      </p:sp>
      <p:sp>
        <p:nvSpPr>
          <p:cNvPr id="16" name="TextBox 15">
            <a:extLst>
              <a:ext uri="{FF2B5EF4-FFF2-40B4-BE49-F238E27FC236}">
                <a16:creationId xmlns:a16="http://schemas.microsoft.com/office/drawing/2014/main" id="{9E6D18D8-C43D-15DC-2D18-6F459EA4AB86}"/>
              </a:ext>
            </a:extLst>
          </p:cNvPr>
          <p:cNvSpPr txBox="1"/>
          <p:nvPr/>
        </p:nvSpPr>
        <p:spPr>
          <a:xfrm>
            <a:off x="790301" y="2981236"/>
            <a:ext cx="9902582" cy="646331"/>
          </a:xfrm>
          <a:prstGeom prst="rect">
            <a:avLst/>
          </a:prstGeom>
          <a:noFill/>
        </p:spPr>
        <p:txBody>
          <a:bodyPr wrap="square">
            <a:spAutoFit/>
          </a:bodyPr>
          <a:lstStyle/>
          <a:p>
            <a:pPr lvl="1"/>
            <a:r>
              <a:rPr lang="en-US" altLang="en-US" b="1" dirty="0">
                <a:solidFill>
                  <a:schemeClr val="accent3">
                    <a:lumMod val="60000"/>
                    <a:lumOff val="40000"/>
                  </a:schemeClr>
                </a:solidFill>
              </a:rPr>
              <a:t>DTR</a:t>
            </a:r>
            <a:r>
              <a:rPr lang="en-US" altLang="en-US" dirty="0">
                <a:solidFill>
                  <a:schemeClr val="accent3">
                    <a:lumMod val="60000"/>
                    <a:lumOff val="40000"/>
                  </a:schemeClr>
                </a:solidFill>
              </a:rPr>
              <a:t> (data terminal ready) - when a terminal or PC COM port is turned on, after self-test, it sends signal DTR to indicate it is ready for communication. 	</a:t>
            </a:r>
          </a:p>
        </p:txBody>
      </p:sp>
    </p:spTree>
    <p:extLst>
      <p:ext uri="{BB962C8B-B14F-4D97-AF65-F5344CB8AC3E}">
        <p14:creationId xmlns:p14="http://schemas.microsoft.com/office/powerpoint/2010/main" val="87878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9</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826311" cy="4180500"/>
          </a:xfrm>
        </p:spPr>
        <p:txBody>
          <a:bodyPr>
            <a:normAutofit lnSpcReduction="10000"/>
          </a:bodyPr>
          <a:lstStyle/>
          <a:p>
            <a:pPr marL="109728" indent="0">
              <a:buNone/>
            </a:pPr>
            <a:r>
              <a:rPr lang="en-US" sz="2000" dirty="0"/>
              <a:t>In a 386/486 program, show the content of each register indicated in parentheses after execution of the instruction.</a:t>
            </a:r>
          </a:p>
          <a:p>
            <a:pPr marL="109728" indent="0">
              <a:buNone/>
            </a:pPr>
            <a:endParaRPr lang="en-US" dirty="0"/>
          </a:p>
          <a:p>
            <a:pPr marL="800100" lvl="1" indent="-342900">
              <a:buFont typeface="+mj-lt"/>
              <a:buAutoNum type="alphaLcParenR"/>
            </a:pPr>
            <a:r>
              <a:rPr lang="en-US" dirty="0"/>
              <a:t>MOV EAX,9823F4B6H (AL, AH, AX and EAX) </a:t>
            </a:r>
          </a:p>
          <a:p>
            <a:pPr marL="800100" lvl="1" indent="-342900">
              <a:buFont typeface="+mj-lt"/>
              <a:buAutoNum type="alphaLcParenR"/>
            </a:pPr>
            <a:endParaRPr lang="en-US" dirty="0"/>
          </a:p>
          <a:p>
            <a:pPr marL="800100" lvl="1" indent="-342900">
              <a:buFont typeface="+mj-lt"/>
              <a:buAutoNum type="alphaLcParenR"/>
            </a:pPr>
            <a:endParaRPr lang="en-US" dirty="0"/>
          </a:p>
          <a:p>
            <a:pPr marL="800100" lvl="1" indent="-342900">
              <a:buFont typeface="+mj-lt"/>
              <a:buAutoNum type="alphaLcParenR"/>
            </a:pPr>
            <a:r>
              <a:rPr lang="en-US" dirty="0"/>
              <a:t>MOV EBX,985C2H (BL, BH, BX, EBX)</a:t>
            </a:r>
          </a:p>
          <a:p>
            <a:pPr marL="800100" lvl="1" indent="-342900">
              <a:buFont typeface="+mj-lt"/>
              <a:buAutoNum type="alphaLcParenR"/>
            </a:pPr>
            <a:endParaRPr lang="en-US" dirty="0"/>
          </a:p>
          <a:p>
            <a:pPr marL="800100" lvl="1" indent="-342900">
              <a:buFont typeface="+mj-lt"/>
              <a:buAutoNum type="alphaLcParenR"/>
            </a:pPr>
            <a:r>
              <a:rPr lang="en-US" dirty="0"/>
              <a:t>MOV EDX,2000000 (DL, DH, DX, EDX)</a:t>
            </a:r>
          </a:p>
          <a:p>
            <a:pPr marL="800100" lvl="1" indent="-342900">
              <a:buFont typeface="+mj-lt"/>
              <a:buAutoNum type="alphaLcParenR"/>
            </a:pPr>
            <a:endParaRPr lang="en-US" dirty="0"/>
          </a:p>
          <a:p>
            <a:pPr marL="800100" lvl="1" indent="-342900">
              <a:buFont typeface="+mj-lt"/>
              <a:buAutoNum type="alphaLcParenR"/>
            </a:pPr>
            <a:r>
              <a:rPr lang="en-US" dirty="0"/>
              <a:t>MOV ESI,120000H (SI, ESI)</a:t>
            </a:r>
          </a:p>
          <a:p>
            <a:pPr marL="109728" indent="0">
              <a:buNone/>
            </a:pPr>
            <a:endParaRPr lang="en-US" sz="2000" dirty="0"/>
          </a:p>
        </p:txBody>
      </p:sp>
      <p:pic>
        <p:nvPicPr>
          <p:cNvPr id="2" name="Picture 1">
            <a:extLst>
              <a:ext uri="{FF2B5EF4-FFF2-40B4-BE49-F238E27FC236}">
                <a16:creationId xmlns:a16="http://schemas.microsoft.com/office/drawing/2014/main" id="{DA39D5DD-7A03-253A-EF22-7EFCBA669DAC}"/>
              </a:ext>
            </a:extLst>
          </p:cNvPr>
          <p:cNvPicPr>
            <a:picLocks noChangeAspect="1"/>
          </p:cNvPicPr>
          <p:nvPr/>
        </p:nvPicPr>
        <p:blipFill>
          <a:blip r:embed="rId2"/>
          <a:stretch>
            <a:fillRect/>
          </a:stretch>
        </p:blipFill>
        <p:spPr>
          <a:xfrm>
            <a:off x="6622978" y="2065065"/>
            <a:ext cx="5292682" cy="1449421"/>
          </a:xfrm>
          <a:prstGeom prst="rect">
            <a:avLst/>
          </a:prstGeom>
        </p:spPr>
      </p:pic>
      <p:sp>
        <p:nvSpPr>
          <p:cNvPr id="4" name="TextBox 3">
            <a:extLst>
              <a:ext uri="{FF2B5EF4-FFF2-40B4-BE49-F238E27FC236}">
                <a16:creationId xmlns:a16="http://schemas.microsoft.com/office/drawing/2014/main" id="{ED1A2F88-32ED-58A2-252D-D54E0BD56F86}"/>
              </a:ext>
            </a:extLst>
          </p:cNvPr>
          <p:cNvSpPr txBox="1"/>
          <p:nvPr/>
        </p:nvSpPr>
        <p:spPr>
          <a:xfrm>
            <a:off x="1089349" y="3029737"/>
            <a:ext cx="6097554" cy="646331"/>
          </a:xfrm>
          <a:prstGeom prst="rect">
            <a:avLst/>
          </a:prstGeom>
          <a:noFill/>
        </p:spPr>
        <p:txBody>
          <a:bodyPr wrap="square">
            <a:spAutoFit/>
          </a:bodyPr>
          <a:lstStyle/>
          <a:p>
            <a:r>
              <a:rPr lang="en-US" dirty="0">
                <a:solidFill>
                  <a:schemeClr val="accent3">
                    <a:lumMod val="60000"/>
                    <a:lumOff val="40000"/>
                  </a:schemeClr>
                </a:solidFill>
              </a:rPr>
              <a:t>a) MOV EAX,9823F4B6H 			</a:t>
            </a:r>
          </a:p>
          <a:p>
            <a:r>
              <a:rPr lang="en-US" dirty="0">
                <a:solidFill>
                  <a:schemeClr val="accent3">
                    <a:lumMod val="60000"/>
                    <a:lumOff val="40000"/>
                  </a:schemeClr>
                </a:solidFill>
              </a:rPr>
              <a:t>	(AL=B6, AH=F4, AX=F4B6 and EAX=9823F4B6)</a:t>
            </a:r>
          </a:p>
        </p:txBody>
      </p:sp>
      <p:sp>
        <p:nvSpPr>
          <p:cNvPr id="6" name="TextBox 5">
            <a:extLst>
              <a:ext uri="{FF2B5EF4-FFF2-40B4-BE49-F238E27FC236}">
                <a16:creationId xmlns:a16="http://schemas.microsoft.com/office/drawing/2014/main" id="{797C39BD-4F4C-EE7C-1B65-361A6702550C}"/>
              </a:ext>
            </a:extLst>
          </p:cNvPr>
          <p:cNvSpPr txBox="1"/>
          <p:nvPr/>
        </p:nvSpPr>
        <p:spPr>
          <a:xfrm>
            <a:off x="1089349" y="4109826"/>
            <a:ext cx="9454244" cy="369332"/>
          </a:xfrm>
          <a:prstGeom prst="rect">
            <a:avLst/>
          </a:prstGeom>
          <a:noFill/>
        </p:spPr>
        <p:txBody>
          <a:bodyPr wrap="square">
            <a:spAutoFit/>
          </a:bodyPr>
          <a:lstStyle/>
          <a:p>
            <a:r>
              <a:rPr lang="en-US" dirty="0">
                <a:solidFill>
                  <a:schemeClr val="accent3">
                    <a:lumMod val="60000"/>
                    <a:lumOff val="40000"/>
                  </a:schemeClr>
                </a:solidFill>
              </a:rPr>
              <a:t>b) MOV EBX,985C2H 			(BL=C2, BH=85, BX=85C2, EBX=000985C2)</a:t>
            </a:r>
          </a:p>
        </p:txBody>
      </p:sp>
      <p:sp>
        <p:nvSpPr>
          <p:cNvPr id="8" name="TextBox 7">
            <a:extLst>
              <a:ext uri="{FF2B5EF4-FFF2-40B4-BE49-F238E27FC236}">
                <a16:creationId xmlns:a16="http://schemas.microsoft.com/office/drawing/2014/main" id="{0D4AFBB6-358B-2B78-F4EB-4F5E819B1B99}"/>
              </a:ext>
            </a:extLst>
          </p:cNvPr>
          <p:cNvSpPr txBox="1"/>
          <p:nvPr/>
        </p:nvSpPr>
        <p:spPr>
          <a:xfrm>
            <a:off x="1080019" y="4889832"/>
            <a:ext cx="10377973" cy="369332"/>
          </a:xfrm>
          <a:prstGeom prst="rect">
            <a:avLst/>
          </a:prstGeom>
          <a:noFill/>
        </p:spPr>
        <p:txBody>
          <a:bodyPr wrap="square">
            <a:spAutoFit/>
          </a:bodyPr>
          <a:lstStyle/>
          <a:p>
            <a:r>
              <a:rPr lang="en-US" dirty="0">
                <a:solidFill>
                  <a:schemeClr val="accent3">
                    <a:lumMod val="60000"/>
                    <a:lumOff val="40000"/>
                  </a:schemeClr>
                </a:solidFill>
              </a:rPr>
              <a:t>c) MOV EDX,2000000 =001E8480 (DL=80, DH=84, DX=8480, EDX=001E8480)</a:t>
            </a:r>
          </a:p>
        </p:txBody>
      </p:sp>
      <p:sp>
        <p:nvSpPr>
          <p:cNvPr id="10" name="TextBox 9">
            <a:extLst>
              <a:ext uri="{FF2B5EF4-FFF2-40B4-BE49-F238E27FC236}">
                <a16:creationId xmlns:a16="http://schemas.microsoft.com/office/drawing/2014/main" id="{D69A2CE5-5A6D-BDFA-FE0E-FBB998871639}"/>
              </a:ext>
            </a:extLst>
          </p:cNvPr>
          <p:cNvSpPr txBox="1"/>
          <p:nvPr/>
        </p:nvSpPr>
        <p:spPr>
          <a:xfrm>
            <a:off x="1080019" y="5650563"/>
            <a:ext cx="9258300" cy="369332"/>
          </a:xfrm>
          <a:prstGeom prst="rect">
            <a:avLst/>
          </a:prstGeom>
          <a:noFill/>
        </p:spPr>
        <p:txBody>
          <a:bodyPr wrap="square">
            <a:spAutoFit/>
          </a:bodyPr>
          <a:lstStyle/>
          <a:p>
            <a:r>
              <a:rPr lang="en-US" dirty="0">
                <a:solidFill>
                  <a:schemeClr val="accent3">
                    <a:lumMod val="60000"/>
                    <a:lumOff val="40000"/>
                  </a:schemeClr>
                </a:solidFill>
              </a:rPr>
              <a:t>d) MOV ESI,120000H 			(SI=0000, ESI=00120000)</a:t>
            </a:r>
          </a:p>
        </p:txBody>
      </p:sp>
    </p:spTree>
    <p:extLst>
      <p:ext uri="{BB962C8B-B14F-4D97-AF65-F5344CB8AC3E}">
        <p14:creationId xmlns:p14="http://schemas.microsoft.com/office/powerpoint/2010/main" val="1703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4DEAD1-E33B-5D21-A9C2-4EC3684C9044}"/>
              </a:ext>
            </a:extLst>
          </p:cNvPr>
          <p:cNvSpPr>
            <a:spLocks noGrp="1"/>
          </p:cNvSpPr>
          <p:nvPr>
            <p:ph type="title"/>
          </p:nvPr>
        </p:nvSpPr>
        <p:spPr>
          <a:xfrm>
            <a:off x="380999" y="457200"/>
            <a:ext cx="10537061" cy="1066800"/>
          </a:xfrm>
        </p:spPr>
        <p:txBody>
          <a:bodyPr/>
          <a:lstStyle/>
          <a:p>
            <a:r>
              <a:rPr lang="en-US" dirty="0"/>
              <a:t>Problem 10</a:t>
            </a:r>
          </a:p>
        </p:txBody>
      </p:sp>
      <p:sp>
        <p:nvSpPr>
          <p:cNvPr id="13" name="Content Placeholder 2">
            <a:extLst>
              <a:ext uri="{FF2B5EF4-FFF2-40B4-BE49-F238E27FC236}">
                <a16:creationId xmlns:a16="http://schemas.microsoft.com/office/drawing/2014/main" id="{04B4A5FA-9994-9936-010F-C1F1AC374F7D}"/>
              </a:ext>
            </a:extLst>
          </p:cNvPr>
          <p:cNvSpPr>
            <a:spLocks noGrp="1"/>
          </p:cNvSpPr>
          <p:nvPr>
            <p:ph idx="1"/>
          </p:nvPr>
        </p:nvSpPr>
        <p:spPr>
          <a:xfrm>
            <a:off x="631681" y="1585818"/>
            <a:ext cx="10826311" cy="1066800"/>
          </a:xfrm>
        </p:spPr>
        <p:txBody>
          <a:bodyPr>
            <a:normAutofit/>
          </a:bodyPr>
          <a:lstStyle/>
          <a:p>
            <a:pPr marL="109728" indent="0">
              <a:buNone/>
            </a:pPr>
            <a:r>
              <a:rPr lang="en-US" sz="2400" dirty="0"/>
              <a:t>Using the little-endian convention show the contents of the destination in each case.</a:t>
            </a:r>
          </a:p>
        </p:txBody>
      </p:sp>
      <p:sp>
        <p:nvSpPr>
          <p:cNvPr id="3" name="TextBox 2">
            <a:extLst>
              <a:ext uri="{FF2B5EF4-FFF2-40B4-BE49-F238E27FC236}">
                <a16:creationId xmlns:a16="http://schemas.microsoft.com/office/drawing/2014/main" id="{3EA4234F-E077-7B34-1BE6-216B89632BED}"/>
              </a:ext>
            </a:extLst>
          </p:cNvPr>
          <p:cNvSpPr txBox="1"/>
          <p:nvPr/>
        </p:nvSpPr>
        <p:spPr>
          <a:xfrm>
            <a:off x="865415" y="2714436"/>
            <a:ext cx="6097554" cy="369332"/>
          </a:xfrm>
          <a:prstGeom prst="rect">
            <a:avLst/>
          </a:prstGeom>
          <a:noFill/>
        </p:spPr>
        <p:txBody>
          <a:bodyPr wrap="square">
            <a:spAutoFit/>
          </a:bodyPr>
          <a:lstStyle/>
          <a:p>
            <a:r>
              <a:rPr lang="en-US" dirty="0"/>
              <a:t>a.	MOV [SI], EAX; SI=2000H , EAX=9823F456H</a:t>
            </a:r>
          </a:p>
        </p:txBody>
      </p:sp>
      <p:sp>
        <p:nvSpPr>
          <p:cNvPr id="5" name="TextBox 4">
            <a:extLst>
              <a:ext uri="{FF2B5EF4-FFF2-40B4-BE49-F238E27FC236}">
                <a16:creationId xmlns:a16="http://schemas.microsoft.com/office/drawing/2014/main" id="{10ACC413-EB47-1B15-BD93-A53B3382CFF6}"/>
              </a:ext>
            </a:extLst>
          </p:cNvPr>
          <p:cNvSpPr txBox="1"/>
          <p:nvPr/>
        </p:nvSpPr>
        <p:spPr>
          <a:xfrm>
            <a:off x="865415" y="4020717"/>
            <a:ext cx="6097554" cy="369332"/>
          </a:xfrm>
          <a:prstGeom prst="rect">
            <a:avLst/>
          </a:prstGeom>
          <a:noFill/>
        </p:spPr>
        <p:txBody>
          <a:bodyPr wrap="square">
            <a:spAutoFit/>
          </a:bodyPr>
          <a:lstStyle/>
          <a:p>
            <a:r>
              <a:rPr lang="en-US" dirty="0"/>
              <a:t>b.	MOV [BX], ECX; BX=348CH, ECX=1F23491H</a:t>
            </a:r>
          </a:p>
        </p:txBody>
      </p:sp>
      <p:sp>
        <p:nvSpPr>
          <p:cNvPr id="7" name="TextBox 6">
            <a:extLst>
              <a:ext uri="{FF2B5EF4-FFF2-40B4-BE49-F238E27FC236}">
                <a16:creationId xmlns:a16="http://schemas.microsoft.com/office/drawing/2014/main" id="{20722005-0CC6-DCC2-4D11-309F6DB2BE19}"/>
              </a:ext>
            </a:extLst>
          </p:cNvPr>
          <p:cNvSpPr txBox="1"/>
          <p:nvPr/>
        </p:nvSpPr>
        <p:spPr>
          <a:xfrm>
            <a:off x="855849" y="5285596"/>
            <a:ext cx="10377973" cy="369332"/>
          </a:xfrm>
          <a:prstGeom prst="rect">
            <a:avLst/>
          </a:prstGeom>
          <a:noFill/>
        </p:spPr>
        <p:txBody>
          <a:bodyPr wrap="square">
            <a:spAutoFit/>
          </a:bodyPr>
          <a:lstStyle/>
          <a:p>
            <a:r>
              <a:rPr lang="en-US" dirty="0"/>
              <a:t>c.	MOV EBX, [DI]; DI=4044H</a:t>
            </a:r>
          </a:p>
        </p:txBody>
      </p:sp>
      <p:sp>
        <p:nvSpPr>
          <p:cNvPr id="9" name="TextBox 8">
            <a:extLst>
              <a:ext uri="{FF2B5EF4-FFF2-40B4-BE49-F238E27FC236}">
                <a16:creationId xmlns:a16="http://schemas.microsoft.com/office/drawing/2014/main" id="{621AD1DC-5282-610E-889E-D58257B670BE}"/>
              </a:ext>
            </a:extLst>
          </p:cNvPr>
          <p:cNvSpPr txBox="1"/>
          <p:nvPr/>
        </p:nvSpPr>
        <p:spPr>
          <a:xfrm>
            <a:off x="7051611" y="2736503"/>
            <a:ext cx="2353646" cy="1200329"/>
          </a:xfrm>
          <a:prstGeom prst="rect">
            <a:avLst/>
          </a:prstGeom>
          <a:noFill/>
        </p:spPr>
        <p:txBody>
          <a:bodyPr wrap="square">
            <a:spAutoFit/>
          </a:bodyPr>
          <a:lstStyle/>
          <a:p>
            <a:pPr marL="109728" indent="0">
              <a:buNone/>
            </a:pPr>
            <a:r>
              <a:rPr lang="en-US" dirty="0">
                <a:solidFill>
                  <a:schemeClr val="accent3">
                    <a:lumMod val="60000"/>
                    <a:lumOff val="40000"/>
                  </a:schemeClr>
                </a:solidFill>
              </a:rPr>
              <a:t>56h at DS:2000h</a:t>
            </a:r>
          </a:p>
          <a:p>
            <a:pPr marL="109728" indent="0">
              <a:buNone/>
            </a:pPr>
            <a:r>
              <a:rPr lang="en-US" dirty="0">
                <a:solidFill>
                  <a:schemeClr val="accent3">
                    <a:lumMod val="60000"/>
                    <a:lumOff val="40000"/>
                  </a:schemeClr>
                </a:solidFill>
              </a:rPr>
              <a:t>F4h at DS:2001h</a:t>
            </a:r>
          </a:p>
          <a:p>
            <a:pPr marL="109728" indent="0">
              <a:buNone/>
            </a:pPr>
            <a:r>
              <a:rPr lang="en-US" dirty="0">
                <a:solidFill>
                  <a:schemeClr val="accent3">
                    <a:lumMod val="60000"/>
                    <a:lumOff val="40000"/>
                  </a:schemeClr>
                </a:solidFill>
              </a:rPr>
              <a:t>23h at DS:2002h</a:t>
            </a:r>
          </a:p>
          <a:p>
            <a:pPr marL="109728" indent="0">
              <a:buNone/>
            </a:pPr>
            <a:r>
              <a:rPr lang="en-US" dirty="0">
                <a:solidFill>
                  <a:schemeClr val="accent3">
                    <a:lumMod val="60000"/>
                    <a:lumOff val="40000"/>
                  </a:schemeClr>
                </a:solidFill>
              </a:rPr>
              <a:t>98h at DS:2003h</a:t>
            </a:r>
          </a:p>
        </p:txBody>
      </p:sp>
      <p:sp>
        <p:nvSpPr>
          <p:cNvPr id="11" name="TextBox 10">
            <a:extLst>
              <a:ext uri="{FF2B5EF4-FFF2-40B4-BE49-F238E27FC236}">
                <a16:creationId xmlns:a16="http://schemas.microsoft.com/office/drawing/2014/main" id="{9004CAF4-69B4-117F-9034-AF944B16583F}"/>
              </a:ext>
            </a:extLst>
          </p:cNvPr>
          <p:cNvSpPr txBox="1"/>
          <p:nvPr/>
        </p:nvSpPr>
        <p:spPr>
          <a:xfrm>
            <a:off x="7051611" y="4197712"/>
            <a:ext cx="2353646" cy="1200329"/>
          </a:xfrm>
          <a:prstGeom prst="rect">
            <a:avLst/>
          </a:prstGeom>
          <a:noFill/>
        </p:spPr>
        <p:txBody>
          <a:bodyPr wrap="square">
            <a:spAutoFit/>
          </a:bodyPr>
          <a:lstStyle/>
          <a:p>
            <a:pPr marL="109728" indent="0">
              <a:buNone/>
            </a:pPr>
            <a:r>
              <a:rPr lang="en-US" dirty="0">
                <a:solidFill>
                  <a:schemeClr val="accent3">
                    <a:lumMod val="60000"/>
                    <a:lumOff val="40000"/>
                  </a:schemeClr>
                </a:solidFill>
              </a:rPr>
              <a:t>91h at DS:348Ch</a:t>
            </a:r>
          </a:p>
          <a:p>
            <a:pPr marL="109728" indent="0">
              <a:buNone/>
            </a:pPr>
            <a:r>
              <a:rPr lang="en-US" dirty="0">
                <a:solidFill>
                  <a:schemeClr val="accent3">
                    <a:lumMod val="60000"/>
                    <a:lumOff val="40000"/>
                  </a:schemeClr>
                </a:solidFill>
              </a:rPr>
              <a:t>34h at DS:348Dh</a:t>
            </a:r>
          </a:p>
          <a:p>
            <a:pPr marL="109728" indent="0">
              <a:buNone/>
            </a:pPr>
            <a:r>
              <a:rPr lang="en-US" dirty="0">
                <a:solidFill>
                  <a:schemeClr val="accent3">
                    <a:lumMod val="60000"/>
                    <a:lumOff val="40000"/>
                  </a:schemeClr>
                </a:solidFill>
              </a:rPr>
              <a:t>F2h at DS:348Eh</a:t>
            </a:r>
          </a:p>
          <a:p>
            <a:pPr marL="109728" indent="0">
              <a:buNone/>
            </a:pPr>
            <a:r>
              <a:rPr lang="en-US" dirty="0">
                <a:solidFill>
                  <a:schemeClr val="accent3">
                    <a:lumMod val="60000"/>
                    <a:lumOff val="40000"/>
                  </a:schemeClr>
                </a:solidFill>
              </a:rPr>
              <a:t>01h at DS:348Fh</a:t>
            </a:r>
          </a:p>
        </p:txBody>
      </p:sp>
      <p:sp>
        <p:nvSpPr>
          <p:cNvPr id="15" name="TextBox 14">
            <a:extLst>
              <a:ext uri="{FF2B5EF4-FFF2-40B4-BE49-F238E27FC236}">
                <a16:creationId xmlns:a16="http://schemas.microsoft.com/office/drawing/2014/main" id="{9C286355-F11A-DCB8-DCB9-7182146A7769}"/>
              </a:ext>
            </a:extLst>
          </p:cNvPr>
          <p:cNvSpPr txBox="1"/>
          <p:nvPr/>
        </p:nvSpPr>
        <p:spPr>
          <a:xfrm>
            <a:off x="6962969" y="5769906"/>
            <a:ext cx="2279002" cy="369332"/>
          </a:xfrm>
          <a:prstGeom prst="rect">
            <a:avLst/>
          </a:prstGeom>
          <a:noFill/>
        </p:spPr>
        <p:txBody>
          <a:bodyPr wrap="square">
            <a:spAutoFit/>
          </a:bodyPr>
          <a:lstStyle/>
          <a:p>
            <a:pPr marL="109728" indent="0">
              <a:buNone/>
            </a:pPr>
            <a:r>
              <a:rPr lang="en-US" dirty="0">
                <a:solidFill>
                  <a:schemeClr val="accent3">
                    <a:lumMod val="60000"/>
                    <a:lumOff val="40000"/>
                  </a:schemeClr>
                </a:solidFill>
              </a:rPr>
              <a:t> EBX=4CA26D92h</a:t>
            </a:r>
          </a:p>
        </p:txBody>
      </p:sp>
      <p:sp>
        <p:nvSpPr>
          <p:cNvPr id="4" name="TextBox 3">
            <a:extLst>
              <a:ext uri="{FF2B5EF4-FFF2-40B4-BE49-F238E27FC236}">
                <a16:creationId xmlns:a16="http://schemas.microsoft.com/office/drawing/2014/main" id="{61F02D3A-35F1-19B5-1DF2-3BAF6BA06A65}"/>
              </a:ext>
            </a:extLst>
          </p:cNvPr>
          <p:cNvSpPr txBox="1"/>
          <p:nvPr/>
        </p:nvSpPr>
        <p:spPr>
          <a:xfrm>
            <a:off x="4150178" y="5285596"/>
            <a:ext cx="1945822" cy="1200329"/>
          </a:xfrm>
          <a:prstGeom prst="rect">
            <a:avLst/>
          </a:prstGeom>
          <a:noFill/>
        </p:spPr>
        <p:txBody>
          <a:bodyPr wrap="square">
            <a:spAutoFit/>
          </a:bodyPr>
          <a:lstStyle/>
          <a:p>
            <a:r>
              <a:rPr lang="en-US" dirty="0"/>
              <a:t>DS:4044= 92H</a:t>
            </a:r>
          </a:p>
          <a:p>
            <a:r>
              <a:rPr lang="en-US" dirty="0"/>
              <a:t>DS:4045= 6DH</a:t>
            </a:r>
          </a:p>
          <a:p>
            <a:r>
              <a:rPr lang="en-US" dirty="0"/>
              <a:t>DS:4046= A2H</a:t>
            </a:r>
          </a:p>
          <a:p>
            <a:r>
              <a:rPr lang="en-US" dirty="0"/>
              <a:t>DS:4047= 4CH</a:t>
            </a:r>
          </a:p>
        </p:txBody>
      </p:sp>
    </p:spTree>
    <p:extLst>
      <p:ext uri="{BB962C8B-B14F-4D97-AF65-F5344CB8AC3E}">
        <p14:creationId xmlns:p14="http://schemas.microsoft.com/office/powerpoint/2010/main" val="124892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Lst>
  </p:timing>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633</TotalTime>
  <Words>1638</Words>
  <Application>Microsoft Office PowerPoint</Application>
  <PresentationFormat>Widescreen</PresentationFormat>
  <Paragraphs>314</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vt:lpstr>
      <vt:lpstr>Calibri</vt:lpstr>
      <vt:lpstr>Century Gothic</vt:lpstr>
      <vt:lpstr>Wingdings 3</vt:lpstr>
      <vt:lpstr>Ion</vt:lpstr>
      <vt:lpstr>8086 Assembly</vt:lpstr>
      <vt:lpstr>UART Interface</vt:lpstr>
      <vt:lpstr>RS232 Port</vt:lpstr>
      <vt:lpstr>UART Frame</vt:lpstr>
      <vt:lpstr>Baud Rate vs Bit Rate</vt:lpstr>
      <vt:lpstr>Serial Comm. In 8086</vt:lpstr>
      <vt:lpstr>Serial Ports</vt:lpstr>
      <vt:lpstr>Data Register</vt:lpstr>
      <vt:lpstr>Line Control Register</vt:lpstr>
      <vt:lpstr>Baud Rate Divisor Register Values</vt:lpstr>
      <vt:lpstr>Line Status Register</vt:lpstr>
      <vt:lpstr>Problem 1</vt:lpstr>
      <vt:lpstr>Problem 2</vt:lpstr>
      <vt:lpstr>Problem 3</vt:lpstr>
      <vt:lpstr>Problem 4</vt:lpstr>
      <vt:lpstr>Problem 5</vt:lpstr>
      <vt:lpstr>Problem 6</vt:lpstr>
      <vt:lpstr>Problem 7</vt:lpstr>
      <vt:lpstr>Problem 8</vt:lpstr>
      <vt:lpstr>Problem 9</vt:lpstr>
      <vt:lpstr>Problem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Microprocessor Systems</dc:title>
  <dc:creator>Peter</dc:creator>
  <cp:lastModifiedBy>Peter</cp:lastModifiedBy>
  <cp:revision>156</cp:revision>
  <dcterms:created xsi:type="dcterms:W3CDTF">2025-02-23T18:09:19Z</dcterms:created>
  <dcterms:modified xsi:type="dcterms:W3CDTF">2026-03-16T14:44:38Z</dcterms:modified>
</cp:coreProperties>
</file>