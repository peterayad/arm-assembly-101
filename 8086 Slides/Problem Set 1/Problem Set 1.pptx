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2" r:id="rId9"/>
    <p:sldId id="264" r:id="rId10"/>
    <p:sldId id="292" r:id="rId11"/>
    <p:sldId id="291" r:id="rId12"/>
    <p:sldId id="293" r:id="rId13"/>
    <p:sldId id="294" r:id="rId14"/>
    <p:sldId id="297" r:id="rId15"/>
    <p:sldId id="298" r:id="rId16"/>
    <p:sldId id="299" r:id="rId17"/>
    <p:sldId id="320" r:id="rId18"/>
    <p:sldId id="300" r:id="rId19"/>
    <p:sldId id="301" r:id="rId20"/>
    <p:sldId id="302" r:id="rId21"/>
    <p:sldId id="303" r:id="rId22"/>
    <p:sldId id="306" r:id="rId23"/>
    <p:sldId id="308" r:id="rId24"/>
    <p:sldId id="309" r:id="rId25"/>
    <p:sldId id="322" r:id="rId26"/>
    <p:sldId id="313" r:id="rId27"/>
    <p:sldId id="314" r:id="rId28"/>
    <p:sldId id="318" r:id="rId29"/>
    <p:sldId id="31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5B935-A599-492C-90EA-8DCFE8E1808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6C930-C5C0-43A6-8398-BFE835322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73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1710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9648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37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746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06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91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07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7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8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7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3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7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2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1973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46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3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24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523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DB786919-A39C-459D-B613-B42A99F8B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23114EB-0FAB-4E01-854D-9FC4373870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69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ircuit board">
            <a:extLst>
              <a:ext uri="{FF2B5EF4-FFF2-40B4-BE49-F238E27FC236}">
                <a16:creationId xmlns:a16="http://schemas.microsoft.com/office/drawing/2014/main" id="{A139660C-237F-C86E-9138-037A1A8FEB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DFD7E-9621-250E-61FA-D33C63991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8086 Assembly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168E7-6B95-D696-897C-0898DF7A5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Problem Set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931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AA5F3-E3AB-BCC2-5489-6E7A31816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8086 Registers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Picture 4" descr="A diagram of a machine&#10;&#10;Description automatically generated">
            <a:extLst>
              <a:ext uri="{FF2B5EF4-FFF2-40B4-BE49-F238E27FC236}">
                <a16:creationId xmlns:a16="http://schemas.microsoft.com/office/drawing/2014/main" id="{F20DE7CD-E262-2219-B57F-31C7039DBE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1796601"/>
            <a:ext cx="6270662" cy="326433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263799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AA5F3-E3AB-BCC2-5489-6E7A31816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837" y="1454963"/>
            <a:ext cx="3342462" cy="33083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dirty="0"/>
              <a:t>8086 Registers</a:t>
            </a:r>
          </a:p>
        </p:txBody>
      </p:sp>
      <p:pic>
        <p:nvPicPr>
          <p:cNvPr id="5" name="Picture 4" descr="A table of information with text&#10;&#10;Description automatically generated with medium confidence">
            <a:extLst>
              <a:ext uri="{FF2B5EF4-FFF2-40B4-BE49-F238E27FC236}">
                <a16:creationId xmlns:a16="http://schemas.microsoft.com/office/drawing/2014/main" id="{1A32A5CA-7B2F-D9A6-1F1A-8E875FEDF85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4" r="1676"/>
          <a:stretch/>
        </p:blipFill>
        <p:spPr>
          <a:xfrm>
            <a:off x="607848" y="609601"/>
            <a:ext cx="6946288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8593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AA5F3-E3AB-BCC2-5489-6E7A31816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5005220"/>
            <a:ext cx="8825658" cy="834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8086 Flags</a:t>
            </a:r>
          </a:p>
        </p:txBody>
      </p:sp>
      <p:pic>
        <p:nvPicPr>
          <p:cNvPr id="7" name="Picture 6" descr="A diagram of a flag&#10;&#10;Description automatically generated">
            <a:extLst>
              <a:ext uri="{FF2B5EF4-FFF2-40B4-BE49-F238E27FC236}">
                <a16:creationId xmlns:a16="http://schemas.microsoft.com/office/drawing/2014/main" id="{0AA01D15-80D6-3416-5DAD-21190BB07B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5704"/>
          <a:stretch/>
        </p:blipFill>
        <p:spPr>
          <a:xfrm>
            <a:off x="1150938" y="435010"/>
            <a:ext cx="8831262" cy="4267831"/>
          </a:xfrm>
          <a:prstGeom prst="rect">
            <a:avLst/>
          </a:prstGeom>
          <a:effectLst>
            <a:outerShdw blurRad="50800" dist="50800" dir="5400000" algn="tl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1961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3ADA-56C5-BE4A-C5DB-F3811E13A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 Endian vs Big Endian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7704A22-B73D-C944-8A39-0AC5EC3C0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385" y="1313895"/>
            <a:ext cx="9199230" cy="51745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A445D3-F6BA-91BF-E7DE-01A7F2D3440A}"/>
              </a:ext>
            </a:extLst>
          </p:cNvPr>
          <p:cNvSpPr txBox="1"/>
          <p:nvPr/>
        </p:nvSpPr>
        <p:spPr>
          <a:xfrm>
            <a:off x="646111" y="4583020"/>
            <a:ext cx="3426781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a little-endian system, the address of a given value in memory, taken as a 32-, 16-, or 8-bit width, is the same making </a:t>
            </a:r>
            <a:r>
              <a:rPr lang="en-US" b="1" dirty="0"/>
              <a:t>CASTING (and Arithmetic Ops)</a:t>
            </a:r>
            <a:r>
              <a:rPr lang="en-US" dirty="0"/>
              <a:t> easier.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D1C48550-A2B4-20D9-C066-A0EFECA0C58B}"/>
              </a:ext>
            </a:extLst>
          </p:cNvPr>
          <p:cNvSpPr/>
          <p:nvPr/>
        </p:nvSpPr>
        <p:spPr>
          <a:xfrm>
            <a:off x="7412854" y="1083075"/>
            <a:ext cx="2556770" cy="355107"/>
          </a:xfrm>
          <a:prstGeom prst="wedgeRectCallout">
            <a:avLst>
              <a:gd name="adj1" fmla="val -20833"/>
              <a:gd name="adj2" fmla="val 10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Humans are Big Endian</a:t>
            </a:r>
          </a:p>
        </p:txBody>
      </p:sp>
    </p:spTree>
    <p:extLst>
      <p:ext uri="{BB962C8B-B14F-4D97-AF65-F5344CB8AC3E}">
        <p14:creationId xmlns:p14="http://schemas.microsoft.com/office/powerpoint/2010/main" val="185437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DAEF-E949-89EE-1B87-14E48BAF2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52299"/>
          </a:xfrm>
        </p:spPr>
        <p:txBody>
          <a:bodyPr/>
          <a:lstStyle/>
          <a:p>
            <a:r>
              <a:rPr lang="en-US" dirty="0"/>
              <a:t>Physical vs Logical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73B7C-9745-CB68-CC46-2DE23A6F6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331258"/>
            <a:ext cx="8946541" cy="507402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8086 has a 16-bit Registers </a:t>
            </a:r>
            <a:r>
              <a:rPr lang="en-US" b="1" dirty="0"/>
              <a:t>BUT </a:t>
            </a:r>
            <a:r>
              <a:rPr lang="en-US" dirty="0"/>
              <a:t>20-bit address bus, Why? To get 1M Memory (2 ^ 20)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900" dirty="0"/>
          </a:p>
          <a:p>
            <a:pPr>
              <a:lnSpc>
                <a:spcPct val="110000"/>
              </a:lnSpc>
            </a:pPr>
            <a:r>
              <a:rPr lang="en-US" dirty="0"/>
              <a:t>Solution: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1. Shift segment address 4-bits to the left (</a:t>
            </a:r>
            <a:r>
              <a:rPr lang="en-US" b="1" dirty="0"/>
              <a:t>SHIFT BASE</a:t>
            </a:r>
            <a:r>
              <a:rPr lang="en-US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2. Add Index address to the shifted base address (</a:t>
            </a:r>
            <a:r>
              <a:rPr lang="en-US" b="1" dirty="0"/>
              <a:t>ADD OFFSET</a:t>
            </a:r>
            <a:r>
              <a:rPr lang="en-US" dirty="0"/>
              <a:t>)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US" sz="1050" dirty="0"/>
          </a:p>
          <a:p>
            <a:pPr>
              <a:lnSpc>
                <a:spcPct val="150000"/>
              </a:lnSpc>
            </a:pPr>
            <a:r>
              <a:rPr lang="en-US" dirty="0"/>
              <a:t>Example </a:t>
            </a:r>
            <a:r>
              <a:rPr lang="en-US" b="1" dirty="0"/>
              <a:t>CS = 348AH, IP = 4214H </a:t>
            </a:r>
            <a:r>
              <a:rPr lang="en-US" dirty="0"/>
              <a:t>then the next instruction is at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					</a:t>
            </a:r>
            <a:r>
              <a:rPr lang="en-US" b="1" dirty="0"/>
              <a:t>348A0H + 4214H = 38AB4H</a:t>
            </a:r>
          </a:p>
          <a:p>
            <a:pPr marL="0" indent="0">
              <a:lnSpc>
                <a:spcPct val="150000"/>
              </a:lnSpc>
              <a:buNone/>
            </a:pPr>
            <a:endParaRPr lang="en-US" sz="500" b="1" dirty="0"/>
          </a:p>
          <a:p>
            <a:r>
              <a:rPr lang="en-US" dirty="0"/>
              <a:t>Logical Address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segment</a:t>
            </a:r>
            <a:r>
              <a:rPr lang="en-US" b="1" dirty="0"/>
              <a:t>:</a:t>
            </a:r>
            <a:r>
              <a:rPr lang="en-US" dirty="0"/>
              <a:t>offset</a:t>
            </a:r>
          </a:p>
          <a:p>
            <a:r>
              <a:rPr lang="en-US" dirty="0"/>
              <a:t>Physical Address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absolute number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AFCA13-71FA-6202-765C-0AAF450F5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012" y="5042517"/>
            <a:ext cx="3844858" cy="10932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C5F28E-E7D6-F146-B8E5-5DEB121277F5}"/>
              </a:ext>
            </a:extLst>
          </p:cNvPr>
          <p:cNvSpPr txBox="1"/>
          <p:nvPr/>
        </p:nvSpPr>
        <p:spPr>
          <a:xfrm>
            <a:off x="9540516" y="2089717"/>
            <a:ext cx="200635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Memory in 8086 is Byte Addressable</a:t>
            </a:r>
          </a:p>
        </p:txBody>
      </p:sp>
    </p:spTree>
    <p:extLst>
      <p:ext uri="{BB962C8B-B14F-4D97-AF65-F5344CB8AC3E}">
        <p14:creationId xmlns:p14="http://schemas.microsoft.com/office/powerpoint/2010/main" val="413201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463E0-419E-B0E3-D4E7-53FFAE01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Side Note: 8086 has another ALU-ish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1CAFF-7F9B-FE2A-805A-4402585B39A4}"/>
              </a:ext>
            </a:extLst>
          </p:cNvPr>
          <p:cNvSpPr txBox="1"/>
          <p:nvPr/>
        </p:nvSpPr>
        <p:spPr>
          <a:xfrm>
            <a:off x="643855" y="3072385"/>
            <a:ext cx="3108057" cy="2947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feature of fetching the next instruction while the current instruction is executing is called </a:t>
            </a:r>
            <a:r>
              <a:rPr lang="en-US" sz="2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pipelining</a:t>
            </a:r>
            <a:endParaRPr lang="en-US" sz="20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F6D96-5FC6-37C9-394A-E6CC63B97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271" y="1447799"/>
            <a:ext cx="6306207" cy="457200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4977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A2CDF-078E-FD8D-6C6A-CA75CA41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9149350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Addressing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295A-3340-8470-B60C-CB01866C4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916" y="5722374"/>
            <a:ext cx="9149349" cy="4879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cap="all" dirty="0">
                <a:solidFill>
                  <a:schemeClr val="tx2">
                    <a:lumMod val="40000"/>
                    <a:lumOff val="60000"/>
                  </a:schemeClr>
                </a:solidFill>
              </a:rPr>
              <a:t>The 8086 provides powerful instruction set with the addressing modes: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842B68E-B6D0-2962-D681-59CDDAF4F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721395"/>
              </p:ext>
            </p:extLst>
          </p:nvPr>
        </p:nvGraphicFramePr>
        <p:xfrm>
          <a:off x="635458" y="869320"/>
          <a:ext cx="9150809" cy="2833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534">
                  <a:extLst>
                    <a:ext uri="{9D8B030D-6E8A-4147-A177-3AD203B41FA5}">
                      <a16:colId xmlns:a16="http://schemas.microsoft.com/office/drawing/2014/main" val="850997497"/>
                    </a:ext>
                  </a:extLst>
                </a:gridCol>
                <a:gridCol w="2019881">
                  <a:extLst>
                    <a:ext uri="{9D8B030D-6E8A-4147-A177-3AD203B41FA5}">
                      <a16:colId xmlns:a16="http://schemas.microsoft.com/office/drawing/2014/main" val="2328008553"/>
                    </a:ext>
                  </a:extLst>
                </a:gridCol>
                <a:gridCol w="5140394">
                  <a:extLst>
                    <a:ext uri="{9D8B030D-6E8A-4147-A177-3AD203B41FA5}">
                      <a16:colId xmlns:a16="http://schemas.microsoft.com/office/drawing/2014/main" val="3087108065"/>
                    </a:ext>
                  </a:extLst>
                </a:gridCol>
              </a:tblGrid>
              <a:tr h="354171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Addressing Mode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Example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Notes</a:t>
                      </a:r>
                    </a:p>
                  </a:txBody>
                  <a:tcPr marL="80493" marR="80493" marT="40247" marB="40247" anchor="ctr"/>
                </a:tc>
                <a:extLst>
                  <a:ext uri="{0D108BD9-81ED-4DB2-BD59-A6C34878D82A}">
                    <a16:rowId xmlns:a16="http://schemas.microsoft.com/office/drawing/2014/main" val="1746518513"/>
                  </a:ext>
                </a:extLst>
              </a:tr>
              <a:tr h="354171">
                <a:tc>
                  <a:txBody>
                    <a:bodyPr/>
                    <a:lstStyle/>
                    <a:p>
                      <a:r>
                        <a:rPr lang="en-US" sz="1600" b="1"/>
                        <a:t>Immediate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Mov AL, 20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marL="80493" marR="80493" marT="40247" marB="40247" anchor="ctr"/>
                </a:tc>
                <a:extLst>
                  <a:ext uri="{0D108BD9-81ED-4DB2-BD59-A6C34878D82A}">
                    <a16:rowId xmlns:a16="http://schemas.microsoft.com/office/drawing/2014/main" val="3153757490"/>
                  </a:ext>
                </a:extLst>
              </a:tr>
              <a:tr h="354171">
                <a:tc>
                  <a:txBody>
                    <a:bodyPr/>
                    <a:lstStyle/>
                    <a:p>
                      <a:r>
                        <a:rPr lang="en-US" sz="1600" b="1"/>
                        <a:t>Register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Mov AL, BL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marL="80493" marR="80493" marT="40247" marB="40247" anchor="ctr"/>
                </a:tc>
                <a:extLst>
                  <a:ext uri="{0D108BD9-81ED-4DB2-BD59-A6C34878D82A}">
                    <a16:rowId xmlns:a16="http://schemas.microsoft.com/office/drawing/2014/main" val="1974567080"/>
                  </a:ext>
                </a:extLst>
              </a:tr>
              <a:tr h="354171">
                <a:tc>
                  <a:txBody>
                    <a:bodyPr/>
                    <a:lstStyle/>
                    <a:p>
                      <a:r>
                        <a:rPr lang="en-US" sz="1600" b="1"/>
                        <a:t>Direct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Mov AL, [0200]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[0200] = Content of DS:0200</a:t>
                      </a:r>
                    </a:p>
                  </a:txBody>
                  <a:tcPr marL="80493" marR="80493" marT="40247" marB="40247" anchor="ctr"/>
                </a:tc>
                <a:extLst>
                  <a:ext uri="{0D108BD9-81ED-4DB2-BD59-A6C34878D82A}">
                    <a16:rowId xmlns:a16="http://schemas.microsoft.com/office/drawing/2014/main" val="1256134816"/>
                  </a:ext>
                </a:extLst>
              </a:tr>
              <a:tr h="35417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/>
                        <a:t>Register Indirect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Mov AL, [BX]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[BX] = Content of the address in DS:BX</a:t>
                      </a:r>
                    </a:p>
                  </a:txBody>
                  <a:tcPr marL="80493" marR="80493" marT="40247" marB="40247" anchor="ctr"/>
                </a:tc>
                <a:extLst>
                  <a:ext uri="{0D108BD9-81ED-4DB2-BD59-A6C34878D82A}">
                    <a16:rowId xmlns:a16="http://schemas.microsoft.com/office/drawing/2014/main" val="3226744838"/>
                  </a:ext>
                </a:extLst>
              </a:tr>
              <a:tr h="354171">
                <a:tc>
                  <a:txBody>
                    <a:bodyPr/>
                    <a:lstStyle/>
                    <a:p>
                      <a:r>
                        <a:rPr lang="en-US" sz="1600" b="1"/>
                        <a:t>Based Relative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Mov AL, [BX+2]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[BX] = Content of the address in DS:(BX + 2)</a:t>
                      </a:r>
                    </a:p>
                  </a:txBody>
                  <a:tcPr marL="80493" marR="80493" marT="40247" marB="40247" anchor="ctr"/>
                </a:tc>
                <a:extLst>
                  <a:ext uri="{0D108BD9-81ED-4DB2-BD59-A6C34878D82A}">
                    <a16:rowId xmlns:a16="http://schemas.microsoft.com/office/drawing/2014/main" val="1988857798"/>
                  </a:ext>
                </a:extLst>
              </a:tr>
              <a:tr h="354171">
                <a:tc>
                  <a:txBody>
                    <a:bodyPr/>
                    <a:lstStyle/>
                    <a:p>
                      <a:r>
                        <a:rPr lang="en-US" sz="1600" b="1"/>
                        <a:t>Indexed Relative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Mov AL, [SI+2]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[SI] = Content of the address in SS:(SI + 2)</a:t>
                      </a:r>
                    </a:p>
                  </a:txBody>
                  <a:tcPr marL="80493" marR="80493" marT="40247" marB="40247" anchor="ctr"/>
                </a:tc>
                <a:extLst>
                  <a:ext uri="{0D108BD9-81ED-4DB2-BD59-A6C34878D82A}">
                    <a16:rowId xmlns:a16="http://schemas.microsoft.com/office/drawing/2014/main" val="3033436597"/>
                  </a:ext>
                </a:extLst>
              </a:tr>
              <a:tr h="354171">
                <a:tc>
                  <a:txBody>
                    <a:bodyPr/>
                    <a:lstStyle/>
                    <a:p>
                      <a:r>
                        <a:rPr lang="en-US" sz="1600" b="1"/>
                        <a:t>Based Indexed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Mov AL, [BX][SI]+2</a:t>
                      </a:r>
                    </a:p>
                  </a:txBody>
                  <a:tcPr marL="80493" marR="80493" marT="40247" marB="40247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[BX][SI]+2 = Content of the address in DS:(BX+SI+2)</a:t>
                      </a:r>
                    </a:p>
                  </a:txBody>
                  <a:tcPr marL="80493" marR="80493" marT="40247" marB="40247" anchor="ctr"/>
                </a:tc>
                <a:extLst>
                  <a:ext uri="{0D108BD9-81ED-4DB2-BD59-A6C34878D82A}">
                    <a16:rowId xmlns:a16="http://schemas.microsoft.com/office/drawing/2014/main" val="2467405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801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211A79-2507-AA33-A1CB-62C440309E86}"/>
              </a:ext>
            </a:extLst>
          </p:cNvPr>
          <p:cNvSpPr txBox="1">
            <a:spLocks/>
          </p:cNvSpPr>
          <p:nvPr/>
        </p:nvSpPr>
        <p:spPr>
          <a:xfrm>
            <a:off x="798511" y="6051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Addressing Modes</a:t>
            </a:r>
            <a:endParaRPr lang="en-US" dirty="0"/>
          </a:p>
        </p:txBody>
      </p:sp>
      <p:pic>
        <p:nvPicPr>
          <p:cNvPr id="5" name="Google Shape;1409;p101" descr="ta01_00700">
            <a:extLst>
              <a:ext uri="{FF2B5EF4-FFF2-40B4-BE49-F238E27FC236}">
                <a16:creationId xmlns:a16="http://schemas.microsoft.com/office/drawing/2014/main" id="{F4C9E7F2-367B-5D9D-DD41-C671E5B416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7027"/>
          <a:stretch/>
        </p:blipFill>
        <p:spPr>
          <a:xfrm>
            <a:off x="2070100" y="1447800"/>
            <a:ext cx="8001000" cy="443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9415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6C132-A2DF-5FE5-7AFA-27A526EF5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2052919"/>
            <a:ext cx="8946541" cy="743548"/>
          </a:xfrm>
        </p:spPr>
        <p:txBody>
          <a:bodyPr/>
          <a:lstStyle/>
          <a:p>
            <a:r>
              <a:rPr lang="en-US" dirty="0"/>
              <a:t>State another way to increase the processing power of the CPU other than increasing the frequency.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A5BDF1D-9FEB-BDB3-5E63-8B0BDE56C135}"/>
              </a:ext>
            </a:extLst>
          </p:cNvPr>
          <p:cNvSpPr txBox="1">
            <a:spLocks/>
          </p:cNvSpPr>
          <p:nvPr/>
        </p:nvSpPr>
        <p:spPr>
          <a:xfrm>
            <a:off x="1103312" y="3430394"/>
            <a:ext cx="8946541" cy="7435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1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Pipelining</a:t>
            </a:r>
          </a:p>
          <a:p>
            <a:pPr lvl="1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Increasing Number of Cores</a:t>
            </a:r>
          </a:p>
          <a:p>
            <a:pPr marL="457200" lvl="1" indent="0">
              <a:buNone/>
            </a:pP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24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6C132-A2DF-5FE5-7AFA-27A526EF5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2052919"/>
            <a:ext cx="8946541" cy="779058"/>
          </a:xfrm>
        </p:spPr>
        <p:txBody>
          <a:bodyPr>
            <a:normAutofit/>
          </a:bodyPr>
          <a:lstStyle/>
          <a:p>
            <a:r>
              <a:rPr lang="en-US" dirty="0"/>
              <a:t>Which of the following instructions cannot be coded in 8086 Assembly language? Give the reason why not, if any.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26B8D3-2518-4BC5-FF11-BE16C9E1E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341036"/>
              </p:ext>
            </p:extLst>
          </p:nvPr>
        </p:nvGraphicFramePr>
        <p:xfrm>
          <a:off x="1518844" y="3045421"/>
          <a:ext cx="3698843" cy="2814447"/>
        </p:xfrm>
        <a:graphic>
          <a:graphicData uri="http://schemas.openxmlformats.org/drawingml/2006/table">
            <a:tbl>
              <a:tblPr firstRow="1" bandRow="1"/>
              <a:tblGrid>
                <a:gridCol w="3698843">
                  <a:extLst>
                    <a:ext uri="{9D8B030D-6E8A-4147-A177-3AD203B41FA5}">
                      <a16:colId xmlns:a16="http://schemas.microsoft.com/office/drawing/2014/main" val="1932330977"/>
                    </a:ext>
                  </a:extLst>
                </a:gridCol>
              </a:tblGrid>
              <a:tr h="660939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a) MOV AX,27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3942983"/>
                  </a:ext>
                </a:extLst>
              </a:tr>
              <a:tr h="738425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b) MOV AL,97F 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5350664"/>
                  </a:ext>
                </a:extLst>
              </a:tr>
              <a:tr h="754144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c) MOV DS,9BF2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9064201"/>
                  </a:ext>
                </a:extLst>
              </a:tr>
              <a:tr h="6609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d) MOV CX,397 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1623097"/>
                  </a:ext>
                </a:extLst>
              </a:tr>
            </a:tbl>
          </a:graphicData>
        </a:graphic>
      </p:graphicFrame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98852-A7A3-03A2-6A28-56F22C7563B9}"/>
              </a:ext>
            </a:extLst>
          </p:cNvPr>
          <p:cNvSpPr txBox="1">
            <a:spLocks/>
          </p:cNvSpPr>
          <p:nvPr/>
        </p:nvSpPr>
        <p:spPr>
          <a:xfrm>
            <a:off x="4068453" y="2836339"/>
            <a:ext cx="5883415" cy="3183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1">
              <a:lnSpc>
                <a:spcPct val="200000"/>
              </a:lnSpc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Yes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No, Operands Size doesn’t match</a:t>
            </a:r>
          </a:p>
          <a:p>
            <a:pPr lvl="1">
              <a:spcBef>
                <a:spcPts val="2400"/>
              </a:spcBef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No, Invalid Operation (using immediate value with a segment register)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Yes</a:t>
            </a:r>
          </a:p>
          <a:p>
            <a:pPr marL="457200" lvl="1" indent="0">
              <a:lnSpc>
                <a:spcPct val="200000"/>
              </a:lnSpc>
              <a:buNone/>
            </a:pP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200000"/>
              </a:lnSpc>
            </a:pP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20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6C132-A2DF-5FE5-7AFA-27A526EF5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869981"/>
          </a:xfrm>
        </p:spPr>
        <p:txBody>
          <a:bodyPr/>
          <a:lstStyle/>
          <a:p>
            <a:r>
              <a:rPr lang="en-US" dirty="0"/>
              <a:t>Which of the following instructions cannot be coded in 8086 Assembly language? Give the reason why not, if any.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26B8D3-2518-4BC5-FF11-BE16C9E1E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080918"/>
              </p:ext>
            </p:extLst>
          </p:nvPr>
        </p:nvGraphicFramePr>
        <p:xfrm>
          <a:off x="1523999" y="3107565"/>
          <a:ext cx="3698843" cy="2814447"/>
        </p:xfrm>
        <a:graphic>
          <a:graphicData uri="http://schemas.openxmlformats.org/drawingml/2006/table">
            <a:tbl>
              <a:tblPr firstRow="1" bandRow="1"/>
              <a:tblGrid>
                <a:gridCol w="3698843">
                  <a:extLst>
                    <a:ext uri="{9D8B030D-6E8A-4147-A177-3AD203B41FA5}">
                      <a16:colId xmlns:a16="http://schemas.microsoft.com/office/drawing/2014/main" val="1932330977"/>
                    </a:ext>
                  </a:extLst>
                </a:gridCol>
              </a:tblGrid>
              <a:tr h="660939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e) MOV 81,9516 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3942983"/>
                  </a:ext>
                </a:extLst>
              </a:tr>
              <a:tr h="738425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f) MOV CS,3490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5350664"/>
                  </a:ext>
                </a:extLst>
              </a:tr>
              <a:tr h="754144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g) MOV DS,BX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9064201"/>
                  </a:ext>
                </a:extLst>
              </a:tr>
              <a:tr h="6609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h) MOV BX,CS 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1623097"/>
                  </a:ext>
                </a:extLst>
              </a:tr>
            </a:tbl>
          </a:graphicData>
        </a:graphic>
      </p:graphicFrame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8A89B09-5DDB-7A85-C0DB-14024A0614D5}"/>
              </a:ext>
            </a:extLst>
          </p:cNvPr>
          <p:cNvSpPr txBox="1">
            <a:spLocks/>
          </p:cNvSpPr>
          <p:nvPr/>
        </p:nvSpPr>
        <p:spPr>
          <a:xfrm>
            <a:off x="4166438" y="2922899"/>
            <a:ext cx="5883415" cy="3183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1">
              <a:lnSpc>
                <a:spcPct val="200000"/>
              </a:lnSpc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Yes, 9516 is moved to DS:0081 (</a:t>
            </a: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TESTED OK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No, No, Invalid Operation (using immediate value with a segment register)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Yes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243408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6C132-A2DF-5FE5-7AFA-27A526EF5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of the following instructions cannot be coded in 8086 Assembly language? Give the reason why not, if any.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26B8D3-2518-4BC5-FF11-BE16C9E1E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008381"/>
              </p:ext>
            </p:extLst>
          </p:nvPr>
        </p:nvGraphicFramePr>
        <p:xfrm>
          <a:off x="1636720" y="3178586"/>
          <a:ext cx="3698843" cy="2814447"/>
        </p:xfrm>
        <a:graphic>
          <a:graphicData uri="http://schemas.openxmlformats.org/drawingml/2006/table">
            <a:tbl>
              <a:tblPr firstRow="1" bandRow="1"/>
              <a:tblGrid>
                <a:gridCol w="3698843">
                  <a:extLst>
                    <a:ext uri="{9D8B030D-6E8A-4147-A177-3AD203B41FA5}">
                      <a16:colId xmlns:a16="http://schemas.microsoft.com/office/drawing/2014/main" val="1932330977"/>
                    </a:ext>
                  </a:extLst>
                </a:gridCol>
              </a:tblGrid>
              <a:tr h="660939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0" i="0" kern="1200" dirty="0" err="1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i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) MOV CH,AX 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3942983"/>
                  </a:ext>
                </a:extLst>
              </a:tr>
              <a:tr h="738425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j) MOV AX,23FB9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5350664"/>
                  </a:ext>
                </a:extLst>
              </a:tr>
              <a:tr h="754144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k) MOV CS,BH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9064201"/>
                  </a:ext>
                </a:extLst>
              </a:tr>
              <a:tr h="6609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j-cs"/>
                          <a:sym typeface="Arial"/>
                        </a:rPr>
                        <a:t>l) MOV AX,DL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1623097"/>
                  </a:ext>
                </a:extLst>
              </a:tr>
            </a:tbl>
          </a:graphicData>
        </a:graphic>
      </p:graphicFrame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ACE7342-D071-BD77-B0E7-B4932E322F15}"/>
              </a:ext>
            </a:extLst>
          </p:cNvPr>
          <p:cNvSpPr txBox="1">
            <a:spLocks/>
          </p:cNvSpPr>
          <p:nvPr/>
        </p:nvSpPr>
        <p:spPr>
          <a:xfrm>
            <a:off x="3890032" y="2985649"/>
            <a:ext cx="7605352" cy="300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1">
              <a:lnSpc>
                <a:spcPct val="200000"/>
              </a:lnSpc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No, operands do not match: 8 bit and 16-bit register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No, no 'h' suffix; or unmatched operands 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No, operands do not match: 8 bit and 16-bit register</a:t>
            </a:r>
          </a:p>
          <a:p>
            <a:pPr lvl="1">
              <a:lnSpc>
                <a:spcPct val="150000"/>
              </a:lnSpc>
              <a:spcBef>
                <a:spcPts val="2400"/>
              </a:spcBef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No, operands do not match: 16-bit and 8-bit register</a:t>
            </a:r>
          </a:p>
        </p:txBody>
      </p:sp>
    </p:spTree>
    <p:extLst>
      <p:ext uri="{BB962C8B-B14F-4D97-AF65-F5344CB8AC3E}">
        <p14:creationId xmlns:p14="http://schemas.microsoft.com/office/powerpoint/2010/main" val="83361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6C132-A2DF-5FE5-7AFA-27A526EF5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2052919"/>
            <a:ext cx="8946541" cy="1400530"/>
          </a:xfrm>
        </p:spPr>
        <p:txBody>
          <a:bodyPr/>
          <a:lstStyle/>
          <a:p>
            <a:r>
              <a:rPr lang="en-US" dirty="0"/>
              <a:t>If an instruction that needs to be fetched is in physical memory location 389F2 and CS = 2700, does the code segment range include it or not?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7AA4DA-5C40-E967-FA86-A4E1BADF3662}"/>
              </a:ext>
            </a:extLst>
          </p:cNvPr>
          <p:cNvSpPr txBox="1"/>
          <p:nvPr/>
        </p:nvSpPr>
        <p:spPr>
          <a:xfrm>
            <a:off x="2229775" y="3799643"/>
            <a:ext cx="55293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CS range is 	</a:t>
            </a:r>
          </a:p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			CS Lower  = 27000 + 0000 = 27000</a:t>
            </a:r>
          </a:p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	            </a:t>
            </a:r>
          </a:p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			CS Higher = 27000 + FFFF = 36FFF</a:t>
            </a:r>
          </a:p>
          <a:p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Then 389F2 is not in the range</a:t>
            </a:r>
          </a:p>
          <a:p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57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6C132-A2DF-5FE5-7AFA-27A526EF5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2" y="2052919"/>
            <a:ext cx="8946541" cy="1376082"/>
          </a:xfrm>
        </p:spPr>
        <p:txBody>
          <a:bodyPr/>
          <a:lstStyle/>
          <a:p>
            <a:r>
              <a:rPr lang="en-US" dirty="0"/>
              <a:t>If an instruction that needs to be fetched is in physical memory location 389F2 and CS = 2700, does the code segment range include it or not? If not, what value should be assigned to CS if the IP must be = 1282?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FC6A8-8817-170A-4D35-067DE21DCA18}"/>
              </a:ext>
            </a:extLst>
          </p:cNvPr>
          <p:cNvSpPr txBox="1"/>
          <p:nvPr/>
        </p:nvSpPr>
        <p:spPr>
          <a:xfrm>
            <a:off x="2512381" y="3774810"/>
            <a:ext cx="448322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CS x 10 + 1282 = 389F2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CS x 10 = 389F2 – 1282 = 37770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	Then CS = 3777</a:t>
            </a:r>
          </a:p>
          <a:p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13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D76C72-E79A-6ABB-90E9-A032DC25A27C}"/>
              </a:ext>
            </a:extLst>
          </p:cNvPr>
          <p:cNvSpPr txBox="1">
            <a:spLocks/>
          </p:cNvSpPr>
          <p:nvPr/>
        </p:nvSpPr>
        <p:spPr>
          <a:xfrm>
            <a:off x="1104293" y="185324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Assume that SP = FF2EH, AX = 3291H, BX = F43CH, and CX = 09. Find the content of the stack and stack pointer after the execution of each of the following instructions.</a:t>
            </a:r>
          </a:p>
          <a:p>
            <a:endParaRPr lang="en-US" dirty="0"/>
          </a:p>
          <a:p>
            <a:r>
              <a:rPr lang="en-US" dirty="0"/>
              <a:t>PUSH AX</a:t>
            </a:r>
          </a:p>
          <a:p>
            <a:r>
              <a:rPr lang="en-US" dirty="0"/>
              <a:t>PUSH BX</a:t>
            </a:r>
          </a:p>
          <a:p>
            <a:r>
              <a:rPr lang="en-US" dirty="0"/>
              <a:t>POP AX</a:t>
            </a:r>
          </a:p>
          <a:p>
            <a:r>
              <a:rPr lang="en-US" dirty="0"/>
              <a:t>PUSH CX</a:t>
            </a:r>
          </a:p>
          <a:p>
            <a:r>
              <a:rPr lang="en-US" dirty="0"/>
              <a:t>POP BX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84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1F5C-123A-D40B-A4FB-139B06D7C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8932"/>
          </a:xfrm>
        </p:spPr>
        <p:txBody>
          <a:bodyPr/>
          <a:lstStyle/>
          <a:p>
            <a:r>
              <a:rPr lang="en-US" dirty="0"/>
              <a:t>8086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65E1B-2F74-E078-118A-BBBD074350E3}"/>
              </a:ext>
            </a:extLst>
          </p:cNvPr>
          <p:cNvSpPr/>
          <p:nvPr/>
        </p:nvSpPr>
        <p:spPr>
          <a:xfrm>
            <a:off x="4065973" y="2032984"/>
            <a:ext cx="2974019" cy="42391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/>
          </a:p>
          <a:p>
            <a:pPr algn="ctr"/>
            <a:r>
              <a:rPr lang="en-US" dirty="0"/>
              <a:t>STACK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DA1CF7-E05E-9D94-9307-8B5E84364A9C}"/>
              </a:ext>
            </a:extLst>
          </p:cNvPr>
          <p:cNvSpPr/>
          <p:nvPr/>
        </p:nvSpPr>
        <p:spPr>
          <a:xfrm>
            <a:off x="4065973" y="3533311"/>
            <a:ext cx="2974019" cy="39283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00010101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60A29-F9C0-E626-F425-F95398B23081}"/>
              </a:ext>
            </a:extLst>
          </p:cNvPr>
          <p:cNvSpPr/>
          <p:nvPr/>
        </p:nvSpPr>
        <p:spPr>
          <a:xfrm>
            <a:off x="4065972" y="3926148"/>
            <a:ext cx="2974019" cy="39283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863E9E1-6B0A-9D7E-A0CB-1D8C5657DDEC}"/>
              </a:ext>
            </a:extLst>
          </p:cNvPr>
          <p:cNvSpPr/>
          <p:nvPr/>
        </p:nvSpPr>
        <p:spPr>
          <a:xfrm>
            <a:off x="7164280" y="3462290"/>
            <a:ext cx="923277" cy="856695"/>
          </a:xfrm>
          <a:prstGeom prst="rightBrac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E5EC45-C946-BF8C-1A07-F93FF16827B5}"/>
              </a:ext>
            </a:extLst>
          </p:cNvPr>
          <p:cNvSpPr txBox="1"/>
          <p:nvPr/>
        </p:nvSpPr>
        <p:spPr>
          <a:xfrm>
            <a:off x="8211845" y="3602982"/>
            <a:ext cx="1100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Single Word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3D80F1-1761-C3AC-F5D0-DAB0A1724212}"/>
              </a:ext>
            </a:extLst>
          </p:cNvPr>
          <p:cNvCxnSpPr/>
          <p:nvPr/>
        </p:nvCxnSpPr>
        <p:spPr>
          <a:xfrm>
            <a:off x="4065972" y="1660122"/>
            <a:ext cx="2974019" cy="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8C547C9-92C8-95F7-70C7-F7629B47C773}"/>
              </a:ext>
            </a:extLst>
          </p:cNvPr>
          <p:cNvSpPr txBox="1"/>
          <p:nvPr/>
        </p:nvSpPr>
        <p:spPr>
          <a:xfrm>
            <a:off x="5078026" y="1267285"/>
            <a:ext cx="949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8 - bits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B90349-0CC2-506B-3721-E5E93450A9E4}"/>
              </a:ext>
            </a:extLst>
          </p:cNvPr>
          <p:cNvSpPr/>
          <p:nvPr/>
        </p:nvSpPr>
        <p:spPr>
          <a:xfrm>
            <a:off x="1029810" y="1966403"/>
            <a:ext cx="2077374" cy="807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 is Byte - Addressable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16A84C-9A98-5AD7-1071-DC45DC31DC09}"/>
              </a:ext>
            </a:extLst>
          </p:cNvPr>
          <p:cNvSpPr txBox="1"/>
          <p:nvPr/>
        </p:nvSpPr>
        <p:spPr>
          <a:xfrm>
            <a:off x="7164280" y="1966403"/>
            <a:ext cx="683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FFFF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BF3358-AD53-60A8-BAEC-CE9BA5B50D9D}"/>
              </a:ext>
            </a:extLst>
          </p:cNvPr>
          <p:cNvSpPr txBox="1"/>
          <p:nvPr/>
        </p:nvSpPr>
        <p:spPr>
          <a:xfrm>
            <a:off x="7164280" y="5902783"/>
            <a:ext cx="75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0000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FB2E01-A92D-A87A-46F2-FC0D8DF763C8}"/>
              </a:ext>
            </a:extLst>
          </p:cNvPr>
          <p:cNvCxnSpPr/>
          <p:nvPr/>
        </p:nvCxnSpPr>
        <p:spPr>
          <a:xfrm>
            <a:off x="3542190" y="3191521"/>
            <a:ext cx="0" cy="1775534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CCFF25-A1A0-467E-5939-7CBE0ADE3084}"/>
              </a:ext>
            </a:extLst>
          </p:cNvPr>
          <p:cNvCxnSpPr>
            <a:cxnSpLocks/>
          </p:cNvCxnSpPr>
          <p:nvPr/>
        </p:nvCxnSpPr>
        <p:spPr>
          <a:xfrm flipV="1">
            <a:off x="9126241" y="3063905"/>
            <a:ext cx="0" cy="1653463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F9A5778-D1F3-C4E4-C60B-71E1138446ED}"/>
              </a:ext>
            </a:extLst>
          </p:cNvPr>
          <p:cNvSpPr txBox="1"/>
          <p:nvPr/>
        </p:nvSpPr>
        <p:spPr>
          <a:xfrm>
            <a:off x="610600" y="3429000"/>
            <a:ext cx="2725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a Register (Word)</a:t>
            </a:r>
          </a:p>
          <a:p>
            <a:endParaRPr lang="en-US" dirty="0"/>
          </a:p>
          <a:p>
            <a:pPr algn="ctr"/>
            <a:r>
              <a:rPr lang="en-US" dirty="0"/>
              <a:t>SP = SP - 2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386A8E-8C14-D046-4091-A23A23D5120A}"/>
              </a:ext>
            </a:extLst>
          </p:cNvPr>
          <p:cNvSpPr txBox="1"/>
          <p:nvPr/>
        </p:nvSpPr>
        <p:spPr>
          <a:xfrm>
            <a:off x="9188380" y="3395655"/>
            <a:ext cx="27254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 a Register (Word)</a:t>
            </a:r>
          </a:p>
          <a:p>
            <a:endParaRPr lang="en-US" dirty="0"/>
          </a:p>
          <a:p>
            <a:pPr algn="ctr"/>
            <a:r>
              <a:rPr lang="en-US" dirty="0"/>
              <a:t>SP = SP + 2</a:t>
            </a:r>
          </a:p>
        </p:txBody>
      </p:sp>
    </p:spTree>
    <p:extLst>
      <p:ext uri="{BB962C8B-B14F-4D97-AF65-F5344CB8AC3E}">
        <p14:creationId xmlns:p14="http://schemas.microsoft.com/office/powerpoint/2010/main" val="2542928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F1BD786-757C-06D2-BB5A-B7363567A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en-US" dirty="0"/>
              <a:t>Problem 4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F30BD2C-2A29-66A8-1600-3DD8CE014D72}"/>
              </a:ext>
            </a:extLst>
          </p:cNvPr>
          <p:cNvSpPr txBox="1">
            <a:spLocks/>
          </p:cNvSpPr>
          <p:nvPr/>
        </p:nvSpPr>
        <p:spPr>
          <a:xfrm>
            <a:off x="1104293" y="1853248"/>
            <a:ext cx="4991707" cy="4445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Assume that SP = FF2EH, AX = 3291H, BX = F43CH, and CX = 09. Find the content of the stack and stack pointer after the execution of each of the following instructions.</a:t>
            </a:r>
          </a:p>
          <a:p>
            <a:endParaRPr lang="en-US" dirty="0"/>
          </a:p>
          <a:p>
            <a:r>
              <a:rPr lang="en-US" dirty="0"/>
              <a:t>PUSH AX</a:t>
            </a:r>
          </a:p>
          <a:p>
            <a:r>
              <a:rPr lang="en-US" dirty="0"/>
              <a:t>PUSH BX</a:t>
            </a:r>
          </a:p>
          <a:p>
            <a:r>
              <a:rPr lang="en-US" dirty="0"/>
              <a:t>POP AX</a:t>
            </a:r>
          </a:p>
          <a:p>
            <a:r>
              <a:rPr lang="en-US" dirty="0"/>
              <a:t>PUSH CX</a:t>
            </a:r>
          </a:p>
          <a:p>
            <a:r>
              <a:rPr lang="en-US" dirty="0"/>
              <a:t>POP BX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859F812-8DFA-1A58-CBCB-94629B119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484239"/>
              </p:ext>
            </p:extLst>
          </p:nvPr>
        </p:nvGraphicFramePr>
        <p:xfrm>
          <a:off x="6554182" y="2003989"/>
          <a:ext cx="4714964" cy="44079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6341">
                  <a:extLst>
                    <a:ext uri="{9D8B030D-6E8A-4147-A177-3AD203B41FA5}">
                      <a16:colId xmlns:a16="http://schemas.microsoft.com/office/drawing/2014/main" val="1437428999"/>
                    </a:ext>
                  </a:extLst>
                </a:gridCol>
                <a:gridCol w="1676876">
                  <a:extLst>
                    <a:ext uri="{9D8B030D-6E8A-4147-A177-3AD203B41FA5}">
                      <a16:colId xmlns:a16="http://schemas.microsoft.com/office/drawing/2014/main" val="613911608"/>
                    </a:ext>
                  </a:extLst>
                </a:gridCol>
                <a:gridCol w="1901747">
                  <a:extLst>
                    <a:ext uri="{9D8B030D-6E8A-4147-A177-3AD203B41FA5}">
                      <a16:colId xmlns:a16="http://schemas.microsoft.com/office/drawing/2014/main" val="2416874344"/>
                    </a:ext>
                  </a:extLst>
                </a:gridCol>
              </a:tblGrid>
              <a:tr h="4638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 </a:t>
                      </a:r>
                      <a:endParaRPr lang="en-US" sz="1050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Stack [Empty]</a:t>
                      </a:r>
                      <a:endParaRPr lang="en-US" sz="1050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SP [FF2EH]</a:t>
                      </a:r>
                      <a:endParaRPr lang="en-US" sz="1050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25458711"/>
                  </a:ext>
                </a:extLst>
              </a:tr>
              <a:tr h="5900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PUSH AX</a:t>
                      </a:r>
                      <a:endParaRPr lang="en-US" sz="1050" kern="100" dirty="0"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FF2D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32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FF2C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91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FF2C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0444348"/>
                  </a:ext>
                </a:extLst>
              </a:tr>
              <a:tr h="10973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PUSH BX</a:t>
                      </a:r>
                      <a:endParaRPr lang="en-US" sz="1050" kern="100" dirty="0"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FF2D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32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FF2C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91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FF2B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F4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FF2A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3C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FF2A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1191853"/>
                  </a:ext>
                </a:extLst>
              </a:tr>
              <a:tr h="5900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POP AX</a:t>
                      </a:r>
                      <a:endParaRPr lang="en-US" sz="1050" kern="100" dirty="0"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FF2D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32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FF2C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91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FF2C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5286691"/>
                  </a:ext>
                </a:extLst>
              </a:tr>
              <a:tr h="10973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PUSH CX</a:t>
                      </a:r>
                      <a:endParaRPr lang="en-US" sz="1050" kern="100" dirty="0"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FF2D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32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FF2C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91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FF2B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00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FF2A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09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FF2A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3228064"/>
                  </a:ext>
                </a:extLst>
              </a:tr>
              <a:tr h="5694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POP BX</a:t>
                      </a:r>
                      <a:endParaRPr lang="en-US" sz="1050" kern="100" dirty="0"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FF2D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32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FF2C 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 91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FF2C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3260766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BB83C339-FA03-AE61-6E5F-648D747C76C8}"/>
              </a:ext>
            </a:extLst>
          </p:cNvPr>
          <p:cNvSpPr/>
          <p:nvPr/>
        </p:nvSpPr>
        <p:spPr>
          <a:xfrm>
            <a:off x="7625919" y="1009868"/>
            <a:ext cx="1890943" cy="84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STACK GROWS DOWNWARD</a:t>
            </a:r>
          </a:p>
        </p:txBody>
      </p:sp>
    </p:spTree>
    <p:extLst>
      <p:ext uri="{BB962C8B-B14F-4D97-AF65-F5344CB8AC3E}">
        <p14:creationId xmlns:p14="http://schemas.microsoft.com/office/powerpoint/2010/main" val="2605102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6C132-A2DF-5FE5-7AFA-27A526EF5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349CBA-17DA-F1E4-6DC1-F8C938B06C0E}"/>
              </a:ext>
            </a:extLst>
          </p:cNvPr>
          <p:cNvSpPr txBox="1">
            <a:spLocks/>
          </p:cNvSpPr>
          <p:nvPr/>
        </p:nvSpPr>
        <p:spPr>
          <a:xfrm>
            <a:off x="1103312" y="1791104"/>
            <a:ext cx="8817865" cy="2849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>
                <a:latin typeface="+mj-lt"/>
                <a:ea typeface="+mj-ea"/>
                <a:cs typeface="+mj-cs"/>
              </a:defRPr>
            </a:lvl1pPr>
            <a:lvl2pPr marL="742950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What is the function of the following code?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PUSH AX</a:t>
            </a:r>
          </a:p>
          <a:p>
            <a:pPr lvl="1"/>
            <a:r>
              <a:rPr lang="en-US" dirty="0"/>
              <a:t>PUSH BX</a:t>
            </a:r>
          </a:p>
          <a:p>
            <a:pPr lvl="1"/>
            <a:r>
              <a:rPr lang="en-US" dirty="0"/>
              <a:t>POP AX</a:t>
            </a:r>
          </a:p>
          <a:p>
            <a:pPr lvl="1"/>
            <a:r>
              <a:rPr lang="en-US" dirty="0"/>
              <a:t>POP BX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EBEB7-FF5E-636C-8311-405ECEBE644A}"/>
              </a:ext>
            </a:extLst>
          </p:cNvPr>
          <p:cNvSpPr txBox="1"/>
          <p:nvPr/>
        </p:nvSpPr>
        <p:spPr>
          <a:xfrm>
            <a:off x="5159405" y="3827492"/>
            <a:ext cx="4448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Swap AX, BX  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XCHG AX, BX</a:t>
            </a:r>
          </a:p>
          <a:p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89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6C132-A2DF-5FE5-7AFA-27A526EF5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349CBA-17DA-F1E4-6DC1-F8C938B06C0E}"/>
              </a:ext>
            </a:extLst>
          </p:cNvPr>
          <p:cNvSpPr txBox="1">
            <a:spLocks/>
          </p:cNvSpPr>
          <p:nvPr/>
        </p:nvSpPr>
        <p:spPr>
          <a:xfrm>
            <a:off x="1243849" y="1609179"/>
            <a:ext cx="8806004" cy="1087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What is the main disadvantage of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using</a:t>
            </a:r>
            <a:r>
              <a:rPr lang="en-US" dirty="0"/>
              <a:t> the stack as temporary storage compared to having a large number of registers inside the CPU? 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1BC0A8-E50F-25BD-3AA7-4A8272EF8586}"/>
              </a:ext>
            </a:extLst>
          </p:cNvPr>
          <p:cNvSpPr txBox="1"/>
          <p:nvPr/>
        </p:nvSpPr>
        <p:spPr>
          <a:xfrm>
            <a:off x="1643774" y="2938967"/>
            <a:ext cx="7865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The main disadvantage is that it’s in memory, and memory is slower than CPU registers in a variety of ways. It usually has longer latency and lower bandwidth. Memory accesses are harder to speed up.</a:t>
            </a:r>
          </a:p>
          <a:p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13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7 - a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349CBA-17DA-F1E4-6DC1-F8C938B06C0E}"/>
              </a:ext>
            </a:extLst>
          </p:cNvPr>
          <p:cNvSpPr txBox="1">
            <a:spLocks/>
          </p:cNvSpPr>
          <p:nvPr/>
        </p:nvSpPr>
        <p:spPr>
          <a:xfrm>
            <a:off x="1243849" y="1584524"/>
            <a:ext cx="8665465" cy="1157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Find the status of the CF, PF, AF, ZF, and SF for the following operations.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DC9BC2E-5535-2406-7A68-02C73EF03285}"/>
              </a:ext>
            </a:extLst>
          </p:cNvPr>
          <p:cNvSpPr txBox="1">
            <a:spLocks/>
          </p:cNvSpPr>
          <p:nvPr/>
        </p:nvSpPr>
        <p:spPr>
          <a:xfrm>
            <a:off x="1598618" y="2406175"/>
            <a:ext cx="2750802" cy="903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buFont typeface="+mj-lt"/>
              <a:buAutoNum type="alphaLcParenR"/>
            </a:pPr>
            <a:r>
              <a:rPr lang="pt-BR" dirty="0"/>
              <a:t>MOV BL,9FH </a:t>
            </a:r>
          </a:p>
          <a:p>
            <a:pPr marL="457200" indent="-457200">
              <a:buFont typeface="+mj-lt"/>
              <a:buAutoNum type="alphaLcParenR"/>
            </a:pPr>
            <a:r>
              <a:rPr lang="pt-BR" dirty="0"/>
              <a:t>ADD BL,61H 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DB03FE2-4CB0-787F-C4DE-07324245B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603946"/>
              </p:ext>
            </p:extLst>
          </p:nvPr>
        </p:nvGraphicFramePr>
        <p:xfrm>
          <a:off x="2894120" y="3862292"/>
          <a:ext cx="7156345" cy="1277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2335">
                  <a:extLst>
                    <a:ext uri="{9D8B030D-6E8A-4147-A177-3AD203B41FA5}">
                      <a16:colId xmlns:a16="http://schemas.microsoft.com/office/drawing/2014/main" val="2913808597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3344460595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416008834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1607426155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97612037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3231101834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2635788136"/>
                    </a:ext>
                  </a:extLst>
                </a:gridCol>
              </a:tblGrid>
              <a:tr h="4259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 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CF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PF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AF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ZF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SF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defTabSz="4572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03137"/>
                  </a:ext>
                </a:extLst>
              </a:tr>
              <a:tr h="4259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MOV BL, 9FH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15980185"/>
                  </a:ext>
                </a:extLst>
              </a:tr>
              <a:tr h="4259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ADD BL, 61H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1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1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1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1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0224341"/>
                  </a:ext>
                </a:extLst>
              </a:tr>
            </a:tbl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F89BF-165A-952A-185A-3196BF780284}"/>
              </a:ext>
            </a:extLst>
          </p:cNvPr>
          <p:cNvSpPr txBox="1">
            <a:spLocks/>
          </p:cNvSpPr>
          <p:nvPr/>
        </p:nvSpPr>
        <p:spPr>
          <a:xfrm>
            <a:off x="2922942" y="5318409"/>
            <a:ext cx="6986372" cy="722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342900" indent="0" algn="ctr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Note: OF flag works in case of </a:t>
            </a:r>
            <a:r>
              <a:rPr 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Signed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operations only </a:t>
            </a:r>
          </a:p>
          <a:p>
            <a:pPr marL="342900" indent="0" algn="ctr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(when carry is from 7</a:t>
            </a:r>
            <a:r>
              <a:rPr lang="en-US" sz="2400" baseline="30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bit to 8</a:t>
            </a:r>
            <a:r>
              <a:rPr lang="en-US" sz="2400" baseline="30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bit or 15</a:t>
            </a:r>
            <a:r>
              <a:rPr lang="en-US" sz="2400" baseline="30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to 16</a:t>
            </a:r>
            <a:r>
              <a:rPr lang="en-US" sz="2400" baseline="300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A24C58-2514-90C4-12A1-65649F04D06E}"/>
              </a:ext>
            </a:extLst>
          </p:cNvPr>
          <p:cNvSpPr/>
          <p:nvPr/>
        </p:nvSpPr>
        <p:spPr>
          <a:xfrm>
            <a:off x="763480" y="5450049"/>
            <a:ext cx="2006353" cy="686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Steps Required</a:t>
            </a:r>
          </a:p>
        </p:txBody>
      </p:sp>
    </p:spTree>
    <p:extLst>
      <p:ext uri="{BB962C8B-B14F-4D97-AF65-F5344CB8AC3E}">
        <p14:creationId xmlns:p14="http://schemas.microsoft.com/office/powerpoint/2010/main" val="171234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7 - b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DC9BC2E-5535-2406-7A68-02C73EF03285}"/>
              </a:ext>
            </a:extLst>
          </p:cNvPr>
          <p:cNvSpPr txBox="1">
            <a:spLocks/>
          </p:cNvSpPr>
          <p:nvPr/>
        </p:nvSpPr>
        <p:spPr>
          <a:xfrm>
            <a:off x="1603040" y="2461767"/>
            <a:ext cx="2750802" cy="1046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457200" indent="-4572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+mj-lt"/>
              <a:buAutoNum type="alphaLcParenR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pt-BR" dirty="0"/>
              <a:t>MOV AL,23H </a:t>
            </a:r>
          </a:p>
          <a:p>
            <a:r>
              <a:rPr lang="pt-BR" dirty="0"/>
              <a:t>ADD AL,97H 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8F37BDB-3C8B-0BE8-BFEF-3B263FC60834}"/>
              </a:ext>
            </a:extLst>
          </p:cNvPr>
          <p:cNvSpPr txBox="1">
            <a:spLocks/>
          </p:cNvSpPr>
          <p:nvPr/>
        </p:nvSpPr>
        <p:spPr>
          <a:xfrm>
            <a:off x="1243849" y="1584524"/>
            <a:ext cx="8665465" cy="1157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Find the status of the CF, PF, AF, ZF, and SF for the following operations.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01F40EE-5520-B501-1431-C73AF28A4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652453"/>
              </p:ext>
            </p:extLst>
          </p:nvPr>
        </p:nvGraphicFramePr>
        <p:xfrm>
          <a:off x="2894120" y="3874315"/>
          <a:ext cx="7156345" cy="12658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2335">
                  <a:extLst>
                    <a:ext uri="{9D8B030D-6E8A-4147-A177-3AD203B41FA5}">
                      <a16:colId xmlns:a16="http://schemas.microsoft.com/office/drawing/2014/main" val="3798274312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4019957304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2588680493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2420724528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2815626933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3193085862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3102646205"/>
                    </a:ext>
                  </a:extLst>
                </a:gridCol>
              </a:tblGrid>
              <a:tr h="421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 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CF 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PF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AF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ZF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SF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2352645"/>
                  </a:ext>
                </a:extLst>
              </a:tr>
              <a:tr h="421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MOV AL, 23H 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1368238"/>
                  </a:ext>
                </a:extLst>
              </a:tr>
              <a:tr h="421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ADD AL, 97H 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1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65328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464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11BE1C1-48BB-D495-9536-8F73E545E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841501"/>
              </p:ext>
            </p:extLst>
          </p:nvPr>
        </p:nvGraphicFramePr>
        <p:xfrm>
          <a:off x="2894118" y="3862292"/>
          <a:ext cx="7156345" cy="1277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2335">
                  <a:extLst>
                    <a:ext uri="{9D8B030D-6E8A-4147-A177-3AD203B41FA5}">
                      <a16:colId xmlns:a16="http://schemas.microsoft.com/office/drawing/2014/main" val="2267054847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3607624939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1246772238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3486159922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2317622452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1167759929"/>
                    </a:ext>
                  </a:extLst>
                </a:gridCol>
                <a:gridCol w="1022335">
                  <a:extLst>
                    <a:ext uri="{9D8B030D-6E8A-4147-A177-3AD203B41FA5}">
                      <a16:colId xmlns:a16="http://schemas.microsoft.com/office/drawing/2014/main" val="1323141258"/>
                    </a:ext>
                  </a:extLst>
                </a:gridCol>
              </a:tblGrid>
              <a:tr h="4259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 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CF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PF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AF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ZF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SF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7764634"/>
                  </a:ext>
                </a:extLst>
              </a:tr>
              <a:tr h="4259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MOV DX, 10FFH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0414486"/>
                  </a:ext>
                </a:extLst>
              </a:tr>
              <a:tr h="4259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ADD DX, 1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1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1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en-US" sz="1000" b="1" kern="10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en-US" sz="1000" b="1" kern="100" dirty="0"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26780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7 - c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DC9BC2E-5535-2406-7A68-02C73EF03285}"/>
              </a:ext>
            </a:extLst>
          </p:cNvPr>
          <p:cNvSpPr txBox="1">
            <a:spLocks/>
          </p:cNvSpPr>
          <p:nvPr/>
        </p:nvSpPr>
        <p:spPr>
          <a:xfrm>
            <a:off x="1629673" y="2518097"/>
            <a:ext cx="3410559" cy="933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457200" indent="-4572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+mj-lt"/>
              <a:buAutoNum type="alphaLcParenR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pt-BR" dirty="0"/>
              <a:t>MOV DX,10FFH </a:t>
            </a:r>
          </a:p>
          <a:p>
            <a:r>
              <a:rPr lang="pt-BR" dirty="0"/>
              <a:t>ADD DX,1 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442FA9B-0FD7-34F3-77D8-86E1A2A31855}"/>
              </a:ext>
            </a:extLst>
          </p:cNvPr>
          <p:cNvSpPr txBox="1">
            <a:spLocks/>
          </p:cNvSpPr>
          <p:nvPr/>
        </p:nvSpPr>
        <p:spPr>
          <a:xfrm>
            <a:off x="1243849" y="1584524"/>
            <a:ext cx="8665465" cy="1157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Find the status of the CF, PF, AF, ZF, and SF for the following operations.</a:t>
            </a:r>
          </a:p>
        </p:txBody>
      </p:sp>
    </p:spTree>
    <p:extLst>
      <p:ext uri="{BB962C8B-B14F-4D97-AF65-F5344CB8AC3E}">
        <p14:creationId xmlns:p14="http://schemas.microsoft.com/office/powerpoint/2010/main" val="305970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1076"/>
          </a:xfrm>
        </p:spPr>
        <p:txBody>
          <a:bodyPr/>
          <a:lstStyle/>
          <a:p>
            <a:r>
              <a:rPr lang="en-US" dirty="0"/>
              <a:t>Problem 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6C132-A2DF-5FE5-7AFA-27A526EF5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349CBA-17DA-F1E4-6DC1-F8C938B06C0E}"/>
              </a:ext>
            </a:extLst>
          </p:cNvPr>
          <p:cNvSpPr txBox="1">
            <a:spLocks/>
          </p:cNvSpPr>
          <p:nvPr/>
        </p:nvSpPr>
        <p:spPr>
          <a:xfrm>
            <a:off x="1263279" y="1596790"/>
            <a:ext cx="9176861" cy="4120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/>
              <a:t>Assume that the registers have the following values (all in hex)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Calculate the physical address of the memory where the operand is stored and the contents of the memory locations in each of the following addressing examples.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AC1832-8491-FA01-FBC9-684566187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455905"/>
              </p:ext>
            </p:extLst>
          </p:nvPr>
        </p:nvGraphicFramePr>
        <p:xfrm>
          <a:off x="3140046" y="2329346"/>
          <a:ext cx="6096000" cy="1584960"/>
        </p:xfrm>
        <a:graphic>
          <a:graphicData uri="http://schemas.openxmlformats.org/drawingml/2006/table">
            <a:tbl>
              <a:tblPr firstRow="1" bandRow="1"/>
              <a:tblGrid>
                <a:gridCol w="2032000">
                  <a:extLst>
                    <a:ext uri="{9D8B030D-6E8A-4147-A177-3AD203B41FA5}">
                      <a16:colId xmlns:a16="http://schemas.microsoft.com/office/drawing/2014/main" val="42172755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789315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78534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CS = 1000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AX = 25FF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SI = 4000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85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DS = 2000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BX = 6080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DI = 5000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869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SS = 3000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CX = 8791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272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ES = 9000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DX = 1299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176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504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BE22-D16F-27D7-C222-169ADE8AF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1076"/>
          </a:xfrm>
        </p:spPr>
        <p:txBody>
          <a:bodyPr/>
          <a:lstStyle/>
          <a:p>
            <a:r>
              <a:rPr lang="en-US" dirty="0"/>
              <a:t>Problem 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6C132-A2DF-5FE5-7AFA-27A526EF5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349CBA-17DA-F1E4-6DC1-F8C938B06C0E}"/>
              </a:ext>
            </a:extLst>
          </p:cNvPr>
          <p:cNvSpPr txBox="1">
            <a:spLocks/>
          </p:cNvSpPr>
          <p:nvPr/>
        </p:nvSpPr>
        <p:spPr>
          <a:xfrm>
            <a:off x="1263279" y="1596790"/>
            <a:ext cx="9176861" cy="4120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/>
              <a:t>Note: The Question covers two points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Which segment to use as base address?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value to use? How many bytes?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796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DC9BC2E-5535-2406-7A68-02C73EF03285}"/>
              </a:ext>
            </a:extLst>
          </p:cNvPr>
          <p:cNvSpPr txBox="1">
            <a:spLocks/>
          </p:cNvSpPr>
          <p:nvPr/>
        </p:nvSpPr>
        <p:spPr>
          <a:xfrm>
            <a:off x="1049897" y="1677697"/>
            <a:ext cx="3410559" cy="532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457200" indent="-4572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+mj-lt"/>
              <a:buAutoNum type="alphaLcParenR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MOV [SI], AL 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BAC8782-13D0-06C5-1634-DDE2871384D9}"/>
              </a:ext>
            </a:extLst>
          </p:cNvPr>
          <p:cNvSpPr txBox="1">
            <a:spLocks/>
          </p:cNvSpPr>
          <p:nvPr/>
        </p:nvSpPr>
        <p:spPr>
          <a:xfrm>
            <a:off x="1855286" y="2494352"/>
            <a:ext cx="6986372" cy="1924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•"/>
              <a:defRPr sz="2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8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34290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Reference by DS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DS:SI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Physical memory location = 20000 + 4000 = 24000 </a:t>
            </a:r>
          </a:p>
          <a:p>
            <a:pPr marL="34290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24000 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FF</a:t>
            </a:r>
            <a:endParaRPr lang="en-US" sz="2400" dirty="0">
              <a:solidFill>
                <a:schemeClr val="accent3">
                  <a:lumMod val="40000"/>
                  <a:lumOff val="60000"/>
                </a:schemeClr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7DF4B7E-DFAF-3922-2F67-725D5DD3CA71}"/>
              </a:ext>
            </a:extLst>
          </p:cNvPr>
          <p:cNvSpPr txBox="1">
            <a:spLocks/>
          </p:cNvSpPr>
          <p:nvPr/>
        </p:nvSpPr>
        <p:spPr>
          <a:xfrm>
            <a:off x="646111" y="452718"/>
            <a:ext cx="9404723" cy="9410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Problem 8</a:t>
            </a:r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224D48D-B0CE-F4A1-7B78-83FC47749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470280"/>
              </p:ext>
            </p:extLst>
          </p:nvPr>
        </p:nvGraphicFramePr>
        <p:xfrm>
          <a:off x="5798187" y="770175"/>
          <a:ext cx="4079700" cy="1383428"/>
        </p:xfrm>
        <a:graphic>
          <a:graphicData uri="http://schemas.openxmlformats.org/drawingml/2006/table">
            <a:tbl>
              <a:tblPr firstRow="1" bandRow="1"/>
              <a:tblGrid>
                <a:gridCol w="1359900">
                  <a:extLst>
                    <a:ext uri="{9D8B030D-6E8A-4147-A177-3AD203B41FA5}">
                      <a16:colId xmlns:a16="http://schemas.microsoft.com/office/drawing/2014/main" val="4217275593"/>
                    </a:ext>
                  </a:extLst>
                </a:gridCol>
                <a:gridCol w="1359900">
                  <a:extLst>
                    <a:ext uri="{9D8B030D-6E8A-4147-A177-3AD203B41FA5}">
                      <a16:colId xmlns:a16="http://schemas.microsoft.com/office/drawing/2014/main" val="3478931520"/>
                    </a:ext>
                  </a:extLst>
                </a:gridCol>
                <a:gridCol w="1359900">
                  <a:extLst>
                    <a:ext uri="{9D8B030D-6E8A-4147-A177-3AD203B41FA5}">
                      <a16:colId xmlns:a16="http://schemas.microsoft.com/office/drawing/2014/main" val="3178534435"/>
                    </a:ext>
                  </a:extLst>
                </a:gridCol>
              </a:tblGrid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CS = 1000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AX = 25FF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SI = 4000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85449"/>
                  </a:ext>
                </a:extLst>
              </a:tr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DS = 2000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BX = 6080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DI = 5000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869270"/>
                  </a:ext>
                </a:extLst>
              </a:tr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SS = 3000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CX = 8791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BP = 7000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272425"/>
                  </a:ext>
                </a:extLst>
              </a:tr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ES = 9000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DX = 1299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176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97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BAC8782-13D0-06C5-1634-DDE2871384D9}"/>
              </a:ext>
            </a:extLst>
          </p:cNvPr>
          <p:cNvSpPr txBox="1">
            <a:spLocks/>
          </p:cNvSpPr>
          <p:nvPr/>
        </p:nvSpPr>
        <p:spPr>
          <a:xfrm>
            <a:off x="1840814" y="2291316"/>
            <a:ext cx="8510372" cy="126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34290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  <a:defRPr sz="2400" b="0" i="0" u="none" strike="noStrike" cap="none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eorgia"/>
              </a:defRPr>
            </a:lvl1pPr>
            <a:lvl2pPr marL="914400" marR="0" lvl="1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</a:defRPr>
            </a:lvl2pPr>
            <a:lvl3pPr marL="1371600" marR="0" lvl="2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</a:defRPr>
            </a:lvl3pPr>
            <a:lvl4pPr marL="1828800" marR="0" lvl="3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</a:defRPr>
            </a:lvl4pPr>
            <a:lvl5pPr marL="2286000" marR="0" lvl="4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5pPr>
            <a:lvl6pPr marL="2743200" marR="0" lvl="5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6pPr>
            <a:lvl7pPr marL="3200400" marR="0" lvl="6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7pPr>
            <a:lvl8pPr marL="3657600" marR="0" lvl="7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8pPr>
            <a:lvl9pPr marL="4114800" marR="0" lvl="8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9pPr>
          </a:lstStyle>
          <a:p>
            <a:r>
              <a:rPr lang="en-US" dirty="0"/>
              <a:t>Reference by DS</a:t>
            </a:r>
          </a:p>
          <a:p>
            <a:r>
              <a:rPr lang="en-US" dirty="0"/>
              <a:t>Physical memory location = 20000 + 4000 + 6080 + 8 = 2A088</a:t>
            </a:r>
          </a:p>
          <a:p>
            <a:r>
              <a:rPr lang="en-US" dirty="0"/>
              <a:t>2A088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25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B48B984-5D4D-2688-617F-84F484E80BAC}"/>
              </a:ext>
            </a:extLst>
          </p:cNvPr>
          <p:cNvSpPr txBox="1">
            <a:spLocks/>
          </p:cNvSpPr>
          <p:nvPr/>
        </p:nvSpPr>
        <p:spPr>
          <a:xfrm>
            <a:off x="1049897" y="3881325"/>
            <a:ext cx="3410559" cy="520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457200" indent="-4572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+mj-lt"/>
              <a:buAutoNum type="alphaLcParenR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MOV [BX], AX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1DDE5F-DD22-A397-8881-4DDE920C404C}"/>
              </a:ext>
            </a:extLst>
          </p:cNvPr>
          <p:cNvSpPr txBox="1">
            <a:spLocks/>
          </p:cNvSpPr>
          <p:nvPr/>
        </p:nvSpPr>
        <p:spPr>
          <a:xfrm>
            <a:off x="1840814" y="4423240"/>
            <a:ext cx="8510372" cy="165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34290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  <a:defRPr sz="2400" b="0" i="0" u="none" strike="noStrike" cap="none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eorgia"/>
              </a:defRPr>
            </a:lvl1pPr>
            <a:lvl2pPr marL="914400" marR="0" lvl="1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</a:defRPr>
            </a:lvl2pPr>
            <a:lvl3pPr marL="1371600" marR="0" lvl="2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</a:defRPr>
            </a:lvl3pPr>
            <a:lvl4pPr marL="1828800" marR="0" lvl="3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</a:defRPr>
            </a:lvl4pPr>
            <a:lvl5pPr marL="2286000" marR="0" lvl="4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5pPr>
            <a:lvl6pPr marL="2743200" marR="0" lvl="5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6pPr>
            <a:lvl7pPr marL="3200400" marR="0" lvl="6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7pPr>
            <a:lvl8pPr marL="3657600" marR="0" lvl="7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8pPr>
            <a:lvl9pPr marL="4114800" marR="0" lvl="8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9pPr>
          </a:lstStyle>
          <a:p>
            <a:r>
              <a:rPr lang="en-US" dirty="0"/>
              <a:t>Reference by DS</a:t>
            </a:r>
          </a:p>
          <a:p>
            <a:r>
              <a:rPr lang="en-US" dirty="0"/>
              <a:t>Physical memory location = 20000 + 6080 = 26080</a:t>
            </a:r>
          </a:p>
          <a:p>
            <a:r>
              <a:rPr lang="en-US" dirty="0"/>
              <a:t>26080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FF</a:t>
            </a:r>
          </a:p>
          <a:p>
            <a:r>
              <a:rPr lang="en-US" dirty="0"/>
              <a:t>26081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25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6F4DB64-4267-BFC7-A54D-8FCED11C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1076"/>
          </a:xfrm>
        </p:spPr>
        <p:txBody>
          <a:bodyPr/>
          <a:lstStyle/>
          <a:p>
            <a:r>
              <a:rPr lang="en-US" dirty="0"/>
              <a:t>Problem 8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F789672-CEA1-EDEE-C407-C5B1CBD66E1C}"/>
              </a:ext>
            </a:extLst>
          </p:cNvPr>
          <p:cNvSpPr txBox="1">
            <a:spLocks/>
          </p:cNvSpPr>
          <p:nvPr/>
        </p:nvSpPr>
        <p:spPr>
          <a:xfrm>
            <a:off x="1049897" y="1677697"/>
            <a:ext cx="3410559" cy="532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457200" indent="-4572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+mj-lt"/>
              <a:buAutoNum type="alphaLcParenR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MOV [SI+BX+8], AH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7F16503-4273-8E89-8DF1-2820BBD77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358736"/>
              </p:ext>
            </p:extLst>
          </p:nvPr>
        </p:nvGraphicFramePr>
        <p:xfrm>
          <a:off x="5798187" y="770175"/>
          <a:ext cx="4079700" cy="1383428"/>
        </p:xfrm>
        <a:graphic>
          <a:graphicData uri="http://schemas.openxmlformats.org/drawingml/2006/table">
            <a:tbl>
              <a:tblPr firstRow="1" bandRow="1"/>
              <a:tblGrid>
                <a:gridCol w="1359900">
                  <a:extLst>
                    <a:ext uri="{9D8B030D-6E8A-4147-A177-3AD203B41FA5}">
                      <a16:colId xmlns:a16="http://schemas.microsoft.com/office/drawing/2014/main" val="4217275593"/>
                    </a:ext>
                  </a:extLst>
                </a:gridCol>
                <a:gridCol w="1359900">
                  <a:extLst>
                    <a:ext uri="{9D8B030D-6E8A-4147-A177-3AD203B41FA5}">
                      <a16:colId xmlns:a16="http://schemas.microsoft.com/office/drawing/2014/main" val="3478931520"/>
                    </a:ext>
                  </a:extLst>
                </a:gridCol>
                <a:gridCol w="1359900">
                  <a:extLst>
                    <a:ext uri="{9D8B030D-6E8A-4147-A177-3AD203B41FA5}">
                      <a16:colId xmlns:a16="http://schemas.microsoft.com/office/drawing/2014/main" val="3178534435"/>
                    </a:ext>
                  </a:extLst>
                </a:gridCol>
              </a:tblGrid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CS = 1000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AX = 25FF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SI = 4000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85449"/>
                  </a:ext>
                </a:extLst>
              </a:tr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DS = 2000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BX = 6080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DI = 5000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869270"/>
                  </a:ext>
                </a:extLst>
              </a:tr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SS = 3000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CX = 8791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BP = 7000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272425"/>
                  </a:ext>
                </a:extLst>
              </a:tr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ES = 9000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DX = 1299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176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32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BAC8782-13D0-06C5-1634-DDE2871384D9}"/>
              </a:ext>
            </a:extLst>
          </p:cNvPr>
          <p:cNvSpPr txBox="1">
            <a:spLocks/>
          </p:cNvSpPr>
          <p:nvPr/>
        </p:nvSpPr>
        <p:spPr>
          <a:xfrm>
            <a:off x="2003881" y="2265355"/>
            <a:ext cx="8510372" cy="162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34290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  <a:defRPr sz="2400" b="0" i="0" u="none" strike="noStrike" cap="none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eorgia"/>
              </a:defRPr>
            </a:lvl1pPr>
            <a:lvl2pPr marL="914400" marR="0" lvl="1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</a:defRPr>
            </a:lvl2pPr>
            <a:lvl3pPr marL="1371600" marR="0" lvl="2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</a:defRPr>
            </a:lvl3pPr>
            <a:lvl4pPr marL="1828800" marR="0" lvl="3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</a:defRPr>
            </a:lvl4pPr>
            <a:lvl5pPr marL="2286000" marR="0" lvl="4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5pPr>
            <a:lvl6pPr marL="2743200" marR="0" lvl="5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6pPr>
            <a:lvl7pPr marL="3200400" marR="0" lvl="6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7pPr>
            <a:lvl8pPr marL="3657600" marR="0" lvl="7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8pPr>
            <a:lvl9pPr marL="4114800" marR="0" lvl="8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9pPr>
          </a:lstStyle>
          <a:p>
            <a:r>
              <a:rPr lang="en-US" dirty="0"/>
              <a:t>Reference by DS</a:t>
            </a:r>
          </a:p>
          <a:p>
            <a:r>
              <a:rPr lang="en-US" dirty="0"/>
              <a:t>Physical memory location = 20000 + 5000 + 6 = 25006 </a:t>
            </a:r>
          </a:p>
          <a:p>
            <a:r>
              <a:rPr lang="en-US" dirty="0"/>
              <a:t>25006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80</a:t>
            </a:r>
          </a:p>
          <a:p>
            <a:r>
              <a:rPr lang="en-US" dirty="0"/>
              <a:t>25007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60</a:t>
            </a:r>
          </a:p>
          <a:p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B48B984-5D4D-2688-617F-84F484E80BAC}"/>
              </a:ext>
            </a:extLst>
          </p:cNvPr>
          <p:cNvSpPr txBox="1">
            <a:spLocks/>
          </p:cNvSpPr>
          <p:nvPr/>
        </p:nvSpPr>
        <p:spPr>
          <a:xfrm>
            <a:off x="1049897" y="3941556"/>
            <a:ext cx="3676776" cy="520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457200" indent="-4572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+mj-lt"/>
              <a:buAutoNum type="alphaLcParenR"/>
              <a:defRPr sz="2000" b="0" i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MOV [BX][DI]+28, CX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1DDE5F-DD22-A397-8881-4DDE920C404C}"/>
              </a:ext>
            </a:extLst>
          </p:cNvPr>
          <p:cNvSpPr txBox="1">
            <a:spLocks/>
          </p:cNvSpPr>
          <p:nvPr/>
        </p:nvSpPr>
        <p:spPr>
          <a:xfrm>
            <a:off x="2003881" y="4421186"/>
            <a:ext cx="8510372" cy="165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34290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  <a:defRPr sz="2400" b="0" i="0" u="none" strike="noStrike" cap="none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eorgia"/>
              </a:defRPr>
            </a:lvl1pPr>
            <a:lvl2pPr marL="914400" marR="0" lvl="1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</a:defRPr>
            </a:lvl2pPr>
            <a:lvl3pPr marL="1371600" marR="0" lvl="2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</a:defRPr>
            </a:lvl3pPr>
            <a:lvl4pPr marL="1828800" marR="0" lvl="3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</a:defRPr>
            </a:lvl4pPr>
            <a:lvl5pPr marL="2286000" marR="0" lvl="4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5pPr>
            <a:lvl6pPr marL="2743200" marR="0" lvl="5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6pPr>
            <a:lvl7pPr marL="3200400" marR="0" lvl="6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7pPr>
            <a:lvl8pPr marL="3657600" marR="0" lvl="7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8pPr>
            <a:lvl9pPr marL="4114800" marR="0" lvl="8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9pPr>
          </a:lstStyle>
          <a:p>
            <a:r>
              <a:rPr lang="en-US" dirty="0"/>
              <a:t>Reference by DS</a:t>
            </a:r>
          </a:p>
          <a:p>
            <a:r>
              <a:rPr lang="en-US" dirty="0"/>
              <a:t>Physical memory location = 20000 + 6080 + 5000 + 28 = 2B0A8</a:t>
            </a:r>
          </a:p>
          <a:p>
            <a:r>
              <a:rPr lang="en-US" dirty="0"/>
              <a:t>2B0A8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91</a:t>
            </a:r>
          </a:p>
          <a:p>
            <a:r>
              <a:rPr lang="en-US" dirty="0"/>
              <a:t>2B0A9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87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1FD3D38-C9AF-7766-BC2B-BF764AF1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1076"/>
          </a:xfrm>
        </p:spPr>
        <p:txBody>
          <a:bodyPr/>
          <a:lstStyle/>
          <a:p>
            <a:r>
              <a:rPr lang="en-US" dirty="0"/>
              <a:t>Problem 8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4A90519-3A3A-461F-FD06-4A13D3857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070032"/>
              </p:ext>
            </p:extLst>
          </p:nvPr>
        </p:nvGraphicFramePr>
        <p:xfrm>
          <a:off x="5798187" y="770175"/>
          <a:ext cx="4079700" cy="1383428"/>
        </p:xfrm>
        <a:graphic>
          <a:graphicData uri="http://schemas.openxmlformats.org/drawingml/2006/table">
            <a:tbl>
              <a:tblPr firstRow="1" bandRow="1"/>
              <a:tblGrid>
                <a:gridCol w="1359900">
                  <a:extLst>
                    <a:ext uri="{9D8B030D-6E8A-4147-A177-3AD203B41FA5}">
                      <a16:colId xmlns:a16="http://schemas.microsoft.com/office/drawing/2014/main" val="4217275593"/>
                    </a:ext>
                  </a:extLst>
                </a:gridCol>
                <a:gridCol w="1359900">
                  <a:extLst>
                    <a:ext uri="{9D8B030D-6E8A-4147-A177-3AD203B41FA5}">
                      <a16:colId xmlns:a16="http://schemas.microsoft.com/office/drawing/2014/main" val="3478931520"/>
                    </a:ext>
                  </a:extLst>
                </a:gridCol>
                <a:gridCol w="1359900">
                  <a:extLst>
                    <a:ext uri="{9D8B030D-6E8A-4147-A177-3AD203B41FA5}">
                      <a16:colId xmlns:a16="http://schemas.microsoft.com/office/drawing/2014/main" val="3178534435"/>
                    </a:ext>
                  </a:extLst>
                </a:gridCol>
              </a:tblGrid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CS = 1000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AX = 25FF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SI = 4000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85449"/>
                  </a:ext>
                </a:extLst>
              </a:tr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DS = 2000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BX = 6080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DI = 5000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869270"/>
                  </a:ext>
                </a:extLst>
              </a:tr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SS = 3000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CX = 8791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BP = 7000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272425"/>
                  </a:ext>
                </a:extLst>
              </a:tr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ES = 9000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DX = 1299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176599"/>
                  </a:ext>
                </a:extLst>
              </a:tr>
            </a:tbl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F902427-A867-DD87-D05C-8AE68C6C7B12}"/>
              </a:ext>
            </a:extLst>
          </p:cNvPr>
          <p:cNvSpPr txBox="1">
            <a:spLocks/>
          </p:cNvSpPr>
          <p:nvPr/>
        </p:nvSpPr>
        <p:spPr>
          <a:xfrm>
            <a:off x="1049897" y="1677697"/>
            <a:ext cx="3410559" cy="532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457200" indent="-4572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+mj-lt"/>
              <a:buAutoNum type="alphaLcParenR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MOV [DI+6], BX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4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6C132-A2DF-5FE5-7AFA-27A526EF5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0136" y="1596790"/>
            <a:ext cx="8817865" cy="44196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sz="4000" dirty="0"/>
          </a:p>
          <a:p>
            <a:pPr marL="114300" indent="0">
              <a:buNone/>
            </a:pPr>
            <a:endParaRPr lang="en-US" sz="40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BAC8782-13D0-06C5-1634-DDE2871384D9}"/>
              </a:ext>
            </a:extLst>
          </p:cNvPr>
          <p:cNvSpPr txBox="1">
            <a:spLocks/>
          </p:cNvSpPr>
          <p:nvPr/>
        </p:nvSpPr>
        <p:spPr>
          <a:xfrm>
            <a:off x="1523999" y="2437506"/>
            <a:ext cx="8510372" cy="184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34290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None/>
              <a:defRPr sz="2400" b="0" i="0" u="none" strike="noStrike" cap="none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eorgia"/>
              </a:defRPr>
            </a:lvl1pPr>
            <a:lvl2pPr marL="914400" marR="0" lvl="1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eorgia"/>
              <a:buChar char="▫"/>
              <a:defRPr sz="2600" b="0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</a:defRPr>
            </a:lvl2pPr>
            <a:lvl3pPr marL="1371600" marR="0" lvl="2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4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</a:defRPr>
            </a:lvl3pPr>
            <a:lvl4pPr marL="1828800" marR="0" lvl="3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2200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</a:defRPr>
            </a:lvl4pPr>
            <a:lvl5pPr marL="2286000" marR="0" lvl="4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20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5pPr>
            <a:lvl6pPr marL="2743200" marR="0" lvl="5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6pPr>
            <a:lvl7pPr marL="3200400" marR="0" lvl="6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▫"/>
              <a:defRPr sz="16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7pPr>
            <a:lvl8pPr marL="3657600" marR="0" lvl="7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5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8pPr>
            <a:lvl9pPr marL="4114800" marR="0" lvl="8" indent="-3429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Georgia"/>
              <a:buChar char="◦"/>
              <a:defRPr sz="1400" b="0" i="0" u="none" strike="noStrike" cap="none">
                <a:solidFill>
                  <a:schemeClr val="accent3"/>
                </a:solidFill>
                <a:latin typeface="Georgia"/>
                <a:ea typeface="Georgia"/>
                <a:cs typeface="Georgia"/>
              </a:defRPr>
            </a:lvl9pPr>
          </a:lstStyle>
          <a:p>
            <a:r>
              <a:rPr lang="en-US" dirty="0"/>
              <a:t>Reference by SS</a:t>
            </a:r>
          </a:p>
          <a:p>
            <a:r>
              <a:rPr lang="en-US" dirty="0"/>
              <a:t>Physical memory location = 30000 + 7000 + 4000 + 10 = 3B010</a:t>
            </a:r>
          </a:p>
          <a:p>
            <a:r>
              <a:rPr lang="en-US" dirty="0"/>
              <a:t>3B010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99</a:t>
            </a:r>
          </a:p>
          <a:p>
            <a:r>
              <a:rPr lang="en-US" dirty="0"/>
              <a:t>3B011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12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A54F41-5AEA-A180-A9F2-BBEA81386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1076"/>
          </a:xfrm>
        </p:spPr>
        <p:txBody>
          <a:bodyPr/>
          <a:lstStyle/>
          <a:p>
            <a:r>
              <a:rPr lang="en-US" dirty="0"/>
              <a:t>Problem 8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23EB185-1A17-245C-6200-D0485B057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070032"/>
              </p:ext>
            </p:extLst>
          </p:nvPr>
        </p:nvGraphicFramePr>
        <p:xfrm>
          <a:off x="5798187" y="770175"/>
          <a:ext cx="4079700" cy="1383428"/>
        </p:xfrm>
        <a:graphic>
          <a:graphicData uri="http://schemas.openxmlformats.org/drawingml/2006/table">
            <a:tbl>
              <a:tblPr firstRow="1" bandRow="1"/>
              <a:tblGrid>
                <a:gridCol w="1359900">
                  <a:extLst>
                    <a:ext uri="{9D8B030D-6E8A-4147-A177-3AD203B41FA5}">
                      <a16:colId xmlns:a16="http://schemas.microsoft.com/office/drawing/2014/main" val="4217275593"/>
                    </a:ext>
                  </a:extLst>
                </a:gridCol>
                <a:gridCol w="1359900">
                  <a:extLst>
                    <a:ext uri="{9D8B030D-6E8A-4147-A177-3AD203B41FA5}">
                      <a16:colId xmlns:a16="http://schemas.microsoft.com/office/drawing/2014/main" val="3478931520"/>
                    </a:ext>
                  </a:extLst>
                </a:gridCol>
                <a:gridCol w="1359900">
                  <a:extLst>
                    <a:ext uri="{9D8B030D-6E8A-4147-A177-3AD203B41FA5}">
                      <a16:colId xmlns:a16="http://schemas.microsoft.com/office/drawing/2014/main" val="3178534435"/>
                    </a:ext>
                  </a:extLst>
                </a:gridCol>
              </a:tblGrid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CS = 1000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AX = 25FF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SI = 4000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85449"/>
                  </a:ext>
                </a:extLst>
              </a:tr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DS = 2000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BX = 6080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DI = 5000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869270"/>
                  </a:ext>
                </a:extLst>
              </a:tr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SS = 3000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CX = 8791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BP = 7000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272425"/>
                  </a:ext>
                </a:extLst>
              </a:tr>
              <a:tr h="34585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ES = 9000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Hack" panose="020B0609030202020204" pitchFamily="49" charset="0"/>
                          <a:ea typeface="Hack" panose="020B0609030202020204" pitchFamily="49" charset="0"/>
                          <a:cs typeface="Hack" panose="020B0609030202020204" pitchFamily="49" charset="0"/>
                        </a:rPr>
                        <a:t>DX = 1299</a:t>
                      </a: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Hack" panose="020B0609030202020204" pitchFamily="49" charset="0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 marL="68437" marR="68437" marT="34218" marB="34218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176599"/>
                  </a:ext>
                </a:extLst>
              </a:tr>
            </a:tbl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4228414-84D2-380A-A843-2FF5747F781A}"/>
              </a:ext>
            </a:extLst>
          </p:cNvPr>
          <p:cNvSpPr txBox="1">
            <a:spLocks/>
          </p:cNvSpPr>
          <p:nvPr/>
        </p:nvSpPr>
        <p:spPr>
          <a:xfrm>
            <a:off x="1049897" y="1677697"/>
            <a:ext cx="3410559" cy="532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457200" indent="-4572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+mj-lt"/>
              <a:buAutoNum type="alphaLcParenR"/>
              <a:defRPr sz="2000" b="0" i="0">
                <a:latin typeface="+mj-lt"/>
                <a:ea typeface="+mj-ea"/>
                <a:cs typeface="+mj-cs"/>
              </a:defRPr>
            </a:lvl1pPr>
            <a:lvl2pPr marL="742950" lvl="1" indent="-28575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b="0" i="0">
                <a:latin typeface="+mj-lt"/>
                <a:ea typeface="+mj-ea"/>
                <a:cs typeface="+mj-cs"/>
              </a:defRPr>
            </a:lvl2pPr>
            <a:lvl3pPr marL="1143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>
                <a:latin typeface="+mj-lt"/>
                <a:ea typeface="+mj-ea"/>
                <a:cs typeface="+mj-cs"/>
              </a:defRPr>
            </a:lvl3pPr>
            <a:lvl4pPr marL="1600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4pPr>
            <a:lvl5pPr marL="20574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5pPr>
            <a:lvl6pPr marL="2506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6pPr>
            <a:lvl7pPr marL="29718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7pPr>
            <a:lvl8pPr marL="34290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8pPr>
            <a:lvl9pPr marL="3886200" indent="-22860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>
                <a:latin typeface="+mj-lt"/>
                <a:ea typeface="+mj-ea"/>
                <a:cs typeface="+mj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MOV [BP][SI]+10, DX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09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441</TotalTime>
  <Words>1628</Words>
  <Application>Microsoft Office PowerPoint</Application>
  <PresentationFormat>Widescreen</PresentationFormat>
  <Paragraphs>357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Century Gothic</vt:lpstr>
      <vt:lpstr>Courier New</vt:lpstr>
      <vt:lpstr>Georgia</vt:lpstr>
      <vt:lpstr>Hack</vt:lpstr>
      <vt:lpstr>Times New Roman</vt:lpstr>
      <vt:lpstr>Wingdings 3</vt:lpstr>
      <vt:lpstr>Ion</vt:lpstr>
      <vt:lpstr>8086 Assembly</vt:lpstr>
      <vt:lpstr>8086 Registers</vt:lpstr>
      <vt:lpstr>8086 Registers</vt:lpstr>
      <vt:lpstr>8086 Flags</vt:lpstr>
      <vt:lpstr>Little Endian vs Big Endian</vt:lpstr>
      <vt:lpstr>Physical vs Logical Address</vt:lpstr>
      <vt:lpstr>Side Note: 8086 has another ALU-ish</vt:lpstr>
      <vt:lpstr>Addressing Modes</vt:lpstr>
      <vt:lpstr>PowerPoint Presentation</vt:lpstr>
      <vt:lpstr>Problem 1</vt:lpstr>
      <vt:lpstr>Problem 2</vt:lpstr>
      <vt:lpstr>Problem 2</vt:lpstr>
      <vt:lpstr>Problem 2</vt:lpstr>
      <vt:lpstr>Problem 3</vt:lpstr>
      <vt:lpstr>Problem 3</vt:lpstr>
      <vt:lpstr>Problem 4</vt:lpstr>
      <vt:lpstr>8086 Stack</vt:lpstr>
      <vt:lpstr>Problem 4</vt:lpstr>
      <vt:lpstr>Problem 5</vt:lpstr>
      <vt:lpstr>Problem 6</vt:lpstr>
      <vt:lpstr>Problem 7 - a</vt:lpstr>
      <vt:lpstr>Problem 7 - b</vt:lpstr>
      <vt:lpstr>Problem 7 - c</vt:lpstr>
      <vt:lpstr>Problem 8</vt:lpstr>
      <vt:lpstr>Problem 8</vt:lpstr>
      <vt:lpstr>PowerPoint Presentation</vt:lpstr>
      <vt:lpstr>Problem 8</vt:lpstr>
      <vt:lpstr>Problem 8</vt:lpstr>
      <vt:lpstr>Problem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Microprocessor Systems</dc:title>
  <dc:creator>Peter</dc:creator>
  <cp:lastModifiedBy>Peter</cp:lastModifiedBy>
  <cp:revision>85</cp:revision>
  <dcterms:created xsi:type="dcterms:W3CDTF">2025-02-23T18:09:19Z</dcterms:created>
  <dcterms:modified xsi:type="dcterms:W3CDTF">2026-03-16T14:45:10Z</dcterms:modified>
</cp:coreProperties>
</file>