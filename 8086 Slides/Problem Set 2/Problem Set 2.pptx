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3"/>
  </p:notesMasterIdLst>
  <p:sldIdLst>
    <p:sldId id="256" r:id="rId2"/>
    <p:sldId id="257" r:id="rId3"/>
    <p:sldId id="304" r:id="rId4"/>
    <p:sldId id="305" r:id="rId5"/>
    <p:sldId id="306" r:id="rId6"/>
    <p:sldId id="307" r:id="rId7"/>
    <p:sldId id="308" r:id="rId8"/>
    <p:sldId id="309" r:id="rId9"/>
    <p:sldId id="310" r:id="rId10"/>
    <p:sldId id="311" r:id="rId11"/>
    <p:sldId id="312" r:id="rId12"/>
    <p:sldId id="313" r:id="rId13"/>
    <p:sldId id="297" r:id="rId14"/>
    <p:sldId id="298" r:id="rId15"/>
    <p:sldId id="272" r:id="rId16"/>
    <p:sldId id="273" r:id="rId17"/>
    <p:sldId id="299" r:id="rId18"/>
    <p:sldId id="300" r:id="rId19"/>
    <p:sldId id="301" r:id="rId20"/>
    <p:sldId id="302" r:id="rId21"/>
    <p:sldId id="303" r:id="rId22"/>
    <p:sldId id="314" r:id="rId23"/>
    <p:sldId id="315" r:id="rId24"/>
    <p:sldId id="294" r:id="rId25"/>
    <p:sldId id="317" r:id="rId26"/>
    <p:sldId id="318" r:id="rId27"/>
    <p:sldId id="320" r:id="rId28"/>
    <p:sldId id="321" r:id="rId29"/>
    <p:sldId id="322" r:id="rId30"/>
    <p:sldId id="323" r:id="rId31"/>
    <p:sldId id="324" r:id="rId32"/>
    <p:sldId id="325" r:id="rId33"/>
    <p:sldId id="334" r:id="rId34"/>
    <p:sldId id="335" r:id="rId35"/>
    <p:sldId id="336" r:id="rId36"/>
    <p:sldId id="337" r:id="rId37"/>
    <p:sldId id="338" r:id="rId38"/>
    <p:sldId id="339" r:id="rId39"/>
    <p:sldId id="340" r:id="rId40"/>
    <p:sldId id="341" r:id="rId41"/>
    <p:sldId id="326" r:id="rId42"/>
    <p:sldId id="327" r:id="rId43"/>
    <p:sldId id="328" r:id="rId44"/>
    <p:sldId id="329" r:id="rId45"/>
    <p:sldId id="330" r:id="rId46"/>
    <p:sldId id="331" r:id="rId47"/>
    <p:sldId id="332" r:id="rId48"/>
    <p:sldId id="333" r:id="rId49"/>
    <p:sldId id="342" r:id="rId50"/>
    <p:sldId id="343" r:id="rId51"/>
    <p:sldId id="344" r:id="rId5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C1C1C"/>
    <a:srgbClr val="FFFFFF"/>
    <a:srgbClr val="88888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napToGrid="0">
      <p:cViewPr varScale="1">
        <p:scale>
          <a:sx n="82" d="100"/>
          <a:sy n="82" d="100"/>
        </p:scale>
        <p:origin x="691"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66F366E-DA63-4A90-AB00-A988E1BEB9E7}" type="datetimeFigureOut">
              <a:rPr lang="en-US" smtClean="0"/>
              <a:t>3/16/2026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B6ADB5-9CA2-4180-BF5F-DEDB159DF389}" type="slidenum">
              <a:rPr lang="en-US" smtClean="0"/>
              <a:t>‹#›</a:t>
            </a:fld>
            <a:endParaRPr lang="en-US"/>
          </a:p>
        </p:txBody>
      </p:sp>
    </p:spTree>
    <p:extLst>
      <p:ext uri="{BB962C8B-B14F-4D97-AF65-F5344CB8AC3E}">
        <p14:creationId xmlns:p14="http://schemas.microsoft.com/office/powerpoint/2010/main" val="9186654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1"/>
        <p:cNvGrpSpPr/>
        <p:nvPr/>
      </p:nvGrpSpPr>
      <p:grpSpPr>
        <a:xfrm>
          <a:off x="0" y="0"/>
          <a:ext cx="0" cy="0"/>
          <a:chOff x="0" y="0"/>
          <a:chExt cx="0" cy="0"/>
        </a:xfrm>
      </p:grpSpPr>
      <p:sp>
        <p:nvSpPr>
          <p:cNvPr id="1132" name="Google Shape;1132;g2950e80dcb7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33" name="Google Shape;1133;g2950e80dcb7_0_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4"/>
        <p:cNvGrpSpPr/>
        <p:nvPr/>
      </p:nvGrpSpPr>
      <p:grpSpPr>
        <a:xfrm>
          <a:off x="0" y="0"/>
          <a:ext cx="0" cy="0"/>
          <a:chOff x="0" y="0"/>
          <a:chExt cx="0" cy="0"/>
        </a:xfrm>
      </p:grpSpPr>
      <p:sp>
        <p:nvSpPr>
          <p:cNvPr id="1145" name="Google Shape;1145;g2950e80dcb7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46" name="Google Shape;1146;g2950e80dcb7_0_4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7"/>
        <p:cNvGrpSpPr/>
        <p:nvPr/>
      </p:nvGrpSpPr>
      <p:grpSpPr>
        <a:xfrm>
          <a:off x="0" y="0"/>
          <a:ext cx="0" cy="0"/>
          <a:chOff x="0" y="0"/>
          <a:chExt cx="0" cy="0"/>
        </a:xfrm>
      </p:grpSpPr>
      <p:sp>
        <p:nvSpPr>
          <p:cNvPr id="1158" name="Google Shape;1158;g2950e80dcb7_0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59" name="Google Shape;1159;g2950e80dcb7_0_5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0"/>
        <p:cNvGrpSpPr/>
        <p:nvPr/>
      </p:nvGrpSpPr>
      <p:grpSpPr>
        <a:xfrm>
          <a:off x="0" y="0"/>
          <a:ext cx="0" cy="0"/>
          <a:chOff x="0" y="0"/>
          <a:chExt cx="0" cy="0"/>
        </a:xfrm>
      </p:grpSpPr>
      <p:sp>
        <p:nvSpPr>
          <p:cNvPr id="1171" name="Google Shape;1171;g2950e80dcb7_0_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72" name="Google Shape;1172;g2950e80dcb7_0_6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3"/>
        <p:cNvGrpSpPr/>
        <p:nvPr/>
      </p:nvGrpSpPr>
      <p:grpSpPr>
        <a:xfrm>
          <a:off x="0" y="0"/>
          <a:ext cx="0" cy="0"/>
          <a:chOff x="0" y="0"/>
          <a:chExt cx="0" cy="0"/>
        </a:xfrm>
      </p:grpSpPr>
      <p:sp>
        <p:nvSpPr>
          <p:cNvPr id="1184" name="Google Shape;1184;g2950e80dcb7_0_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85" name="Google Shape;1185;g2950e80dcb7_0_8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6"/>
        <p:cNvGrpSpPr/>
        <p:nvPr/>
      </p:nvGrpSpPr>
      <p:grpSpPr>
        <a:xfrm>
          <a:off x="0" y="0"/>
          <a:ext cx="0" cy="0"/>
          <a:chOff x="0" y="0"/>
          <a:chExt cx="0" cy="0"/>
        </a:xfrm>
      </p:grpSpPr>
      <p:sp>
        <p:nvSpPr>
          <p:cNvPr id="1197" name="Google Shape;1197;g2950e80dcb7_0_1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98" name="Google Shape;1198;g2950e80dcb7_0_10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9"/>
        <p:cNvGrpSpPr/>
        <p:nvPr/>
      </p:nvGrpSpPr>
      <p:grpSpPr>
        <a:xfrm>
          <a:off x="0" y="0"/>
          <a:ext cx="0" cy="0"/>
          <a:chOff x="0" y="0"/>
          <a:chExt cx="0" cy="0"/>
        </a:xfrm>
      </p:grpSpPr>
      <p:sp>
        <p:nvSpPr>
          <p:cNvPr id="1210" name="Google Shape;1210;g2950e80dcb7_0_1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11" name="Google Shape;1211;g2950e80dcb7_0_1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2"/>
        <p:cNvGrpSpPr/>
        <p:nvPr/>
      </p:nvGrpSpPr>
      <p:grpSpPr>
        <a:xfrm>
          <a:off x="0" y="0"/>
          <a:ext cx="0" cy="0"/>
          <a:chOff x="0" y="0"/>
          <a:chExt cx="0" cy="0"/>
        </a:xfrm>
      </p:grpSpPr>
      <p:sp>
        <p:nvSpPr>
          <p:cNvPr id="1223" name="Google Shape;1223;g2950e80dcb7_0_1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24" name="Google Shape;1224;g2950e80dcb7_0_1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5"/>
        <p:cNvGrpSpPr/>
        <p:nvPr/>
      </p:nvGrpSpPr>
      <p:grpSpPr>
        <a:xfrm>
          <a:off x="0" y="0"/>
          <a:ext cx="0" cy="0"/>
          <a:chOff x="0" y="0"/>
          <a:chExt cx="0" cy="0"/>
        </a:xfrm>
      </p:grpSpPr>
      <p:sp>
        <p:nvSpPr>
          <p:cNvPr id="1236" name="Google Shape;1236;g2950e80dcb7_0_1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37" name="Google Shape;1237;g2950e80dcb7_0_1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5"/>
        <p:cNvGrpSpPr/>
        <p:nvPr/>
      </p:nvGrpSpPr>
      <p:grpSpPr>
        <a:xfrm>
          <a:off x="0" y="0"/>
          <a:ext cx="0" cy="0"/>
          <a:chOff x="0" y="0"/>
          <a:chExt cx="0" cy="0"/>
        </a:xfrm>
      </p:grpSpPr>
      <p:sp>
        <p:nvSpPr>
          <p:cNvPr id="1406" name="Google Shape;1406;g1ea4fd3138c_1_2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07" name="Google Shape;1407;g1ea4fd3138c_1_20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5"/>
        <p:cNvGrpSpPr/>
        <p:nvPr/>
      </p:nvGrpSpPr>
      <p:grpSpPr>
        <a:xfrm>
          <a:off x="0" y="0"/>
          <a:ext cx="0" cy="0"/>
          <a:chOff x="0" y="0"/>
          <a:chExt cx="0" cy="0"/>
        </a:xfrm>
      </p:grpSpPr>
      <p:sp>
        <p:nvSpPr>
          <p:cNvPr id="1406" name="Google Shape;1406;g1ea4fd3138c_1_2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07" name="Google Shape;1407;g1ea4fd3138c_1_20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5240941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5"/>
        <p:cNvGrpSpPr/>
        <p:nvPr/>
      </p:nvGrpSpPr>
      <p:grpSpPr>
        <a:xfrm>
          <a:off x="0" y="0"/>
          <a:ext cx="0" cy="0"/>
          <a:chOff x="0" y="0"/>
          <a:chExt cx="0" cy="0"/>
        </a:xfrm>
      </p:grpSpPr>
      <p:sp>
        <p:nvSpPr>
          <p:cNvPr id="1406" name="Google Shape;1406;g1ea4fd3138c_1_2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07" name="Google Shape;1407;g1ea4fd3138c_1_20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1699474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B70328-1B59-4ECB-8D1F-66DF37CD2E61}"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69FF9B-5FAA-4ADE-B2D9-22143C54798E}" type="slidenum">
              <a:rPr lang="en-US" smtClean="0"/>
              <a:t>‹#›</a:t>
            </a:fld>
            <a:endParaRPr lang="en-US"/>
          </a:p>
        </p:txBody>
      </p:sp>
    </p:spTree>
    <p:extLst>
      <p:ext uri="{BB962C8B-B14F-4D97-AF65-F5344CB8AC3E}">
        <p14:creationId xmlns:p14="http://schemas.microsoft.com/office/powerpoint/2010/main" val="29211060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1DB70328-1B59-4ECB-8D1F-66DF37CD2E61}"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69FF9B-5FAA-4ADE-B2D9-22143C54798E}" type="slidenum">
              <a:rPr lang="en-US" smtClean="0"/>
              <a:t>‹#›</a:t>
            </a:fld>
            <a:endParaRPr lang="en-US"/>
          </a:p>
        </p:txBody>
      </p:sp>
    </p:spTree>
    <p:extLst>
      <p:ext uri="{BB962C8B-B14F-4D97-AF65-F5344CB8AC3E}">
        <p14:creationId xmlns:p14="http://schemas.microsoft.com/office/powerpoint/2010/main" val="28867087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B70328-1B59-4ECB-8D1F-66DF37CD2E61}"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69FF9B-5FAA-4ADE-B2D9-22143C54798E}" type="slidenum">
              <a:rPr lang="en-US" smtClean="0"/>
              <a:t>‹#›</a:t>
            </a:fld>
            <a:endParaRPr lang="en-US"/>
          </a:p>
        </p:txBody>
      </p:sp>
    </p:spTree>
    <p:extLst>
      <p:ext uri="{BB962C8B-B14F-4D97-AF65-F5344CB8AC3E}">
        <p14:creationId xmlns:p14="http://schemas.microsoft.com/office/powerpoint/2010/main" val="3931800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B70328-1B59-4ECB-8D1F-66DF37CD2E61}" type="datetimeFigureOut">
              <a:rPr lang="en-US" smtClean="0"/>
              <a:t>3/16/2026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69FF9B-5FAA-4ADE-B2D9-22143C54798E}" type="slidenum">
              <a:rPr lang="en-US" smtClean="0"/>
              <a:t>‹#›</a:t>
            </a:fld>
            <a:endParaRPr lang="en-US"/>
          </a:p>
        </p:txBody>
      </p:sp>
    </p:spTree>
    <p:extLst>
      <p:ext uri="{BB962C8B-B14F-4D97-AF65-F5344CB8AC3E}">
        <p14:creationId xmlns:p14="http://schemas.microsoft.com/office/powerpoint/2010/main" val="26039432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B70328-1B59-4ECB-8D1F-66DF37CD2E61}" type="datetimeFigureOut">
              <a:rPr lang="en-US" smtClean="0"/>
              <a:t>3/16/2026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069FF9B-5FAA-4ADE-B2D9-22143C54798E}" type="slidenum">
              <a:rPr lang="en-US" smtClean="0"/>
              <a:t>‹#›</a:t>
            </a:fld>
            <a:endParaRPr lang="en-US"/>
          </a:p>
        </p:txBody>
      </p:sp>
    </p:spTree>
    <p:extLst>
      <p:ext uri="{BB962C8B-B14F-4D97-AF65-F5344CB8AC3E}">
        <p14:creationId xmlns:p14="http://schemas.microsoft.com/office/powerpoint/2010/main" val="25759171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1DB70328-1B59-4ECB-8D1F-66DF37CD2E61}" type="datetimeFigureOut">
              <a:rPr lang="en-US" smtClean="0"/>
              <a:t>3/16/2026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1069FF9B-5FAA-4ADE-B2D9-22143C54798E}" type="slidenum">
              <a:rPr lang="en-US" smtClean="0"/>
              <a:t>‹#›</a:t>
            </a:fld>
            <a:endParaRPr lang="en-US"/>
          </a:p>
        </p:txBody>
      </p:sp>
    </p:spTree>
    <p:extLst>
      <p:ext uri="{BB962C8B-B14F-4D97-AF65-F5344CB8AC3E}">
        <p14:creationId xmlns:p14="http://schemas.microsoft.com/office/powerpoint/2010/main" val="11201643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1DB70328-1B59-4ECB-8D1F-66DF37CD2E61}" type="datetimeFigureOut">
              <a:rPr lang="en-US" smtClean="0"/>
              <a:t>3/16/2026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1069FF9B-5FAA-4ADE-B2D9-22143C54798E}" type="slidenum">
              <a:rPr lang="en-US" smtClean="0"/>
              <a:t>‹#›</a:t>
            </a:fld>
            <a:endParaRPr lang="en-US"/>
          </a:p>
        </p:txBody>
      </p:sp>
    </p:spTree>
    <p:extLst>
      <p:ext uri="{BB962C8B-B14F-4D97-AF65-F5344CB8AC3E}">
        <p14:creationId xmlns:p14="http://schemas.microsoft.com/office/powerpoint/2010/main" val="35631618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1DB70328-1B59-4ECB-8D1F-66DF37CD2E61}" type="datetimeFigureOut">
              <a:rPr lang="en-US" smtClean="0"/>
              <a:t>3/16/2026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1069FF9B-5FAA-4ADE-B2D9-22143C54798E}" type="slidenum">
              <a:rPr lang="en-US" smtClean="0"/>
              <a:t>‹#›</a:t>
            </a:fld>
            <a:endParaRPr lang="en-US"/>
          </a:p>
        </p:txBody>
      </p:sp>
    </p:spTree>
    <p:extLst>
      <p:ext uri="{BB962C8B-B14F-4D97-AF65-F5344CB8AC3E}">
        <p14:creationId xmlns:p14="http://schemas.microsoft.com/office/powerpoint/2010/main" val="27046887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B70328-1B59-4ECB-8D1F-66DF37CD2E61}" type="datetimeFigureOut">
              <a:rPr lang="en-US" smtClean="0"/>
              <a:t>3/16/2026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69FF9B-5FAA-4ADE-B2D9-22143C54798E}" type="slidenum">
              <a:rPr lang="en-US" smtClean="0"/>
              <a:t>‹#›</a:t>
            </a:fld>
            <a:endParaRPr lang="en-US"/>
          </a:p>
        </p:txBody>
      </p:sp>
    </p:spTree>
    <p:extLst>
      <p:ext uri="{BB962C8B-B14F-4D97-AF65-F5344CB8AC3E}">
        <p14:creationId xmlns:p14="http://schemas.microsoft.com/office/powerpoint/2010/main" val="37612677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B70328-1B59-4ECB-8D1F-66DF37CD2E61}" type="datetimeFigureOut">
              <a:rPr lang="en-US" smtClean="0"/>
              <a:t>3/16/2026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69FF9B-5FAA-4ADE-B2D9-22143C54798E}" type="slidenum">
              <a:rPr lang="en-US" smtClean="0"/>
              <a:t>‹#›</a:t>
            </a:fld>
            <a:endParaRPr lang="en-US"/>
          </a:p>
        </p:txBody>
      </p:sp>
    </p:spTree>
    <p:extLst>
      <p:ext uri="{BB962C8B-B14F-4D97-AF65-F5344CB8AC3E}">
        <p14:creationId xmlns:p14="http://schemas.microsoft.com/office/powerpoint/2010/main" val="32035160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DB70328-1B59-4ECB-8D1F-66DF37CD2E61}"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69FF9B-5FAA-4ADE-B2D9-22143C54798E}" type="slidenum">
              <a:rPr lang="en-US" smtClean="0"/>
              <a:t>‹#›</a:t>
            </a:fld>
            <a:endParaRPr lang="en-US"/>
          </a:p>
        </p:txBody>
      </p:sp>
    </p:spTree>
    <p:extLst>
      <p:ext uri="{BB962C8B-B14F-4D97-AF65-F5344CB8AC3E}">
        <p14:creationId xmlns:p14="http://schemas.microsoft.com/office/powerpoint/2010/main" val="1851257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DB70328-1B59-4ECB-8D1F-66DF37CD2E61}"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69FF9B-5FAA-4ADE-B2D9-22143C54798E}"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5330629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B70328-1B59-4ECB-8D1F-66DF37CD2E61}"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69FF9B-5FAA-4ADE-B2D9-22143C54798E}" type="slidenum">
              <a:rPr lang="en-US" smtClean="0"/>
              <a:t>‹#›</a:t>
            </a:fld>
            <a:endParaRPr lang="en-US"/>
          </a:p>
        </p:txBody>
      </p:sp>
    </p:spTree>
    <p:extLst>
      <p:ext uri="{BB962C8B-B14F-4D97-AF65-F5344CB8AC3E}">
        <p14:creationId xmlns:p14="http://schemas.microsoft.com/office/powerpoint/2010/main" val="4813409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1DB70328-1B59-4ECB-8D1F-66DF37CD2E61}" type="datetimeFigureOut">
              <a:rPr lang="en-US" smtClean="0"/>
              <a:t>3/16/2026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69FF9B-5FAA-4ADE-B2D9-22143C54798E}" type="slidenum">
              <a:rPr lang="en-US" smtClean="0"/>
              <a:t>‹#›</a:t>
            </a:fld>
            <a:endParaRPr lang="en-US"/>
          </a:p>
        </p:txBody>
      </p:sp>
    </p:spTree>
    <p:extLst>
      <p:ext uri="{BB962C8B-B14F-4D97-AF65-F5344CB8AC3E}">
        <p14:creationId xmlns:p14="http://schemas.microsoft.com/office/powerpoint/2010/main" val="38634748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1DB70328-1B59-4ECB-8D1F-66DF37CD2E61}" type="datetimeFigureOut">
              <a:rPr lang="en-US" smtClean="0"/>
              <a:t>3/16/2026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69FF9B-5FAA-4ADE-B2D9-22143C54798E}" type="slidenum">
              <a:rPr lang="en-US" smtClean="0"/>
              <a:t>‹#›</a:t>
            </a:fld>
            <a:endParaRPr lang="en-US"/>
          </a:p>
        </p:txBody>
      </p:sp>
    </p:spTree>
    <p:extLst>
      <p:ext uri="{BB962C8B-B14F-4D97-AF65-F5344CB8AC3E}">
        <p14:creationId xmlns:p14="http://schemas.microsoft.com/office/powerpoint/2010/main" val="41738869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B70328-1B59-4ECB-8D1F-66DF37CD2E61}"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69FF9B-5FAA-4ADE-B2D9-22143C54798E}" type="slidenum">
              <a:rPr lang="en-US" smtClean="0"/>
              <a:t>‹#›</a:t>
            </a:fld>
            <a:endParaRPr lang="en-US"/>
          </a:p>
        </p:txBody>
      </p:sp>
    </p:spTree>
    <p:extLst>
      <p:ext uri="{BB962C8B-B14F-4D97-AF65-F5344CB8AC3E}">
        <p14:creationId xmlns:p14="http://schemas.microsoft.com/office/powerpoint/2010/main" val="365721554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B70328-1B59-4ECB-8D1F-66DF37CD2E61}"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69FF9B-5FAA-4ADE-B2D9-22143C54798E}" type="slidenum">
              <a:rPr lang="en-US" smtClean="0"/>
              <a:t>‹#›</a:t>
            </a:fld>
            <a:endParaRPr lang="en-US"/>
          </a:p>
        </p:txBody>
      </p:sp>
    </p:spTree>
    <p:extLst>
      <p:ext uri="{BB962C8B-B14F-4D97-AF65-F5344CB8AC3E}">
        <p14:creationId xmlns:p14="http://schemas.microsoft.com/office/powerpoint/2010/main" val="251385426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wo columns 1">
  <p:cSld name="Title and two columns 1">
    <p:spTree>
      <p:nvGrpSpPr>
        <p:cNvPr id="1" name="Shape 11"/>
        <p:cNvGrpSpPr/>
        <p:nvPr/>
      </p:nvGrpSpPr>
      <p:grpSpPr>
        <a:xfrm>
          <a:off x="0" y="0"/>
          <a:ext cx="0" cy="0"/>
          <a:chOff x="0" y="0"/>
          <a:chExt cx="0" cy="0"/>
        </a:xfrm>
      </p:grpSpPr>
      <p:sp>
        <p:nvSpPr>
          <p:cNvPr id="12" name="Google Shape;12;p104"/>
          <p:cNvSpPr txBox="1">
            <a:spLocks noGrp="1"/>
          </p:cNvSpPr>
          <p:nvPr>
            <p:ph type="body" idx="1"/>
          </p:nvPr>
        </p:nvSpPr>
        <p:spPr>
          <a:xfrm>
            <a:off x="960000" y="2367500"/>
            <a:ext cx="4862800" cy="3808800"/>
          </a:xfrm>
          <a:prstGeom prst="rect">
            <a:avLst/>
          </a:prstGeom>
          <a:noFill/>
          <a:ln>
            <a:noFill/>
          </a:ln>
        </p:spPr>
        <p:txBody>
          <a:bodyPr spcFirstLastPara="1" wrap="square" lIns="91425" tIns="91425" rIns="91425" bIns="91425" anchor="t" anchorCtr="0">
            <a:noAutofit/>
          </a:bodyPr>
          <a:lstStyle>
            <a:lvl1pPr marL="457200" lvl="0" indent="-304800" algn="l">
              <a:lnSpc>
                <a:spcPct val="100000"/>
              </a:lnSpc>
              <a:spcBef>
                <a:spcPts val="0"/>
              </a:spcBef>
              <a:spcAft>
                <a:spcPts val="0"/>
              </a:spcAft>
              <a:buSzPts val="1200"/>
              <a:buChar char="●"/>
              <a:defRPr sz="1250"/>
            </a:lvl1pPr>
            <a:lvl2pPr marL="914400" lvl="1" indent="-304800" algn="l">
              <a:lnSpc>
                <a:spcPct val="115000"/>
              </a:lnSpc>
              <a:spcBef>
                <a:spcPts val="0"/>
              </a:spcBef>
              <a:spcAft>
                <a:spcPts val="0"/>
              </a:spcAft>
              <a:buSzPts val="1200"/>
              <a:buFont typeface="Roboto Condensed Light"/>
              <a:buChar char="○"/>
              <a:defRPr/>
            </a:lvl2pPr>
            <a:lvl3pPr marL="1371600" lvl="2" indent="-304800" algn="l">
              <a:lnSpc>
                <a:spcPct val="115000"/>
              </a:lnSpc>
              <a:spcBef>
                <a:spcPts val="1600"/>
              </a:spcBef>
              <a:spcAft>
                <a:spcPts val="0"/>
              </a:spcAft>
              <a:buSzPts val="1200"/>
              <a:buFont typeface="Roboto Condensed Light"/>
              <a:buChar char="■"/>
              <a:defRPr/>
            </a:lvl3pPr>
            <a:lvl4pPr marL="1828800" lvl="3" indent="-304800" algn="l">
              <a:lnSpc>
                <a:spcPct val="115000"/>
              </a:lnSpc>
              <a:spcBef>
                <a:spcPts val="1600"/>
              </a:spcBef>
              <a:spcAft>
                <a:spcPts val="0"/>
              </a:spcAft>
              <a:buSzPts val="1200"/>
              <a:buFont typeface="Roboto Condensed Light"/>
              <a:buChar char="●"/>
              <a:defRPr/>
            </a:lvl4pPr>
            <a:lvl5pPr marL="2286000" lvl="4" indent="-304800" algn="l">
              <a:lnSpc>
                <a:spcPct val="115000"/>
              </a:lnSpc>
              <a:spcBef>
                <a:spcPts val="1600"/>
              </a:spcBef>
              <a:spcAft>
                <a:spcPts val="0"/>
              </a:spcAft>
              <a:buSzPts val="1200"/>
              <a:buFont typeface="Roboto Condensed Light"/>
              <a:buChar char="○"/>
              <a:defRPr/>
            </a:lvl5pPr>
            <a:lvl6pPr marL="2743200" lvl="5" indent="-304800" algn="l">
              <a:lnSpc>
                <a:spcPct val="115000"/>
              </a:lnSpc>
              <a:spcBef>
                <a:spcPts val="1600"/>
              </a:spcBef>
              <a:spcAft>
                <a:spcPts val="0"/>
              </a:spcAft>
              <a:buSzPts val="1200"/>
              <a:buFont typeface="Roboto Condensed Light"/>
              <a:buChar char="■"/>
              <a:defRPr/>
            </a:lvl6pPr>
            <a:lvl7pPr marL="3200400" lvl="6" indent="-304800" algn="l">
              <a:lnSpc>
                <a:spcPct val="115000"/>
              </a:lnSpc>
              <a:spcBef>
                <a:spcPts val="1600"/>
              </a:spcBef>
              <a:spcAft>
                <a:spcPts val="0"/>
              </a:spcAft>
              <a:buSzPts val="1200"/>
              <a:buFont typeface="Roboto Condensed Light"/>
              <a:buChar char="●"/>
              <a:defRPr/>
            </a:lvl7pPr>
            <a:lvl8pPr marL="3657600" lvl="7" indent="-304800" algn="l">
              <a:lnSpc>
                <a:spcPct val="115000"/>
              </a:lnSpc>
              <a:spcBef>
                <a:spcPts val="1600"/>
              </a:spcBef>
              <a:spcAft>
                <a:spcPts val="0"/>
              </a:spcAft>
              <a:buSzPts val="1200"/>
              <a:buFont typeface="Roboto Condensed Light"/>
              <a:buChar char="○"/>
              <a:defRPr/>
            </a:lvl8pPr>
            <a:lvl9pPr marL="4114800" lvl="8" indent="-304800" algn="l">
              <a:lnSpc>
                <a:spcPct val="115000"/>
              </a:lnSpc>
              <a:spcBef>
                <a:spcPts val="1600"/>
              </a:spcBef>
              <a:spcAft>
                <a:spcPts val="1600"/>
              </a:spcAft>
              <a:buSzPts val="1200"/>
              <a:buFont typeface="Roboto Condensed Light"/>
              <a:buChar char="■"/>
              <a:defRPr/>
            </a:lvl9pPr>
          </a:lstStyle>
          <a:p>
            <a:endParaRPr/>
          </a:p>
        </p:txBody>
      </p:sp>
      <p:sp>
        <p:nvSpPr>
          <p:cNvPr id="13" name="Google Shape;13;p104"/>
          <p:cNvSpPr txBox="1">
            <a:spLocks noGrp="1"/>
          </p:cNvSpPr>
          <p:nvPr>
            <p:ph type="body" idx="2"/>
          </p:nvPr>
        </p:nvSpPr>
        <p:spPr>
          <a:xfrm>
            <a:off x="6369067" y="2367500"/>
            <a:ext cx="4862800" cy="3808800"/>
          </a:xfrm>
          <a:prstGeom prst="rect">
            <a:avLst/>
          </a:prstGeom>
          <a:noFill/>
          <a:ln>
            <a:noFill/>
          </a:ln>
        </p:spPr>
        <p:txBody>
          <a:bodyPr spcFirstLastPara="1" wrap="square" lIns="91425" tIns="91425" rIns="91425" bIns="91425" anchor="t" anchorCtr="0">
            <a:noAutofit/>
          </a:bodyPr>
          <a:lstStyle>
            <a:lvl1pPr marL="457200" lvl="0" indent="-304800" algn="l">
              <a:lnSpc>
                <a:spcPct val="100000"/>
              </a:lnSpc>
              <a:spcBef>
                <a:spcPts val="0"/>
              </a:spcBef>
              <a:spcAft>
                <a:spcPts val="0"/>
              </a:spcAft>
              <a:buSzPts val="1200"/>
              <a:buChar char="●"/>
              <a:defRPr sz="2500">
                <a:latin typeface="Bebas Neue"/>
                <a:ea typeface="Bebas Neue"/>
                <a:cs typeface="Bebas Neue"/>
                <a:sym typeface="Bebas Neue"/>
              </a:defRPr>
            </a:lvl1pPr>
            <a:lvl2pPr marL="914400" lvl="1" indent="-304800" algn="l">
              <a:lnSpc>
                <a:spcPct val="115000"/>
              </a:lnSpc>
              <a:spcBef>
                <a:spcPts val="0"/>
              </a:spcBef>
              <a:spcAft>
                <a:spcPts val="0"/>
              </a:spcAft>
              <a:buSzPts val="1200"/>
              <a:buFont typeface="Roboto Condensed Light"/>
              <a:buChar char="○"/>
              <a:defRPr/>
            </a:lvl2pPr>
            <a:lvl3pPr marL="1371600" lvl="2" indent="-304800" algn="l">
              <a:lnSpc>
                <a:spcPct val="115000"/>
              </a:lnSpc>
              <a:spcBef>
                <a:spcPts val="1600"/>
              </a:spcBef>
              <a:spcAft>
                <a:spcPts val="0"/>
              </a:spcAft>
              <a:buSzPts val="1200"/>
              <a:buFont typeface="Roboto Condensed Light"/>
              <a:buChar char="■"/>
              <a:defRPr/>
            </a:lvl3pPr>
            <a:lvl4pPr marL="1828800" lvl="3" indent="-304800" algn="l">
              <a:lnSpc>
                <a:spcPct val="115000"/>
              </a:lnSpc>
              <a:spcBef>
                <a:spcPts val="1600"/>
              </a:spcBef>
              <a:spcAft>
                <a:spcPts val="0"/>
              </a:spcAft>
              <a:buSzPts val="1200"/>
              <a:buFont typeface="Roboto Condensed Light"/>
              <a:buChar char="●"/>
              <a:defRPr/>
            </a:lvl4pPr>
            <a:lvl5pPr marL="2286000" lvl="4" indent="-304800" algn="l">
              <a:lnSpc>
                <a:spcPct val="115000"/>
              </a:lnSpc>
              <a:spcBef>
                <a:spcPts val="1600"/>
              </a:spcBef>
              <a:spcAft>
                <a:spcPts val="0"/>
              </a:spcAft>
              <a:buSzPts val="1200"/>
              <a:buFont typeface="Roboto Condensed Light"/>
              <a:buChar char="○"/>
              <a:defRPr/>
            </a:lvl5pPr>
            <a:lvl6pPr marL="2743200" lvl="5" indent="-304800" algn="l">
              <a:lnSpc>
                <a:spcPct val="115000"/>
              </a:lnSpc>
              <a:spcBef>
                <a:spcPts val="1600"/>
              </a:spcBef>
              <a:spcAft>
                <a:spcPts val="0"/>
              </a:spcAft>
              <a:buSzPts val="1200"/>
              <a:buFont typeface="Roboto Condensed Light"/>
              <a:buChar char="■"/>
              <a:defRPr/>
            </a:lvl6pPr>
            <a:lvl7pPr marL="3200400" lvl="6" indent="-304800" algn="l">
              <a:lnSpc>
                <a:spcPct val="115000"/>
              </a:lnSpc>
              <a:spcBef>
                <a:spcPts val="1600"/>
              </a:spcBef>
              <a:spcAft>
                <a:spcPts val="0"/>
              </a:spcAft>
              <a:buSzPts val="1200"/>
              <a:buFont typeface="Roboto Condensed Light"/>
              <a:buChar char="●"/>
              <a:defRPr/>
            </a:lvl7pPr>
            <a:lvl8pPr marL="3657600" lvl="7" indent="-304800" algn="l">
              <a:lnSpc>
                <a:spcPct val="115000"/>
              </a:lnSpc>
              <a:spcBef>
                <a:spcPts val="1600"/>
              </a:spcBef>
              <a:spcAft>
                <a:spcPts val="0"/>
              </a:spcAft>
              <a:buSzPts val="1200"/>
              <a:buFont typeface="Roboto Condensed Light"/>
              <a:buChar char="○"/>
              <a:defRPr/>
            </a:lvl8pPr>
            <a:lvl9pPr marL="4114800" lvl="8" indent="-304800" algn="l">
              <a:lnSpc>
                <a:spcPct val="115000"/>
              </a:lnSpc>
              <a:spcBef>
                <a:spcPts val="1600"/>
              </a:spcBef>
              <a:spcAft>
                <a:spcPts val="1600"/>
              </a:spcAft>
              <a:buSzPts val="1200"/>
              <a:buFont typeface="Roboto Condensed Light"/>
              <a:buChar char="■"/>
              <a:defRPr/>
            </a:lvl9pPr>
          </a:lstStyle>
          <a:p>
            <a:endParaRPr/>
          </a:p>
        </p:txBody>
      </p:sp>
      <p:sp>
        <p:nvSpPr>
          <p:cNvPr id="14" name="Google Shape;14;p104"/>
          <p:cNvSpPr txBox="1">
            <a:spLocks noGrp="1"/>
          </p:cNvSpPr>
          <p:nvPr>
            <p:ph type="title"/>
          </p:nvPr>
        </p:nvSpPr>
        <p:spPr>
          <a:xfrm>
            <a:off x="960000" y="593367"/>
            <a:ext cx="10272000" cy="7636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3500"/>
              <a:buNone/>
              <a:defRPr sz="4200"/>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Tree>
    <p:extLst>
      <p:ext uri="{BB962C8B-B14F-4D97-AF65-F5344CB8AC3E}">
        <p14:creationId xmlns:p14="http://schemas.microsoft.com/office/powerpoint/2010/main" val="34210012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3.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5.png"/><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0">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1">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2">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3">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1DB70328-1B59-4ECB-8D1F-66DF37CD2E61}" type="datetimeFigureOut">
              <a:rPr lang="en-US" smtClean="0"/>
              <a:t>3/16/2026</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1069FF9B-5FAA-4ADE-B2D9-22143C54798E}" type="slidenum">
              <a:rPr lang="en-US" smtClean="0"/>
              <a:t>‹#›</a:t>
            </a:fld>
            <a:endParaRPr lang="en-US"/>
          </a:p>
        </p:txBody>
      </p:sp>
    </p:spTree>
    <p:extLst>
      <p:ext uri="{BB962C8B-B14F-4D97-AF65-F5344CB8AC3E}">
        <p14:creationId xmlns:p14="http://schemas.microsoft.com/office/powerpoint/2010/main" val="196990024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8086int.html" TargetMode="External"/><Relationship Id="rId2" Type="http://schemas.openxmlformats.org/officeDocument/2006/relationships/hyperlink" Target="https://yassinebridi.github.io/asm-docs/8086_bios_and_dos_interrupts.html"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4322390-8B58-46BE-88EB-D9FD30C08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Circuit board">
            <a:extLst>
              <a:ext uri="{FF2B5EF4-FFF2-40B4-BE49-F238E27FC236}">
                <a16:creationId xmlns:a16="http://schemas.microsoft.com/office/drawing/2014/main" id="{539871E1-4E09-CC08-304C-429C6AEB45F9}"/>
              </a:ext>
            </a:extLst>
          </p:cNvPr>
          <p:cNvPicPr>
            <a:picLocks noChangeAspect="1"/>
          </p:cNvPicPr>
          <p:nvPr/>
        </p:nvPicPr>
        <p:blipFill>
          <a:blip r:embed="rId2">
            <a:alphaModFix amt="40000"/>
          </a:blip>
          <a:srcRect t="15730"/>
          <a:stretch/>
        </p:blipFill>
        <p:spPr>
          <a:xfrm>
            <a:off x="20" y="10"/>
            <a:ext cx="12191980" cy="6857990"/>
          </a:xfrm>
          <a:prstGeom prst="rect">
            <a:avLst/>
          </a:prstGeom>
        </p:spPr>
      </p:pic>
      <p:sp>
        <p:nvSpPr>
          <p:cNvPr id="2" name="Title 1">
            <a:extLst>
              <a:ext uri="{FF2B5EF4-FFF2-40B4-BE49-F238E27FC236}">
                <a16:creationId xmlns:a16="http://schemas.microsoft.com/office/drawing/2014/main" id="{79ADA687-5167-7C65-5451-C05978EABAA8}"/>
              </a:ext>
            </a:extLst>
          </p:cNvPr>
          <p:cNvSpPr>
            <a:spLocks noGrp="1"/>
          </p:cNvSpPr>
          <p:nvPr>
            <p:ph type="ctrTitle"/>
          </p:nvPr>
        </p:nvSpPr>
        <p:spPr>
          <a:xfrm>
            <a:off x="1154955" y="1447800"/>
            <a:ext cx="8825658" cy="3329581"/>
          </a:xfrm>
        </p:spPr>
        <p:txBody>
          <a:bodyPr>
            <a:normAutofit/>
          </a:bodyPr>
          <a:lstStyle/>
          <a:p>
            <a:r>
              <a:rPr lang="en-US" dirty="0">
                <a:solidFill>
                  <a:schemeClr val="tx1"/>
                </a:solidFill>
              </a:rPr>
              <a:t>8086 Assembly</a:t>
            </a:r>
          </a:p>
        </p:txBody>
      </p:sp>
      <p:sp>
        <p:nvSpPr>
          <p:cNvPr id="3" name="Subtitle 2">
            <a:extLst>
              <a:ext uri="{FF2B5EF4-FFF2-40B4-BE49-F238E27FC236}">
                <a16:creationId xmlns:a16="http://schemas.microsoft.com/office/drawing/2014/main" id="{5D9250B6-DC41-2E0C-CF57-C2AECC0AEBE1}"/>
              </a:ext>
            </a:extLst>
          </p:cNvPr>
          <p:cNvSpPr>
            <a:spLocks noGrp="1"/>
          </p:cNvSpPr>
          <p:nvPr>
            <p:ph type="subTitle" idx="1"/>
          </p:nvPr>
        </p:nvSpPr>
        <p:spPr>
          <a:xfrm>
            <a:off x="1154955" y="4777380"/>
            <a:ext cx="8825658" cy="861420"/>
          </a:xfrm>
        </p:spPr>
        <p:txBody>
          <a:bodyPr>
            <a:normAutofit/>
          </a:bodyPr>
          <a:lstStyle/>
          <a:p>
            <a:r>
              <a:rPr lang="en-US" dirty="0">
                <a:solidFill>
                  <a:schemeClr val="tx1"/>
                </a:solidFill>
              </a:rPr>
              <a:t>Problem Set 2</a:t>
            </a:r>
          </a:p>
        </p:txBody>
      </p:sp>
      <p:sp>
        <p:nvSpPr>
          <p:cNvPr id="11" name="Rectangle 10">
            <a:extLst>
              <a:ext uri="{FF2B5EF4-FFF2-40B4-BE49-F238E27FC236}">
                <a16:creationId xmlns:a16="http://schemas.microsoft.com/office/drawing/2014/main" id="{C885E190-58DD-42DD-A4A8-401E15C92A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961590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500"/>
                                  </p:stCondLst>
                                  <p:iterate>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700"/>
                                        <p:tgtEl>
                                          <p:spTgt spid="3">
                                            <p:txEl>
                                              <p:pRg st="0" end="0"/>
                                            </p:txEl>
                                          </p:spTgt>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2"/>
                                        </p:tgtEl>
                                        <p:attrNameLst>
                                          <p:attrName>style.visibility</p:attrName>
                                        </p:attrNameLst>
                                      </p:cBhvr>
                                      <p:to>
                                        <p:strVal val="visible"/>
                                      </p:to>
                                    </p:set>
                                    <p:animEffect transition="in" filter="fade">
                                      <p:cBhvr>
                                        <p:cTn id="10"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80713-6429-08F8-38AD-2B2AC49174E0}"/>
              </a:ext>
            </a:extLst>
          </p:cNvPr>
          <p:cNvSpPr>
            <a:spLocks noGrp="1"/>
          </p:cNvSpPr>
          <p:nvPr>
            <p:ph type="title"/>
          </p:nvPr>
        </p:nvSpPr>
        <p:spPr/>
        <p:txBody>
          <a:bodyPr/>
          <a:lstStyle/>
          <a:p>
            <a:r>
              <a:rPr lang="en-US" dirty="0"/>
              <a:t>Program Structure</a:t>
            </a:r>
          </a:p>
        </p:txBody>
      </p:sp>
      <p:pic>
        <p:nvPicPr>
          <p:cNvPr id="5" name="Picture 4">
            <a:extLst>
              <a:ext uri="{FF2B5EF4-FFF2-40B4-BE49-F238E27FC236}">
                <a16:creationId xmlns:a16="http://schemas.microsoft.com/office/drawing/2014/main" id="{4B1649AA-4579-0FCF-240D-93FBF045CEC2}"/>
              </a:ext>
            </a:extLst>
          </p:cNvPr>
          <p:cNvPicPr>
            <a:picLocks noChangeAspect="1"/>
          </p:cNvPicPr>
          <p:nvPr/>
        </p:nvPicPr>
        <p:blipFill>
          <a:blip r:embed="rId2"/>
          <a:stretch>
            <a:fillRect/>
          </a:stretch>
        </p:blipFill>
        <p:spPr>
          <a:xfrm>
            <a:off x="1347125" y="1594245"/>
            <a:ext cx="9497750" cy="4039164"/>
          </a:xfrm>
          <a:prstGeom prst="rect">
            <a:avLst/>
          </a:prstGeom>
        </p:spPr>
      </p:pic>
      <p:sp>
        <p:nvSpPr>
          <p:cNvPr id="3" name="Rectangle 2">
            <a:extLst>
              <a:ext uri="{FF2B5EF4-FFF2-40B4-BE49-F238E27FC236}">
                <a16:creationId xmlns:a16="http://schemas.microsoft.com/office/drawing/2014/main" id="{7C85C0E0-60BB-4720-5B9D-57FE9E1C2CDE}"/>
              </a:ext>
            </a:extLst>
          </p:cNvPr>
          <p:cNvSpPr/>
          <p:nvPr/>
        </p:nvSpPr>
        <p:spPr>
          <a:xfrm>
            <a:off x="5743851" y="1313895"/>
            <a:ext cx="4083729" cy="92327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.Model </a:t>
            </a:r>
            <a:r>
              <a:rPr lang="en-US" dirty="0"/>
              <a:t>directive tells the system if this program needs one segment or more in the memory</a:t>
            </a:r>
          </a:p>
        </p:txBody>
      </p:sp>
      <p:sp>
        <p:nvSpPr>
          <p:cNvPr id="4" name="Rectangle 3">
            <a:extLst>
              <a:ext uri="{FF2B5EF4-FFF2-40B4-BE49-F238E27FC236}">
                <a16:creationId xmlns:a16="http://schemas.microsoft.com/office/drawing/2014/main" id="{FD844089-7160-A74C-6014-02914F8910CF}"/>
              </a:ext>
            </a:extLst>
          </p:cNvPr>
          <p:cNvSpPr/>
          <p:nvPr/>
        </p:nvSpPr>
        <p:spPr>
          <a:xfrm>
            <a:off x="3293616" y="5433134"/>
            <a:ext cx="5220069" cy="10475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END MAIN </a:t>
            </a:r>
            <a:r>
              <a:rPr lang="en-US" dirty="0"/>
              <a:t>tells the assembler that the code ended, and it starts from the label </a:t>
            </a:r>
            <a:r>
              <a:rPr lang="en-US" b="1" dirty="0">
                <a:solidFill>
                  <a:schemeClr val="bg1"/>
                </a:solidFill>
              </a:rPr>
              <a:t>MAIN</a:t>
            </a:r>
          </a:p>
        </p:txBody>
      </p:sp>
    </p:spTree>
    <p:extLst>
      <p:ext uri="{BB962C8B-B14F-4D97-AF65-F5344CB8AC3E}">
        <p14:creationId xmlns:p14="http://schemas.microsoft.com/office/powerpoint/2010/main" val="27416421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72E9D-8936-4C01-777F-4DCF19C6F4B4}"/>
              </a:ext>
            </a:extLst>
          </p:cNvPr>
          <p:cNvSpPr>
            <a:spLocks noGrp="1"/>
          </p:cNvSpPr>
          <p:nvPr>
            <p:ph type="title"/>
          </p:nvPr>
        </p:nvSpPr>
        <p:spPr/>
        <p:txBody>
          <a:bodyPr/>
          <a:lstStyle/>
          <a:p>
            <a:r>
              <a:rPr lang="en-US" dirty="0"/>
              <a:t>Variables</a:t>
            </a:r>
          </a:p>
        </p:txBody>
      </p:sp>
      <p:pic>
        <p:nvPicPr>
          <p:cNvPr id="5" name="Picture 4">
            <a:extLst>
              <a:ext uri="{FF2B5EF4-FFF2-40B4-BE49-F238E27FC236}">
                <a16:creationId xmlns:a16="http://schemas.microsoft.com/office/drawing/2014/main" id="{E57F1C88-59D4-737C-7C50-1CE6E0376927}"/>
              </a:ext>
            </a:extLst>
          </p:cNvPr>
          <p:cNvPicPr>
            <a:picLocks noChangeAspect="1"/>
          </p:cNvPicPr>
          <p:nvPr/>
        </p:nvPicPr>
        <p:blipFill>
          <a:blip r:embed="rId2"/>
          <a:stretch>
            <a:fillRect/>
          </a:stretch>
        </p:blipFill>
        <p:spPr>
          <a:xfrm>
            <a:off x="1442388" y="1853248"/>
            <a:ext cx="9307224" cy="3734321"/>
          </a:xfrm>
          <a:prstGeom prst="rect">
            <a:avLst/>
          </a:prstGeom>
        </p:spPr>
      </p:pic>
      <p:sp>
        <p:nvSpPr>
          <p:cNvPr id="3" name="Rectangle 2">
            <a:extLst>
              <a:ext uri="{FF2B5EF4-FFF2-40B4-BE49-F238E27FC236}">
                <a16:creationId xmlns:a16="http://schemas.microsoft.com/office/drawing/2014/main" id="{1A3C5DF1-6D05-BB92-04D8-637B8C451259}"/>
              </a:ext>
            </a:extLst>
          </p:cNvPr>
          <p:cNvSpPr/>
          <p:nvPr/>
        </p:nvSpPr>
        <p:spPr>
          <a:xfrm>
            <a:off x="9729926" y="2272683"/>
            <a:ext cx="2130641" cy="7723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Only strings can be written without commas (,)</a:t>
            </a:r>
          </a:p>
        </p:txBody>
      </p:sp>
      <p:sp>
        <p:nvSpPr>
          <p:cNvPr id="4" name="Rectangle 3">
            <a:extLst>
              <a:ext uri="{FF2B5EF4-FFF2-40B4-BE49-F238E27FC236}">
                <a16:creationId xmlns:a16="http://schemas.microsoft.com/office/drawing/2014/main" id="{95244F91-A2E4-0677-C0FA-ED13EBF40B02}"/>
              </a:ext>
            </a:extLst>
          </p:cNvPr>
          <p:cNvSpPr/>
          <p:nvPr/>
        </p:nvSpPr>
        <p:spPr>
          <a:xfrm>
            <a:off x="3320249" y="5716338"/>
            <a:ext cx="2539013" cy="6889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EQU is substituted in assembler</a:t>
            </a:r>
          </a:p>
        </p:txBody>
      </p:sp>
    </p:spTree>
    <p:extLst>
      <p:ext uri="{BB962C8B-B14F-4D97-AF65-F5344CB8AC3E}">
        <p14:creationId xmlns:p14="http://schemas.microsoft.com/office/powerpoint/2010/main" val="26429080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72E9D-8936-4C01-777F-4DCF19C6F4B4}"/>
              </a:ext>
            </a:extLst>
          </p:cNvPr>
          <p:cNvSpPr>
            <a:spLocks noGrp="1"/>
          </p:cNvSpPr>
          <p:nvPr>
            <p:ph type="title"/>
          </p:nvPr>
        </p:nvSpPr>
        <p:spPr/>
        <p:txBody>
          <a:bodyPr/>
          <a:lstStyle/>
          <a:p>
            <a:r>
              <a:rPr lang="en-US" dirty="0"/>
              <a:t>Arrays</a:t>
            </a:r>
          </a:p>
        </p:txBody>
      </p:sp>
      <p:pic>
        <p:nvPicPr>
          <p:cNvPr id="4" name="Picture 3">
            <a:extLst>
              <a:ext uri="{FF2B5EF4-FFF2-40B4-BE49-F238E27FC236}">
                <a16:creationId xmlns:a16="http://schemas.microsoft.com/office/drawing/2014/main" id="{9CCD16E6-65A6-9EED-3C0C-88AD80814CE4}"/>
              </a:ext>
            </a:extLst>
          </p:cNvPr>
          <p:cNvPicPr>
            <a:picLocks noChangeAspect="1"/>
          </p:cNvPicPr>
          <p:nvPr/>
        </p:nvPicPr>
        <p:blipFill>
          <a:blip r:embed="rId2"/>
          <a:stretch>
            <a:fillRect/>
          </a:stretch>
        </p:blipFill>
        <p:spPr>
          <a:xfrm>
            <a:off x="3400049" y="823549"/>
            <a:ext cx="5391902" cy="5210902"/>
          </a:xfrm>
          <a:prstGeom prst="rect">
            <a:avLst/>
          </a:prstGeom>
        </p:spPr>
      </p:pic>
    </p:spTree>
    <p:extLst>
      <p:ext uri="{BB962C8B-B14F-4D97-AF65-F5344CB8AC3E}">
        <p14:creationId xmlns:p14="http://schemas.microsoft.com/office/powerpoint/2010/main" val="14693774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5E4A90-3017-4500-8089-67243EB8FB48}"/>
              </a:ext>
            </a:extLst>
          </p:cNvPr>
          <p:cNvSpPr>
            <a:spLocks noGrp="1"/>
          </p:cNvSpPr>
          <p:nvPr>
            <p:ph type="title"/>
          </p:nvPr>
        </p:nvSpPr>
        <p:spPr/>
        <p:txBody>
          <a:bodyPr/>
          <a:lstStyle/>
          <a:p>
            <a:r>
              <a:rPr lang="en-US" dirty="0"/>
              <a:t>Interrupts</a:t>
            </a:r>
          </a:p>
        </p:txBody>
      </p:sp>
      <p:sp>
        <p:nvSpPr>
          <p:cNvPr id="3" name="Content Placeholder 2">
            <a:extLst>
              <a:ext uri="{FF2B5EF4-FFF2-40B4-BE49-F238E27FC236}">
                <a16:creationId xmlns:a16="http://schemas.microsoft.com/office/drawing/2014/main" id="{6A6F55C2-18AE-8ECB-FD66-C3DCA4276910}"/>
              </a:ext>
            </a:extLst>
          </p:cNvPr>
          <p:cNvSpPr>
            <a:spLocks noGrp="1"/>
          </p:cNvSpPr>
          <p:nvPr>
            <p:ph idx="1"/>
          </p:nvPr>
        </p:nvSpPr>
        <p:spPr/>
        <p:txBody>
          <a:bodyPr>
            <a:normAutofit/>
          </a:bodyPr>
          <a:lstStyle/>
          <a:p>
            <a:pPr marL="0" indent="0">
              <a:buNone/>
            </a:pPr>
            <a:r>
              <a:rPr lang="en-US" sz="3600" dirty="0"/>
              <a:t>We can Explore Interrupts in this </a:t>
            </a:r>
            <a:r>
              <a:rPr lang="en-US" sz="3600" dirty="0">
                <a:hlinkClick r:id="rId2"/>
              </a:rPr>
              <a:t>Guide</a:t>
            </a:r>
            <a:r>
              <a:rPr lang="en-US" sz="3600" dirty="0"/>
              <a:t> or This </a:t>
            </a:r>
            <a:r>
              <a:rPr lang="en-US" sz="3600" dirty="0">
                <a:hlinkClick r:id="rId3" action="ppaction://hlinkfile"/>
              </a:rPr>
              <a:t>File</a:t>
            </a:r>
            <a:endParaRPr lang="en-US" sz="3600" dirty="0"/>
          </a:p>
        </p:txBody>
      </p:sp>
    </p:spTree>
    <p:extLst>
      <p:ext uri="{BB962C8B-B14F-4D97-AF65-F5344CB8AC3E}">
        <p14:creationId xmlns:p14="http://schemas.microsoft.com/office/powerpoint/2010/main" val="1734973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55EE20-87BD-ED7C-3CD9-7D5CBC9AC818}"/>
              </a:ext>
            </a:extLst>
          </p:cNvPr>
          <p:cNvSpPr>
            <a:spLocks noGrp="1"/>
          </p:cNvSpPr>
          <p:nvPr>
            <p:ph type="title"/>
          </p:nvPr>
        </p:nvSpPr>
        <p:spPr/>
        <p:txBody>
          <a:bodyPr/>
          <a:lstStyle/>
          <a:p>
            <a:r>
              <a:rPr lang="en-US" dirty="0"/>
              <a:t>Macro</a:t>
            </a:r>
          </a:p>
        </p:txBody>
      </p:sp>
      <p:sp>
        <p:nvSpPr>
          <p:cNvPr id="3" name="Content Placeholder 2">
            <a:extLst>
              <a:ext uri="{FF2B5EF4-FFF2-40B4-BE49-F238E27FC236}">
                <a16:creationId xmlns:a16="http://schemas.microsoft.com/office/drawing/2014/main" id="{B92D6A75-8356-2CDE-BC99-F432B479E4E2}"/>
              </a:ext>
            </a:extLst>
          </p:cNvPr>
          <p:cNvSpPr>
            <a:spLocks noGrp="1"/>
          </p:cNvSpPr>
          <p:nvPr>
            <p:ph idx="1"/>
          </p:nvPr>
        </p:nvSpPr>
        <p:spPr>
          <a:xfrm>
            <a:off x="1076918" y="1582402"/>
            <a:ext cx="6452291" cy="4195481"/>
          </a:xfrm>
        </p:spPr>
        <p:txBody>
          <a:bodyPr/>
          <a:lstStyle/>
          <a:p>
            <a:r>
              <a:rPr lang="en-US" dirty="0"/>
              <a:t>Macros are external code which will be </a:t>
            </a:r>
            <a:r>
              <a:rPr lang="en-US" dirty="0">
                <a:solidFill>
                  <a:schemeClr val="accent1">
                    <a:lumMod val="60000"/>
                    <a:lumOff val="40000"/>
                  </a:schemeClr>
                </a:solidFill>
              </a:rPr>
              <a:t>substituted</a:t>
            </a:r>
            <a:r>
              <a:rPr lang="en-US" dirty="0"/>
              <a:t> in the main code</a:t>
            </a:r>
          </a:p>
          <a:p>
            <a:r>
              <a:rPr lang="en-US" dirty="0"/>
              <a:t>Macros can take a variable name (which will be substituted on assembling)</a:t>
            </a:r>
          </a:p>
          <a:p>
            <a:r>
              <a:rPr lang="en-US" dirty="0"/>
              <a:t>Macros can’t have labels unless used with </a:t>
            </a:r>
            <a:r>
              <a:rPr lang="en-US" dirty="0">
                <a:solidFill>
                  <a:schemeClr val="accent1">
                    <a:lumMod val="60000"/>
                    <a:lumOff val="40000"/>
                  </a:schemeClr>
                </a:solidFill>
              </a:rPr>
              <a:t>Local</a:t>
            </a:r>
            <a:r>
              <a:rPr lang="en-US" dirty="0"/>
              <a:t> keyword</a:t>
            </a:r>
          </a:p>
          <a:p>
            <a:r>
              <a:rPr lang="en-US" dirty="0"/>
              <a:t>Macros (and procedures) can be written in external file and included </a:t>
            </a:r>
            <a:br>
              <a:rPr lang="en-US" dirty="0"/>
            </a:br>
            <a:r>
              <a:rPr lang="en-US" dirty="0"/>
              <a:t>using </a:t>
            </a:r>
            <a:r>
              <a:rPr lang="en-US" b="0" dirty="0">
                <a:solidFill>
                  <a:srgbClr val="00B0F0"/>
                </a:solidFill>
                <a:effectLst/>
                <a:latin typeface="hack" panose="020B0609030202020204" pitchFamily="49" charset="0"/>
              </a:rPr>
              <a:t>include [filename]</a:t>
            </a:r>
          </a:p>
        </p:txBody>
      </p:sp>
      <p:pic>
        <p:nvPicPr>
          <p:cNvPr id="5" name="Picture 4">
            <a:extLst>
              <a:ext uri="{FF2B5EF4-FFF2-40B4-BE49-F238E27FC236}">
                <a16:creationId xmlns:a16="http://schemas.microsoft.com/office/drawing/2014/main" id="{3E030249-0939-785A-4016-C44F56321429}"/>
              </a:ext>
            </a:extLst>
          </p:cNvPr>
          <p:cNvPicPr>
            <a:picLocks noChangeAspect="1"/>
          </p:cNvPicPr>
          <p:nvPr/>
        </p:nvPicPr>
        <p:blipFill>
          <a:blip r:embed="rId2"/>
          <a:stretch>
            <a:fillRect/>
          </a:stretch>
        </p:blipFill>
        <p:spPr>
          <a:xfrm>
            <a:off x="7911460" y="1433983"/>
            <a:ext cx="3362794" cy="4763165"/>
          </a:xfrm>
          <a:prstGeom prst="rect">
            <a:avLst/>
          </a:prstGeom>
        </p:spPr>
      </p:pic>
    </p:spTree>
    <p:extLst>
      <p:ext uri="{BB962C8B-B14F-4D97-AF65-F5344CB8AC3E}">
        <p14:creationId xmlns:p14="http://schemas.microsoft.com/office/powerpoint/2010/main" val="34325508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55EE20-87BD-ED7C-3CD9-7D5CBC9AC818}"/>
              </a:ext>
            </a:extLst>
          </p:cNvPr>
          <p:cNvSpPr>
            <a:spLocks noGrp="1"/>
          </p:cNvSpPr>
          <p:nvPr>
            <p:ph type="title"/>
          </p:nvPr>
        </p:nvSpPr>
        <p:spPr/>
        <p:txBody>
          <a:bodyPr/>
          <a:lstStyle/>
          <a:p>
            <a:r>
              <a:rPr lang="en-US" dirty="0"/>
              <a:t>Macro</a:t>
            </a:r>
          </a:p>
        </p:txBody>
      </p:sp>
      <p:pic>
        <p:nvPicPr>
          <p:cNvPr id="16" name="Picture 15">
            <a:extLst>
              <a:ext uri="{FF2B5EF4-FFF2-40B4-BE49-F238E27FC236}">
                <a16:creationId xmlns:a16="http://schemas.microsoft.com/office/drawing/2014/main" id="{CC8071CA-FA40-F79D-2601-B005DC46334F}"/>
              </a:ext>
            </a:extLst>
          </p:cNvPr>
          <p:cNvPicPr>
            <a:picLocks noChangeAspect="1"/>
          </p:cNvPicPr>
          <p:nvPr/>
        </p:nvPicPr>
        <p:blipFill>
          <a:blip r:embed="rId2"/>
          <a:stretch>
            <a:fillRect/>
          </a:stretch>
        </p:blipFill>
        <p:spPr>
          <a:xfrm>
            <a:off x="1821446" y="1533652"/>
            <a:ext cx="2984813" cy="4368938"/>
          </a:xfrm>
          <a:prstGeom prst="rect">
            <a:avLst/>
          </a:prstGeom>
        </p:spPr>
      </p:pic>
      <p:pic>
        <p:nvPicPr>
          <p:cNvPr id="17" name="Picture 16">
            <a:extLst>
              <a:ext uri="{FF2B5EF4-FFF2-40B4-BE49-F238E27FC236}">
                <a16:creationId xmlns:a16="http://schemas.microsoft.com/office/drawing/2014/main" id="{D8B59B66-846B-E484-89D5-F51A13852F9B}"/>
              </a:ext>
            </a:extLst>
          </p:cNvPr>
          <p:cNvPicPr>
            <a:picLocks noChangeAspect="1"/>
          </p:cNvPicPr>
          <p:nvPr/>
        </p:nvPicPr>
        <p:blipFill>
          <a:blip r:embed="rId3"/>
          <a:stretch>
            <a:fillRect/>
          </a:stretch>
        </p:blipFill>
        <p:spPr>
          <a:xfrm>
            <a:off x="7514098" y="2697899"/>
            <a:ext cx="2135929" cy="2123510"/>
          </a:xfrm>
          <a:prstGeom prst="rect">
            <a:avLst/>
          </a:prstGeom>
        </p:spPr>
      </p:pic>
      <p:sp>
        <p:nvSpPr>
          <p:cNvPr id="18" name="Arrow: Right 17">
            <a:extLst>
              <a:ext uri="{FF2B5EF4-FFF2-40B4-BE49-F238E27FC236}">
                <a16:creationId xmlns:a16="http://schemas.microsoft.com/office/drawing/2014/main" id="{77CE532E-97AE-D409-0F57-F9FC80E9CBD3}"/>
              </a:ext>
            </a:extLst>
          </p:cNvPr>
          <p:cNvSpPr/>
          <p:nvPr/>
        </p:nvSpPr>
        <p:spPr>
          <a:xfrm>
            <a:off x="5337242" y="3290104"/>
            <a:ext cx="1517515" cy="85603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a:extLst>
              <a:ext uri="{FF2B5EF4-FFF2-40B4-BE49-F238E27FC236}">
                <a16:creationId xmlns:a16="http://schemas.microsoft.com/office/drawing/2014/main" id="{DA354675-889A-8A3E-662A-4B33F718AC94}"/>
              </a:ext>
            </a:extLst>
          </p:cNvPr>
          <p:cNvCxnSpPr>
            <a:cxnSpLocks/>
          </p:cNvCxnSpPr>
          <p:nvPr/>
        </p:nvCxnSpPr>
        <p:spPr>
          <a:xfrm>
            <a:off x="1926511" y="3691487"/>
            <a:ext cx="2769777" cy="0"/>
          </a:xfrm>
          <a:prstGeom prst="line">
            <a:avLst/>
          </a:prstGeom>
          <a:ln>
            <a:solidFill>
              <a:srgbClr val="888887"/>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77476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1FDAF-DA5B-E48F-61FF-78B6E191EA19}"/>
              </a:ext>
            </a:extLst>
          </p:cNvPr>
          <p:cNvSpPr>
            <a:spLocks noGrp="1"/>
          </p:cNvSpPr>
          <p:nvPr>
            <p:ph type="title"/>
          </p:nvPr>
        </p:nvSpPr>
        <p:spPr/>
        <p:txBody>
          <a:bodyPr/>
          <a:lstStyle/>
          <a:p>
            <a:r>
              <a:rPr lang="en-US" dirty="0"/>
              <a:t>Procedures</a:t>
            </a:r>
          </a:p>
        </p:txBody>
      </p:sp>
      <p:sp>
        <p:nvSpPr>
          <p:cNvPr id="3" name="Content Placeholder 2">
            <a:extLst>
              <a:ext uri="{FF2B5EF4-FFF2-40B4-BE49-F238E27FC236}">
                <a16:creationId xmlns:a16="http://schemas.microsoft.com/office/drawing/2014/main" id="{12CB3DE0-29E3-7A79-00DE-91F53A35ED8A}"/>
              </a:ext>
            </a:extLst>
          </p:cNvPr>
          <p:cNvSpPr>
            <a:spLocks noGrp="1"/>
          </p:cNvSpPr>
          <p:nvPr>
            <p:ph idx="1"/>
          </p:nvPr>
        </p:nvSpPr>
        <p:spPr>
          <a:xfrm>
            <a:off x="1104293" y="1635668"/>
            <a:ext cx="8946541" cy="4195481"/>
          </a:xfrm>
        </p:spPr>
        <p:txBody>
          <a:bodyPr/>
          <a:lstStyle/>
          <a:p>
            <a:r>
              <a:rPr lang="en-US" dirty="0"/>
              <a:t>Procedure use </a:t>
            </a:r>
            <a:r>
              <a:rPr lang="en-US" dirty="0">
                <a:solidFill>
                  <a:schemeClr val="accent1">
                    <a:lumMod val="60000"/>
                    <a:lumOff val="40000"/>
                  </a:schemeClr>
                </a:solidFill>
              </a:rPr>
              <a:t>CALL</a:t>
            </a:r>
            <a:r>
              <a:rPr lang="en-US" dirty="0"/>
              <a:t> and </a:t>
            </a:r>
            <a:r>
              <a:rPr lang="en-US" dirty="0">
                <a:solidFill>
                  <a:schemeClr val="accent1">
                    <a:lumMod val="60000"/>
                    <a:lumOff val="40000"/>
                  </a:schemeClr>
                </a:solidFill>
              </a:rPr>
              <a:t>RET</a:t>
            </a:r>
          </a:p>
          <a:p>
            <a:r>
              <a:rPr lang="en-US" dirty="0"/>
              <a:t>Procedure change </a:t>
            </a:r>
            <a:r>
              <a:rPr lang="en-US" dirty="0">
                <a:solidFill>
                  <a:schemeClr val="accent1">
                    <a:lumMod val="60000"/>
                    <a:lumOff val="40000"/>
                  </a:schemeClr>
                </a:solidFill>
              </a:rPr>
              <a:t>IP (Instruction pointer)</a:t>
            </a:r>
          </a:p>
          <a:p>
            <a:r>
              <a:rPr lang="en-US" dirty="0"/>
              <a:t>Procedures take no variables but use </a:t>
            </a:r>
            <a:r>
              <a:rPr lang="en-US" dirty="0">
                <a:solidFill>
                  <a:schemeClr val="accent1">
                    <a:lumMod val="60000"/>
                    <a:lumOff val="40000"/>
                  </a:schemeClr>
                </a:solidFill>
              </a:rPr>
              <a:t>Stack</a:t>
            </a:r>
            <a:r>
              <a:rPr lang="en-US" dirty="0"/>
              <a:t> to pass data</a:t>
            </a:r>
          </a:p>
          <a:p>
            <a:pPr marL="0" indent="0">
              <a:buNone/>
            </a:pPr>
            <a:endParaRPr lang="en-US" dirty="0"/>
          </a:p>
          <a:p>
            <a:endParaRPr lang="en-US" dirty="0">
              <a:solidFill>
                <a:schemeClr val="accent1">
                  <a:lumMod val="60000"/>
                  <a:lumOff val="40000"/>
                </a:schemeClr>
              </a:solidFill>
            </a:endParaRPr>
          </a:p>
        </p:txBody>
      </p:sp>
      <p:pic>
        <p:nvPicPr>
          <p:cNvPr id="5" name="Picture 4" descr="A close-up of a label&#10;&#10;Description automatically generated">
            <a:extLst>
              <a:ext uri="{FF2B5EF4-FFF2-40B4-BE49-F238E27FC236}">
                <a16:creationId xmlns:a16="http://schemas.microsoft.com/office/drawing/2014/main" id="{79C71150-28EB-EE27-C025-CCC671255F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13715" y="3429000"/>
            <a:ext cx="3333750" cy="2095500"/>
          </a:xfrm>
          <a:prstGeom prst="rect">
            <a:avLst/>
          </a:prstGeom>
        </p:spPr>
      </p:pic>
    </p:spTree>
    <p:extLst>
      <p:ext uri="{BB962C8B-B14F-4D97-AF65-F5344CB8AC3E}">
        <p14:creationId xmlns:p14="http://schemas.microsoft.com/office/powerpoint/2010/main" val="39585367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233F3E-CA2F-9029-8D46-D2505F00859B}"/>
              </a:ext>
            </a:extLst>
          </p:cNvPr>
          <p:cNvSpPr>
            <a:spLocks noGrp="1"/>
          </p:cNvSpPr>
          <p:nvPr>
            <p:ph type="title"/>
          </p:nvPr>
        </p:nvSpPr>
        <p:spPr/>
        <p:txBody>
          <a:bodyPr/>
          <a:lstStyle/>
          <a:p>
            <a:r>
              <a:rPr lang="en-US" dirty="0"/>
              <a:t>CALL &amp; RET</a:t>
            </a:r>
          </a:p>
        </p:txBody>
      </p:sp>
      <p:sp>
        <p:nvSpPr>
          <p:cNvPr id="3" name="Content Placeholder 2">
            <a:extLst>
              <a:ext uri="{FF2B5EF4-FFF2-40B4-BE49-F238E27FC236}">
                <a16:creationId xmlns:a16="http://schemas.microsoft.com/office/drawing/2014/main" id="{1535D48A-A11D-A54C-8D1C-0A6CAFB3CEDC}"/>
              </a:ext>
            </a:extLst>
          </p:cNvPr>
          <p:cNvSpPr>
            <a:spLocks noGrp="1"/>
          </p:cNvSpPr>
          <p:nvPr>
            <p:ph idx="1"/>
          </p:nvPr>
        </p:nvSpPr>
        <p:spPr>
          <a:xfrm>
            <a:off x="1005658" y="1609035"/>
            <a:ext cx="8946541" cy="4195481"/>
          </a:xfrm>
        </p:spPr>
        <p:txBody>
          <a:bodyPr/>
          <a:lstStyle/>
          <a:p>
            <a:r>
              <a:rPr lang="en-US" dirty="0">
                <a:solidFill>
                  <a:schemeClr val="accent1">
                    <a:lumMod val="60000"/>
                    <a:lumOff val="40000"/>
                  </a:schemeClr>
                </a:solidFill>
              </a:rPr>
              <a:t>CALL</a:t>
            </a:r>
            <a:r>
              <a:rPr lang="en-US" dirty="0"/>
              <a:t> Pushes </a:t>
            </a:r>
            <a:r>
              <a:rPr lang="en-US" dirty="0">
                <a:solidFill>
                  <a:schemeClr val="accent1">
                    <a:lumMod val="60000"/>
                    <a:lumOff val="40000"/>
                  </a:schemeClr>
                </a:solidFill>
              </a:rPr>
              <a:t>IP</a:t>
            </a:r>
            <a:r>
              <a:rPr lang="en-US" dirty="0"/>
              <a:t> (holding next instruction address) to </a:t>
            </a:r>
            <a:r>
              <a:rPr lang="en-US" dirty="0">
                <a:solidFill>
                  <a:schemeClr val="accent1">
                    <a:lumMod val="60000"/>
                    <a:lumOff val="40000"/>
                  </a:schemeClr>
                </a:solidFill>
              </a:rPr>
              <a:t>Stack</a:t>
            </a:r>
            <a:r>
              <a:rPr lang="en-US" dirty="0"/>
              <a:t> </a:t>
            </a:r>
            <a:br>
              <a:rPr lang="en-US" dirty="0"/>
            </a:br>
            <a:r>
              <a:rPr lang="en-US" dirty="0"/>
              <a:t>then sets </a:t>
            </a:r>
            <a:r>
              <a:rPr lang="en-US" dirty="0">
                <a:solidFill>
                  <a:schemeClr val="accent1">
                    <a:lumMod val="60000"/>
                    <a:lumOff val="40000"/>
                  </a:schemeClr>
                </a:solidFill>
              </a:rPr>
              <a:t>Procedure’s</a:t>
            </a:r>
            <a:r>
              <a:rPr lang="en-US" dirty="0"/>
              <a:t> address in IP</a:t>
            </a:r>
          </a:p>
          <a:p>
            <a:r>
              <a:rPr lang="en-US" dirty="0">
                <a:solidFill>
                  <a:schemeClr val="accent1">
                    <a:lumMod val="60000"/>
                    <a:lumOff val="40000"/>
                  </a:schemeClr>
                </a:solidFill>
              </a:rPr>
              <a:t>RET</a:t>
            </a:r>
            <a:r>
              <a:rPr lang="en-US" dirty="0"/>
              <a:t> reverses </a:t>
            </a:r>
            <a:r>
              <a:rPr lang="en-US" dirty="0">
                <a:solidFill>
                  <a:schemeClr val="accent1">
                    <a:lumMod val="60000"/>
                    <a:lumOff val="40000"/>
                  </a:schemeClr>
                </a:solidFill>
              </a:rPr>
              <a:t>CALL</a:t>
            </a:r>
            <a:r>
              <a:rPr lang="en-US" dirty="0"/>
              <a:t> action: Pops </a:t>
            </a:r>
            <a:r>
              <a:rPr lang="en-US" dirty="0">
                <a:solidFill>
                  <a:schemeClr val="accent1">
                    <a:lumMod val="60000"/>
                    <a:lumOff val="40000"/>
                  </a:schemeClr>
                </a:solidFill>
              </a:rPr>
              <a:t>IP</a:t>
            </a:r>
            <a:r>
              <a:rPr lang="en-US" dirty="0"/>
              <a:t> from </a:t>
            </a:r>
            <a:r>
              <a:rPr lang="en-US" dirty="0">
                <a:solidFill>
                  <a:schemeClr val="accent1">
                    <a:lumMod val="60000"/>
                    <a:lumOff val="40000"/>
                  </a:schemeClr>
                </a:solidFill>
              </a:rPr>
              <a:t>Stack</a:t>
            </a:r>
          </a:p>
          <a:p>
            <a:r>
              <a:rPr lang="en-US" dirty="0">
                <a:solidFill>
                  <a:schemeClr val="accent1">
                    <a:lumMod val="60000"/>
                    <a:lumOff val="40000"/>
                  </a:schemeClr>
                </a:solidFill>
              </a:rPr>
              <a:t>NEAR</a:t>
            </a:r>
            <a:r>
              <a:rPr lang="en-US" dirty="0"/>
              <a:t> and </a:t>
            </a:r>
            <a:r>
              <a:rPr lang="en-US" dirty="0">
                <a:solidFill>
                  <a:schemeClr val="accent1">
                    <a:lumMod val="60000"/>
                    <a:lumOff val="40000"/>
                  </a:schemeClr>
                </a:solidFill>
              </a:rPr>
              <a:t>FAR</a:t>
            </a:r>
            <a:r>
              <a:rPr lang="en-US" dirty="0"/>
              <a:t>:</a:t>
            </a:r>
          </a:p>
          <a:p>
            <a:pPr lvl="1"/>
            <a:r>
              <a:rPr lang="en-US" sz="2000" dirty="0"/>
              <a:t>If procedure is defined as </a:t>
            </a:r>
            <a:r>
              <a:rPr lang="en-US" sz="2000" dirty="0">
                <a:solidFill>
                  <a:schemeClr val="accent1">
                    <a:lumMod val="60000"/>
                    <a:lumOff val="40000"/>
                  </a:schemeClr>
                </a:solidFill>
              </a:rPr>
              <a:t>NEAR</a:t>
            </a:r>
            <a:r>
              <a:rPr lang="en-US" sz="2000" dirty="0"/>
              <a:t>:</a:t>
            </a:r>
          </a:p>
          <a:p>
            <a:pPr lvl="2"/>
            <a:r>
              <a:rPr lang="en-US" sz="2000" dirty="0"/>
              <a:t>Only </a:t>
            </a:r>
            <a:r>
              <a:rPr lang="en-US" sz="2000" dirty="0">
                <a:solidFill>
                  <a:schemeClr val="accent1">
                    <a:lumMod val="60000"/>
                    <a:lumOff val="40000"/>
                  </a:schemeClr>
                </a:solidFill>
              </a:rPr>
              <a:t>IP</a:t>
            </a:r>
            <a:r>
              <a:rPr lang="en-US" sz="2000" dirty="0"/>
              <a:t> is pushed and popped from Stack (in </a:t>
            </a:r>
            <a:r>
              <a:rPr lang="en-US" sz="2000" dirty="0">
                <a:solidFill>
                  <a:schemeClr val="accent1">
                    <a:lumMod val="60000"/>
                    <a:lumOff val="40000"/>
                  </a:schemeClr>
                </a:solidFill>
              </a:rPr>
              <a:t>CALL</a:t>
            </a:r>
            <a:r>
              <a:rPr lang="en-US" sz="2000" dirty="0"/>
              <a:t> &amp; </a:t>
            </a:r>
            <a:r>
              <a:rPr lang="en-US" sz="2000" dirty="0">
                <a:solidFill>
                  <a:schemeClr val="accent1">
                    <a:lumMod val="60000"/>
                    <a:lumOff val="40000"/>
                  </a:schemeClr>
                </a:solidFill>
              </a:rPr>
              <a:t>RET</a:t>
            </a:r>
            <a:r>
              <a:rPr lang="en-US" sz="2000" dirty="0"/>
              <a:t>)</a:t>
            </a:r>
          </a:p>
          <a:p>
            <a:pPr lvl="1"/>
            <a:r>
              <a:rPr lang="en-US" sz="2000" dirty="0"/>
              <a:t>If procedure is defined as </a:t>
            </a:r>
            <a:r>
              <a:rPr lang="en-US" sz="2000" dirty="0">
                <a:solidFill>
                  <a:schemeClr val="accent1">
                    <a:lumMod val="60000"/>
                    <a:lumOff val="40000"/>
                  </a:schemeClr>
                </a:solidFill>
              </a:rPr>
              <a:t>FAR</a:t>
            </a:r>
            <a:r>
              <a:rPr lang="en-US" sz="2000" dirty="0"/>
              <a:t>:</a:t>
            </a:r>
          </a:p>
          <a:p>
            <a:pPr lvl="2"/>
            <a:r>
              <a:rPr lang="en-US" sz="2000" dirty="0">
                <a:solidFill>
                  <a:schemeClr val="accent1">
                    <a:lumMod val="60000"/>
                    <a:lumOff val="40000"/>
                  </a:schemeClr>
                </a:solidFill>
              </a:rPr>
              <a:t>CS</a:t>
            </a:r>
            <a:r>
              <a:rPr lang="en-US" sz="2000" dirty="0"/>
              <a:t> is pushed and popped with </a:t>
            </a:r>
            <a:r>
              <a:rPr lang="en-US" sz="2000" dirty="0">
                <a:solidFill>
                  <a:schemeClr val="accent1">
                    <a:lumMod val="60000"/>
                    <a:lumOff val="40000"/>
                  </a:schemeClr>
                </a:solidFill>
              </a:rPr>
              <a:t>IP</a:t>
            </a:r>
            <a:r>
              <a:rPr lang="en-US" sz="2000" dirty="0"/>
              <a:t> from Stack (in </a:t>
            </a:r>
            <a:r>
              <a:rPr lang="en-US" sz="2000" dirty="0">
                <a:solidFill>
                  <a:schemeClr val="accent1">
                    <a:lumMod val="60000"/>
                    <a:lumOff val="40000"/>
                  </a:schemeClr>
                </a:solidFill>
              </a:rPr>
              <a:t>CALL</a:t>
            </a:r>
            <a:r>
              <a:rPr lang="en-US" sz="2000" dirty="0"/>
              <a:t> &amp; </a:t>
            </a:r>
            <a:r>
              <a:rPr lang="en-US" sz="2000" dirty="0">
                <a:solidFill>
                  <a:schemeClr val="accent1">
                    <a:lumMod val="60000"/>
                    <a:lumOff val="40000"/>
                  </a:schemeClr>
                </a:solidFill>
              </a:rPr>
              <a:t>RET</a:t>
            </a:r>
            <a:r>
              <a:rPr lang="en-US" sz="2000" dirty="0"/>
              <a:t>)</a:t>
            </a:r>
          </a:p>
          <a:p>
            <a:r>
              <a:rPr lang="en-US" sz="2400" dirty="0"/>
              <a:t>In some assemblers, procedures are </a:t>
            </a:r>
            <a:r>
              <a:rPr lang="en-US" sz="2400" dirty="0">
                <a:solidFill>
                  <a:schemeClr val="accent1">
                    <a:lumMod val="60000"/>
                    <a:lumOff val="40000"/>
                  </a:schemeClr>
                </a:solidFill>
              </a:rPr>
              <a:t>NEAR</a:t>
            </a:r>
            <a:r>
              <a:rPr lang="en-US" sz="2400" dirty="0"/>
              <a:t> unless </a:t>
            </a:r>
            <a:r>
              <a:rPr lang="en-US" sz="2400" dirty="0">
                <a:solidFill>
                  <a:schemeClr val="accent1">
                    <a:lumMod val="60000"/>
                    <a:lumOff val="40000"/>
                  </a:schemeClr>
                </a:solidFill>
              </a:rPr>
              <a:t>FAR</a:t>
            </a:r>
            <a:r>
              <a:rPr lang="en-US" sz="2400" dirty="0"/>
              <a:t> word is used</a:t>
            </a:r>
          </a:p>
        </p:txBody>
      </p:sp>
    </p:spTree>
    <p:extLst>
      <p:ext uri="{BB962C8B-B14F-4D97-AF65-F5344CB8AC3E}">
        <p14:creationId xmlns:p14="http://schemas.microsoft.com/office/powerpoint/2010/main" val="38242484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5B56B-948E-FE05-A3FA-A5E92C365F2A}"/>
              </a:ext>
            </a:extLst>
          </p:cNvPr>
          <p:cNvSpPr>
            <a:spLocks noGrp="1"/>
          </p:cNvSpPr>
          <p:nvPr>
            <p:ph type="title"/>
          </p:nvPr>
        </p:nvSpPr>
        <p:spPr/>
        <p:txBody>
          <a:bodyPr/>
          <a:lstStyle/>
          <a:p>
            <a:r>
              <a:rPr lang="en-US" dirty="0"/>
              <a:t>Problem 1</a:t>
            </a:r>
          </a:p>
        </p:txBody>
      </p:sp>
      <p:sp>
        <p:nvSpPr>
          <p:cNvPr id="3" name="Content Placeholder 2">
            <a:extLst>
              <a:ext uri="{FF2B5EF4-FFF2-40B4-BE49-F238E27FC236}">
                <a16:creationId xmlns:a16="http://schemas.microsoft.com/office/drawing/2014/main" id="{AEA927DB-D089-DE20-5331-6C769EB44F70}"/>
              </a:ext>
            </a:extLst>
          </p:cNvPr>
          <p:cNvSpPr>
            <a:spLocks noGrp="1"/>
          </p:cNvSpPr>
          <p:nvPr>
            <p:ph idx="1"/>
          </p:nvPr>
        </p:nvSpPr>
        <p:spPr>
          <a:xfrm>
            <a:off x="1104293" y="1493625"/>
            <a:ext cx="8946541" cy="4195481"/>
          </a:xfrm>
        </p:spPr>
        <p:txBody>
          <a:bodyPr>
            <a:normAutofit/>
          </a:bodyPr>
          <a:lstStyle/>
          <a:p>
            <a:pPr marL="0" marR="0" lvl="0" indent="0" rtl="0">
              <a:spcBef>
                <a:spcPts val="0"/>
              </a:spcBef>
              <a:spcAft>
                <a:spcPts val="0"/>
              </a:spcAft>
              <a:buNone/>
            </a:pPr>
            <a:r>
              <a:rPr lang="en-US" sz="2400" dirty="0">
                <a:effectLst/>
                <a:latin typeface="Times New Roman" panose="02020603050405020304" pitchFamily="18" charset="0"/>
                <a:ea typeface="Times New Roman" panose="02020603050405020304" pitchFamily="18" charset="0"/>
              </a:rPr>
              <a:t>Write a program that adds the following two multiword numbers and save the result using one-word transfer at a time:</a:t>
            </a:r>
            <a:br>
              <a:rPr lang="en-US" sz="2400" dirty="0">
                <a:effectLst/>
                <a:latin typeface="Times New Roman" panose="02020603050405020304" pitchFamily="18" charset="0"/>
                <a:ea typeface="Times New Roman" panose="02020603050405020304" pitchFamily="18" charset="0"/>
              </a:rPr>
            </a:br>
            <a:r>
              <a:rPr lang="en-US" sz="2400" dirty="0">
                <a:effectLst/>
                <a:latin typeface="Times New Roman" panose="02020603050405020304" pitchFamily="18" charset="0"/>
                <a:ea typeface="Times New Roman" panose="02020603050405020304" pitchFamily="18" charset="0"/>
              </a:rPr>
              <a:t>	</a:t>
            </a:r>
          </a:p>
          <a:p>
            <a:pPr marL="0" marR="0" lvl="0" indent="0" rtl="0">
              <a:spcBef>
                <a:spcPts val="0"/>
              </a:spcBef>
              <a:spcAft>
                <a:spcPts val="0"/>
              </a:spcAft>
              <a:buNone/>
            </a:pPr>
            <a:r>
              <a:rPr lang="en-US" sz="2400" dirty="0">
                <a:latin typeface="Times New Roman" panose="02020603050405020304" pitchFamily="18" charset="0"/>
                <a:ea typeface="Times New Roman" panose="02020603050405020304" pitchFamily="18" charset="0"/>
              </a:rPr>
              <a:t>	</a:t>
            </a:r>
            <a:r>
              <a:rPr lang="en-US" sz="2400" dirty="0">
                <a:solidFill>
                  <a:schemeClr val="accent1">
                    <a:lumMod val="60000"/>
                    <a:lumOff val="40000"/>
                  </a:schemeClr>
                </a:solidFill>
                <a:effectLst/>
                <a:latin typeface="Times New Roman" panose="02020603050405020304" pitchFamily="18" charset="0"/>
                <a:ea typeface="Times New Roman" panose="02020603050405020304" pitchFamily="18" charset="0"/>
              </a:rPr>
              <a:t>DATA1</a:t>
            </a:r>
            <a:r>
              <a:rPr lang="en-US" sz="2400" dirty="0">
                <a:effectLst/>
                <a:latin typeface="Times New Roman" panose="02020603050405020304" pitchFamily="18" charset="0"/>
                <a:ea typeface="Times New Roman" panose="02020603050405020304" pitchFamily="18" charset="0"/>
              </a:rPr>
              <a:t> = 5463F8A8D37EH 	</a:t>
            </a:r>
          </a:p>
          <a:p>
            <a:pPr marL="0" marR="0" lvl="0" indent="0" rtl="0">
              <a:spcBef>
                <a:spcPts val="0"/>
              </a:spcBef>
              <a:spcAft>
                <a:spcPts val="0"/>
              </a:spcAft>
              <a:buNone/>
            </a:pPr>
            <a:endParaRPr lang="en-US" sz="2400" dirty="0">
              <a:effectLst/>
              <a:latin typeface="Times New Roman" panose="02020603050405020304" pitchFamily="18" charset="0"/>
              <a:ea typeface="Times New Roman" panose="02020603050405020304" pitchFamily="18" charset="0"/>
            </a:endParaRPr>
          </a:p>
          <a:p>
            <a:pPr marL="0" marR="0" lvl="0" indent="0" rtl="0">
              <a:spcBef>
                <a:spcPts val="0"/>
              </a:spcBef>
              <a:spcAft>
                <a:spcPts val="0"/>
              </a:spcAft>
              <a:buNone/>
            </a:pPr>
            <a:r>
              <a:rPr lang="en-US" sz="2400" dirty="0">
                <a:effectLst/>
                <a:latin typeface="Times New Roman" panose="02020603050405020304" pitchFamily="18" charset="0"/>
                <a:ea typeface="Times New Roman" panose="02020603050405020304" pitchFamily="18" charset="0"/>
              </a:rPr>
              <a:t>	</a:t>
            </a:r>
            <a:r>
              <a:rPr lang="en-US" sz="2400" dirty="0">
                <a:solidFill>
                  <a:schemeClr val="accent1">
                    <a:lumMod val="60000"/>
                    <a:lumOff val="40000"/>
                  </a:schemeClr>
                </a:solidFill>
                <a:effectLst/>
                <a:latin typeface="Times New Roman" panose="02020603050405020304" pitchFamily="18" charset="0"/>
                <a:ea typeface="Times New Roman" panose="02020603050405020304" pitchFamily="18" charset="0"/>
              </a:rPr>
              <a:t>DATA2</a:t>
            </a:r>
            <a:r>
              <a:rPr lang="en-US" sz="2400" dirty="0">
                <a:effectLst/>
                <a:latin typeface="Times New Roman" panose="02020603050405020304" pitchFamily="18" charset="0"/>
                <a:ea typeface="Times New Roman" panose="02020603050405020304" pitchFamily="18" charset="0"/>
              </a:rPr>
              <a:t> = 87DE340892C2H</a:t>
            </a:r>
            <a:endParaRPr lang="en-US" sz="2400" dirty="0">
              <a:effectLst/>
              <a:latin typeface="Courier New" panose="02070309020205020404" pitchFamily="49" charset="0"/>
              <a:ea typeface="Times New Roman" panose="02020603050405020304" pitchFamily="18" charset="0"/>
            </a:endParaRPr>
          </a:p>
          <a:p>
            <a:endParaRPr lang="en-US" sz="2800" dirty="0"/>
          </a:p>
        </p:txBody>
      </p:sp>
      <p:sp>
        <p:nvSpPr>
          <p:cNvPr id="4" name="Rectangle 3">
            <a:extLst>
              <a:ext uri="{FF2B5EF4-FFF2-40B4-BE49-F238E27FC236}">
                <a16:creationId xmlns:a16="http://schemas.microsoft.com/office/drawing/2014/main" id="{4AB02092-EFF0-4A1D-B237-4922348EB938}"/>
              </a:ext>
            </a:extLst>
          </p:cNvPr>
          <p:cNvSpPr/>
          <p:nvPr/>
        </p:nvSpPr>
        <p:spPr>
          <a:xfrm>
            <a:off x="6711518" y="3994951"/>
            <a:ext cx="2175030" cy="6658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Code</a:t>
            </a:r>
          </a:p>
        </p:txBody>
      </p:sp>
    </p:spTree>
    <p:extLst>
      <p:ext uri="{BB962C8B-B14F-4D97-AF65-F5344CB8AC3E}">
        <p14:creationId xmlns:p14="http://schemas.microsoft.com/office/powerpoint/2010/main" val="1575998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5B56B-948E-FE05-A3FA-A5E92C365F2A}"/>
              </a:ext>
            </a:extLst>
          </p:cNvPr>
          <p:cNvSpPr>
            <a:spLocks noGrp="1"/>
          </p:cNvSpPr>
          <p:nvPr>
            <p:ph type="title"/>
          </p:nvPr>
        </p:nvSpPr>
        <p:spPr/>
        <p:txBody>
          <a:bodyPr/>
          <a:lstStyle/>
          <a:p>
            <a:r>
              <a:rPr lang="en-US" dirty="0"/>
              <a:t>Problem 2</a:t>
            </a:r>
          </a:p>
        </p:txBody>
      </p:sp>
      <p:sp>
        <p:nvSpPr>
          <p:cNvPr id="3" name="Content Placeholder 2">
            <a:extLst>
              <a:ext uri="{FF2B5EF4-FFF2-40B4-BE49-F238E27FC236}">
                <a16:creationId xmlns:a16="http://schemas.microsoft.com/office/drawing/2014/main" id="{AEA927DB-D089-DE20-5331-6C769EB44F70}"/>
              </a:ext>
            </a:extLst>
          </p:cNvPr>
          <p:cNvSpPr>
            <a:spLocks noGrp="1"/>
          </p:cNvSpPr>
          <p:nvPr>
            <p:ph idx="1"/>
          </p:nvPr>
        </p:nvSpPr>
        <p:spPr>
          <a:xfrm>
            <a:off x="1104293" y="1493625"/>
            <a:ext cx="8946541" cy="974367"/>
          </a:xfrm>
        </p:spPr>
        <p:txBody>
          <a:bodyPr>
            <a:normAutofit/>
          </a:bodyPr>
          <a:lstStyle/>
          <a:p>
            <a:pPr marL="0" marR="0" lvl="0" indent="0" rtl="0">
              <a:spcBef>
                <a:spcPts val="0"/>
              </a:spcBef>
              <a:spcAft>
                <a:spcPts val="0"/>
              </a:spcAft>
              <a:buNone/>
            </a:pPr>
            <a:r>
              <a:rPr lang="en-US" sz="2400" dirty="0">
                <a:effectLst/>
                <a:latin typeface="Times New Roman" panose="02020603050405020304" pitchFamily="18" charset="0"/>
                <a:ea typeface="Times New Roman" panose="02020603050405020304" pitchFamily="18" charset="0"/>
              </a:rPr>
              <a:t>Repeat the previous program to subtract the two multiword numbers and saves the result. Subtraction should be done a byte at a time.</a:t>
            </a:r>
            <a:endParaRPr lang="en-US" sz="1600" dirty="0">
              <a:effectLst/>
              <a:latin typeface="Courier New" panose="02070309020205020404" pitchFamily="49" charset="0"/>
              <a:ea typeface="Times New Roman" panose="02020603050405020304" pitchFamily="18" charset="0"/>
            </a:endParaRPr>
          </a:p>
        </p:txBody>
      </p:sp>
      <p:sp>
        <p:nvSpPr>
          <p:cNvPr id="5" name="TextBox 4">
            <a:extLst>
              <a:ext uri="{FF2B5EF4-FFF2-40B4-BE49-F238E27FC236}">
                <a16:creationId xmlns:a16="http://schemas.microsoft.com/office/drawing/2014/main" id="{EC30E853-631A-11DA-4F6B-E79B2FCC7ADE}"/>
              </a:ext>
            </a:extLst>
          </p:cNvPr>
          <p:cNvSpPr txBox="1"/>
          <p:nvPr/>
        </p:nvSpPr>
        <p:spPr>
          <a:xfrm>
            <a:off x="1724653" y="2780511"/>
            <a:ext cx="7323094" cy="461665"/>
          </a:xfrm>
          <a:prstGeom prst="rect">
            <a:avLst/>
          </a:prstGeom>
          <a:noFill/>
        </p:spPr>
        <p:txBody>
          <a:bodyPr wrap="square" rtlCol="0">
            <a:spAutoFit/>
          </a:bodyPr>
          <a:lstStyle/>
          <a:p>
            <a:pPr>
              <a:buClr>
                <a:schemeClr val="bg2">
                  <a:lumMod val="40000"/>
                  <a:lumOff val="60000"/>
                </a:schemeClr>
              </a:buClr>
              <a:buSzPct val="80000"/>
            </a:pPr>
            <a:r>
              <a:rPr lang="en-US" sz="2400" dirty="0">
                <a:solidFill>
                  <a:schemeClr val="accent3">
                    <a:lumMod val="60000"/>
                    <a:lumOff val="40000"/>
                  </a:schemeClr>
                </a:solidFill>
                <a:latin typeface="Times New Roman" panose="02020603050405020304" pitchFamily="18" charset="0"/>
                <a:ea typeface="Times New Roman" panose="02020603050405020304" pitchFamily="18" charset="0"/>
                <a:cs typeface="+mj-cs"/>
              </a:rPr>
              <a:t>Same as Problem 1 but with SBB and byte by byte</a:t>
            </a:r>
          </a:p>
        </p:txBody>
      </p:sp>
    </p:spTree>
    <p:extLst>
      <p:ext uri="{BB962C8B-B14F-4D97-AF65-F5344CB8AC3E}">
        <p14:creationId xmlns:p14="http://schemas.microsoft.com/office/powerpoint/2010/main" val="533176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5B56B-948E-FE05-A3FA-A5E92C365F2A}"/>
              </a:ext>
            </a:extLst>
          </p:cNvPr>
          <p:cNvSpPr>
            <a:spLocks noGrp="1"/>
          </p:cNvSpPr>
          <p:nvPr>
            <p:ph type="title"/>
          </p:nvPr>
        </p:nvSpPr>
        <p:spPr/>
        <p:txBody>
          <a:bodyPr/>
          <a:lstStyle/>
          <a:p>
            <a:r>
              <a:rPr lang="en-US" dirty="0"/>
              <a:t>Problem 3</a:t>
            </a:r>
          </a:p>
        </p:txBody>
      </p:sp>
      <p:sp>
        <p:nvSpPr>
          <p:cNvPr id="3" name="Content Placeholder 2">
            <a:extLst>
              <a:ext uri="{FF2B5EF4-FFF2-40B4-BE49-F238E27FC236}">
                <a16:creationId xmlns:a16="http://schemas.microsoft.com/office/drawing/2014/main" id="{AEA927DB-D089-DE20-5331-6C769EB44F70}"/>
              </a:ext>
            </a:extLst>
          </p:cNvPr>
          <p:cNvSpPr>
            <a:spLocks noGrp="1"/>
          </p:cNvSpPr>
          <p:nvPr>
            <p:ph idx="1"/>
          </p:nvPr>
        </p:nvSpPr>
        <p:spPr>
          <a:xfrm>
            <a:off x="1104293" y="1493625"/>
            <a:ext cx="8946541" cy="4195481"/>
          </a:xfrm>
        </p:spPr>
        <p:txBody>
          <a:bodyPr>
            <a:normAutofit/>
          </a:bodyPr>
          <a:lstStyle/>
          <a:p>
            <a:pPr marL="0" marR="0" lvl="0" indent="0" rtl="0">
              <a:spcBef>
                <a:spcPts val="0"/>
              </a:spcBef>
              <a:spcAft>
                <a:spcPts val="0"/>
              </a:spcAft>
              <a:buNone/>
            </a:pPr>
            <a:r>
              <a:rPr lang="en-US" sz="2400" dirty="0">
                <a:effectLst/>
                <a:latin typeface="Times New Roman" panose="02020603050405020304" pitchFamily="18" charset="0"/>
                <a:ea typeface="Times New Roman" panose="02020603050405020304" pitchFamily="18" charset="0"/>
              </a:rPr>
              <a:t>In some applications it is a common practice to save all registers at the beginning of a subroutine. Assume that </a:t>
            </a:r>
            <a:r>
              <a:rPr lang="en-US" sz="2400" dirty="0">
                <a:solidFill>
                  <a:schemeClr val="accent1">
                    <a:lumMod val="60000"/>
                    <a:lumOff val="40000"/>
                  </a:schemeClr>
                </a:solidFill>
                <a:effectLst/>
                <a:latin typeface="Times New Roman" panose="02020603050405020304" pitchFamily="18" charset="0"/>
                <a:ea typeface="Times New Roman" panose="02020603050405020304" pitchFamily="18" charset="0"/>
              </a:rPr>
              <a:t>SP = 1288H</a:t>
            </a:r>
            <a:r>
              <a:rPr lang="en-US" sz="2400" dirty="0">
                <a:effectLst/>
                <a:latin typeface="Times New Roman" panose="02020603050405020304" pitchFamily="18" charset="0"/>
                <a:ea typeface="Times New Roman" panose="02020603050405020304" pitchFamily="18" charset="0"/>
              </a:rPr>
              <a:t> before a subroutine CALL.  For the following code:</a:t>
            </a:r>
          </a:p>
          <a:p>
            <a:pPr marL="0" marR="0" lvl="0" indent="0" rtl="0">
              <a:spcBef>
                <a:spcPts val="0"/>
              </a:spcBef>
              <a:spcAft>
                <a:spcPts val="0"/>
              </a:spcAft>
              <a:buNone/>
            </a:pPr>
            <a:endParaRPr lang="en-US" sz="2400" dirty="0">
              <a:latin typeface="Times New Roman" panose="02020603050405020304" pitchFamily="18" charset="0"/>
              <a:ea typeface="Times New Roman" panose="02020603050405020304" pitchFamily="18" charset="0"/>
            </a:endParaRPr>
          </a:p>
          <a:p>
            <a:pPr marR="0" lvl="0" rtl="0">
              <a:spcBef>
                <a:spcPts val="0"/>
              </a:spcBef>
              <a:spcAft>
                <a:spcPts val="0"/>
              </a:spcAft>
              <a:buFont typeface="+mj-lt"/>
              <a:buAutoNum type="alphaLcParenR"/>
            </a:pPr>
            <a:r>
              <a:rPr lang="en-US" sz="2400" dirty="0">
                <a:effectLst/>
                <a:latin typeface="Times New Roman" panose="02020603050405020304" pitchFamily="18" charset="0"/>
                <a:ea typeface="Times New Roman" panose="02020603050405020304" pitchFamily="18" charset="0"/>
              </a:rPr>
              <a:t>Show the contents of the stack pointer and </a:t>
            </a:r>
            <a:br>
              <a:rPr lang="en-US" sz="2400" dirty="0">
                <a:effectLst/>
                <a:latin typeface="Times New Roman" panose="02020603050405020304" pitchFamily="18" charset="0"/>
                <a:ea typeface="Times New Roman" panose="02020603050405020304" pitchFamily="18" charset="0"/>
              </a:rPr>
            </a:br>
            <a:r>
              <a:rPr lang="en-US" sz="2400" dirty="0">
                <a:effectLst/>
                <a:latin typeface="Times New Roman" panose="02020603050405020304" pitchFamily="18" charset="0"/>
                <a:ea typeface="Times New Roman" panose="02020603050405020304" pitchFamily="18" charset="0"/>
              </a:rPr>
              <a:t>the exact memory contents of the stack </a:t>
            </a:r>
            <a:br>
              <a:rPr lang="en-US" sz="2400" dirty="0">
                <a:effectLst/>
                <a:latin typeface="Times New Roman" panose="02020603050405020304" pitchFamily="18" charset="0"/>
                <a:ea typeface="Times New Roman" panose="02020603050405020304" pitchFamily="18" charset="0"/>
              </a:rPr>
            </a:br>
            <a:r>
              <a:rPr lang="en-US" sz="2400" dirty="0">
                <a:effectLst/>
                <a:latin typeface="Times New Roman" panose="02020603050405020304" pitchFamily="18" charset="0"/>
                <a:ea typeface="Times New Roman" panose="02020603050405020304" pitchFamily="18" charset="0"/>
              </a:rPr>
              <a:t>after PUSHF</a:t>
            </a:r>
            <a:endParaRPr lang="en-US" sz="3200" dirty="0">
              <a:effectLst/>
              <a:latin typeface="Times New Roman" panose="02020603050405020304" pitchFamily="18" charset="0"/>
              <a:ea typeface="Times New Roman" panose="02020603050405020304" pitchFamily="18" charset="0"/>
            </a:endParaRPr>
          </a:p>
        </p:txBody>
      </p:sp>
      <p:pic>
        <p:nvPicPr>
          <p:cNvPr id="4" name="Google Shape;1129;g1ea4fd3138c_1_62">
            <a:extLst>
              <a:ext uri="{FF2B5EF4-FFF2-40B4-BE49-F238E27FC236}">
                <a16:creationId xmlns:a16="http://schemas.microsoft.com/office/drawing/2014/main" id="{D6920038-FC93-834B-508C-101E030688AF}"/>
              </a:ext>
            </a:extLst>
          </p:cNvPr>
          <p:cNvPicPr preferRelativeResize="0"/>
          <p:nvPr/>
        </p:nvPicPr>
        <p:blipFill>
          <a:blip r:embed="rId2">
            <a:alphaModFix/>
          </a:blip>
          <a:stretch>
            <a:fillRect/>
          </a:stretch>
        </p:blipFill>
        <p:spPr>
          <a:xfrm>
            <a:off x="7372472" y="2745881"/>
            <a:ext cx="2219325" cy="2943225"/>
          </a:xfrm>
          <a:prstGeom prst="rect">
            <a:avLst/>
          </a:prstGeom>
          <a:noFill/>
          <a:ln>
            <a:noFill/>
          </a:ln>
        </p:spPr>
      </p:pic>
    </p:spTree>
    <p:extLst>
      <p:ext uri="{BB962C8B-B14F-4D97-AF65-F5344CB8AC3E}">
        <p14:creationId xmlns:p14="http://schemas.microsoft.com/office/powerpoint/2010/main" val="25326295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34"/>
        <p:cNvGrpSpPr/>
        <p:nvPr/>
      </p:nvGrpSpPr>
      <p:grpSpPr>
        <a:xfrm>
          <a:off x="0" y="0"/>
          <a:ext cx="0" cy="0"/>
          <a:chOff x="0" y="0"/>
          <a:chExt cx="0" cy="0"/>
        </a:xfrm>
      </p:grpSpPr>
      <p:pic>
        <p:nvPicPr>
          <p:cNvPr id="1136" name="Google Shape;1136;g2950e80dcb7_0_5"/>
          <p:cNvPicPr preferRelativeResize="0"/>
          <p:nvPr/>
        </p:nvPicPr>
        <p:blipFill>
          <a:blip r:embed="rId3">
            <a:alphaModFix/>
          </a:blip>
          <a:stretch>
            <a:fillRect/>
          </a:stretch>
        </p:blipFill>
        <p:spPr>
          <a:xfrm>
            <a:off x="2286002" y="2062352"/>
            <a:ext cx="2497975" cy="3312775"/>
          </a:xfrm>
          <a:prstGeom prst="rect">
            <a:avLst/>
          </a:prstGeom>
          <a:noFill/>
          <a:ln>
            <a:noFill/>
          </a:ln>
        </p:spPr>
      </p:pic>
      <p:cxnSp>
        <p:nvCxnSpPr>
          <p:cNvPr id="1137" name="Google Shape;1137;g2950e80dcb7_0_5"/>
          <p:cNvCxnSpPr/>
          <p:nvPr/>
        </p:nvCxnSpPr>
        <p:spPr>
          <a:xfrm>
            <a:off x="1715050" y="2268050"/>
            <a:ext cx="661200" cy="0"/>
          </a:xfrm>
          <a:prstGeom prst="straightConnector1">
            <a:avLst/>
          </a:prstGeom>
          <a:noFill/>
          <a:ln w="28575" cap="flat" cmpd="sng">
            <a:solidFill>
              <a:srgbClr val="FF0000"/>
            </a:solidFill>
            <a:prstDash val="solid"/>
            <a:round/>
            <a:headEnd type="none" w="med" len="med"/>
            <a:tailEnd type="triangle" w="med" len="med"/>
          </a:ln>
        </p:spPr>
      </p:cxnSp>
      <p:sp>
        <p:nvSpPr>
          <p:cNvPr id="1138" name="Google Shape;1138;g2950e80dcb7_0_5"/>
          <p:cNvSpPr txBox="1"/>
          <p:nvPr/>
        </p:nvSpPr>
        <p:spPr>
          <a:xfrm>
            <a:off x="6313325" y="1249850"/>
            <a:ext cx="1868400" cy="514500"/>
          </a:xfrm>
          <a:prstGeom prst="rect">
            <a:avLst/>
          </a:prstGeom>
          <a:noFill/>
          <a:ln>
            <a:noFill/>
          </a:ln>
        </p:spPr>
        <p:txBody>
          <a:bodyPr spcFirstLastPara="1" wrap="square" lIns="91425" tIns="91425" rIns="91425" bIns="91425" anchor="t" anchorCtr="0">
            <a:noAutofit/>
          </a:bodyPr>
          <a:lstStyle/>
          <a:p>
            <a:pPr algn="ctr"/>
            <a:r>
              <a:rPr lang="en" sz="1900">
                <a:solidFill>
                  <a:srgbClr val="00C3B1"/>
                </a:solidFill>
                <a:latin typeface="Didact Gothic"/>
                <a:ea typeface="Didact Gothic"/>
                <a:cs typeface="Didact Gothic"/>
                <a:sym typeface="Didact Gothic"/>
              </a:rPr>
              <a:t>Stack</a:t>
            </a:r>
            <a:endParaRPr sz="1900">
              <a:solidFill>
                <a:srgbClr val="00C3B1"/>
              </a:solidFill>
              <a:latin typeface="Didact Gothic"/>
              <a:ea typeface="Didact Gothic"/>
              <a:cs typeface="Didact Gothic"/>
              <a:sym typeface="Didact Gothic"/>
            </a:endParaRPr>
          </a:p>
        </p:txBody>
      </p:sp>
      <p:sp>
        <p:nvSpPr>
          <p:cNvPr id="1139" name="Google Shape;1139;g2950e80dcb7_0_5"/>
          <p:cNvSpPr txBox="1"/>
          <p:nvPr/>
        </p:nvSpPr>
        <p:spPr>
          <a:xfrm>
            <a:off x="5462450" y="5134100"/>
            <a:ext cx="1280700" cy="378000"/>
          </a:xfrm>
          <a:prstGeom prst="rect">
            <a:avLst/>
          </a:prstGeom>
          <a:noFill/>
          <a:ln>
            <a:noFill/>
          </a:ln>
        </p:spPr>
        <p:txBody>
          <a:bodyPr spcFirstLastPara="1" wrap="square" lIns="91425" tIns="91425" rIns="91425" bIns="91425" anchor="t" anchorCtr="0">
            <a:noAutofit/>
          </a:bodyPr>
          <a:lstStyle/>
          <a:p>
            <a:r>
              <a:rPr lang="en">
                <a:solidFill>
                  <a:schemeClr val="lt1"/>
                </a:solidFill>
                <a:latin typeface="Didact Gothic"/>
                <a:ea typeface="Didact Gothic"/>
                <a:cs typeface="Didact Gothic"/>
                <a:sym typeface="Didact Gothic"/>
              </a:rPr>
              <a:t>SP = 1288H</a:t>
            </a:r>
            <a:endParaRPr>
              <a:solidFill>
                <a:schemeClr val="lt1"/>
              </a:solidFill>
              <a:latin typeface="Didact Gothic"/>
              <a:ea typeface="Didact Gothic"/>
              <a:cs typeface="Didact Gothic"/>
              <a:sym typeface="Didact Gothic"/>
            </a:endParaRPr>
          </a:p>
        </p:txBody>
      </p:sp>
      <p:cxnSp>
        <p:nvCxnSpPr>
          <p:cNvPr id="1140" name="Google Shape;1140;g2950e80dcb7_0_5"/>
          <p:cNvCxnSpPr/>
          <p:nvPr/>
        </p:nvCxnSpPr>
        <p:spPr>
          <a:xfrm>
            <a:off x="5493950" y="5532975"/>
            <a:ext cx="1343700" cy="10500"/>
          </a:xfrm>
          <a:prstGeom prst="straightConnector1">
            <a:avLst/>
          </a:prstGeom>
          <a:noFill/>
          <a:ln w="19050" cap="flat" cmpd="sng">
            <a:solidFill>
              <a:srgbClr val="FF0000"/>
            </a:solidFill>
            <a:prstDash val="solid"/>
            <a:round/>
            <a:headEnd type="none" w="med" len="med"/>
            <a:tailEnd type="triangle" w="med" len="med"/>
          </a:ln>
        </p:spPr>
      </p:cxnSp>
      <p:graphicFrame>
        <p:nvGraphicFramePr>
          <p:cNvPr id="1141" name="Google Shape;1141;g2950e80dcb7_0_5"/>
          <p:cNvGraphicFramePr/>
          <p:nvPr>
            <p:extLst>
              <p:ext uri="{D42A27DB-BD31-4B8C-83A1-F6EECF244321}">
                <p14:modId xmlns:p14="http://schemas.microsoft.com/office/powerpoint/2010/main" val="264483329"/>
              </p:ext>
            </p:extLst>
          </p:nvPr>
        </p:nvGraphicFramePr>
        <p:xfrm>
          <a:off x="6861075" y="1890125"/>
          <a:ext cx="772900" cy="3657360"/>
        </p:xfrm>
        <a:graphic>
          <a:graphicData uri="http://schemas.openxmlformats.org/drawingml/2006/table">
            <a:tbl>
              <a:tblPr>
                <a:noFill/>
              </a:tblPr>
              <a:tblGrid>
                <a:gridCol w="772900">
                  <a:extLst>
                    <a:ext uri="{9D8B030D-6E8A-4147-A177-3AD203B41FA5}">
                      <a16:colId xmlns:a16="http://schemas.microsoft.com/office/drawing/2014/main" val="20000"/>
                    </a:ext>
                  </a:extLst>
                </a:gridCol>
              </a:tblGrid>
              <a:tr h="381000">
                <a:tc>
                  <a:txBody>
                    <a:bodyPr/>
                    <a:lstStyle/>
                    <a:p>
                      <a:pPr marL="0" lvl="0" indent="0" algn="ctr" rtl="0">
                        <a:spcBef>
                          <a:spcPts val="0"/>
                        </a:spcBef>
                        <a:spcAft>
                          <a:spcPts val="0"/>
                        </a:spcAft>
                        <a:buNone/>
                      </a:pPr>
                      <a:endParaRPr sz="1800" b="1" dirty="0">
                        <a:solidFill>
                          <a:schemeClr val="lt1"/>
                        </a:solidFill>
                      </a:endParaRPr>
                    </a:p>
                  </a:txBody>
                  <a:tcPr marL="91425" marR="91425" marT="91425" marB="91425">
                    <a:solidFill>
                      <a:srgbClr val="C00000"/>
                    </a:solidFill>
                  </a:tcPr>
                </a:tc>
                <a:extLst>
                  <a:ext uri="{0D108BD9-81ED-4DB2-BD59-A6C34878D82A}">
                    <a16:rowId xmlns:a16="http://schemas.microsoft.com/office/drawing/2014/main" val="10000"/>
                  </a:ext>
                </a:extLst>
              </a:tr>
              <a:tr h="381000">
                <a:tc>
                  <a:txBody>
                    <a:bodyPr/>
                    <a:lstStyle/>
                    <a:p>
                      <a:pPr marL="0" lvl="0" indent="0" algn="ctr" rtl="0">
                        <a:spcBef>
                          <a:spcPts val="0"/>
                        </a:spcBef>
                        <a:spcAft>
                          <a:spcPts val="0"/>
                        </a:spcAft>
                        <a:buNone/>
                      </a:pPr>
                      <a:endParaRPr sz="1800" b="1" dirty="0">
                        <a:solidFill>
                          <a:schemeClr val="lt1"/>
                        </a:solidFill>
                      </a:endParaRPr>
                    </a:p>
                  </a:txBody>
                  <a:tcPr marL="91425" marR="91425" marT="91425" marB="91425">
                    <a:solidFill>
                      <a:srgbClr val="C00000"/>
                    </a:solidFill>
                  </a:tcPr>
                </a:tc>
                <a:extLst>
                  <a:ext uri="{0D108BD9-81ED-4DB2-BD59-A6C34878D82A}">
                    <a16:rowId xmlns:a16="http://schemas.microsoft.com/office/drawing/2014/main" val="10001"/>
                  </a:ext>
                </a:extLst>
              </a:tr>
              <a:tr h="381000">
                <a:tc>
                  <a:txBody>
                    <a:bodyPr/>
                    <a:lstStyle/>
                    <a:p>
                      <a:pPr marL="0" lvl="0" indent="0" algn="ctr" rtl="0">
                        <a:spcBef>
                          <a:spcPts val="0"/>
                        </a:spcBef>
                        <a:spcAft>
                          <a:spcPts val="0"/>
                        </a:spcAft>
                        <a:buNone/>
                      </a:pPr>
                      <a:endParaRPr sz="1800" b="1" dirty="0">
                        <a:solidFill>
                          <a:schemeClr val="lt1"/>
                        </a:solidFill>
                      </a:endParaRPr>
                    </a:p>
                  </a:txBody>
                  <a:tcPr marL="91425" marR="91425" marT="91425" marB="91425">
                    <a:solidFill>
                      <a:srgbClr val="C00000"/>
                    </a:solidFill>
                  </a:tcPr>
                </a:tc>
                <a:extLst>
                  <a:ext uri="{0D108BD9-81ED-4DB2-BD59-A6C34878D82A}">
                    <a16:rowId xmlns:a16="http://schemas.microsoft.com/office/drawing/2014/main" val="10002"/>
                  </a:ext>
                </a:extLst>
              </a:tr>
              <a:tr h="381000">
                <a:tc>
                  <a:txBody>
                    <a:bodyPr/>
                    <a:lstStyle/>
                    <a:p>
                      <a:pPr marL="0" lvl="0" indent="0" algn="ctr" rtl="0">
                        <a:spcBef>
                          <a:spcPts val="0"/>
                        </a:spcBef>
                        <a:spcAft>
                          <a:spcPts val="0"/>
                        </a:spcAft>
                        <a:buNone/>
                      </a:pPr>
                      <a:endParaRPr sz="1800" b="1" dirty="0">
                        <a:solidFill>
                          <a:schemeClr val="lt1"/>
                        </a:solidFill>
                      </a:endParaRPr>
                    </a:p>
                  </a:txBody>
                  <a:tcPr marL="91425" marR="91425" marT="91425" marB="91425">
                    <a:solidFill>
                      <a:srgbClr val="C00000"/>
                    </a:solidFill>
                  </a:tcPr>
                </a:tc>
                <a:extLst>
                  <a:ext uri="{0D108BD9-81ED-4DB2-BD59-A6C34878D82A}">
                    <a16:rowId xmlns:a16="http://schemas.microsoft.com/office/drawing/2014/main" val="10003"/>
                  </a:ext>
                </a:extLst>
              </a:tr>
              <a:tr h="381000">
                <a:tc>
                  <a:txBody>
                    <a:bodyPr/>
                    <a:lstStyle/>
                    <a:p>
                      <a:pPr marL="0" lvl="0" indent="0" algn="ctr" rtl="0">
                        <a:spcBef>
                          <a:spcPts val="0"/>
                        </a:spcBef>
                        <a:spcAft>
                          <a:spcPts val="0"/>
                        </a:spcAft>
                        <a:buNone/>
                      </a:pPr>
                      <a:endParaRPr sz="1800" b="1" dirty="0">
                        <a:solidFill>
                          <a:schemeClr val="lt1"/>
                        </a:solidFill>
                      </a:endParaRPr>
                    </a:p>
                  </a:txBody>
                  <a:tcPr marL="91425" marR="91425" marT="91425" marB="91425">
                    <a:solidFill>
                      <a:srgbClr val="C00000"/>
                    </a:solidFill>
                  </a:tcPr>
                </a:tc>
                <a:extLst>
                  <a:ext uri="{0D108BD9-81ED-4DB2-BD59-A6C34878D82A}">
                    <a16:rowId xmlns:a16="http://schemas.microsoft.com/office/drawing/2014/main" val="10004"/>
                  </a:ext>
                </a:extLst>
              </a:tr>
              <a:tr h="381000">
                <a:tc>
                  <a:txBody>
                    <a:bodyPr/>
                    <a:lstStyle/>
                    <a:p>
                      <a:pPr marL="0" lvl="0" indent="0" algn="ctr" rtl="0">
                        <a:spcBef>
                          <a:spcPts val="0"/>
                        </a:spcBef>
                        <a:spcAft>
                          <a:spcPts val="0"/>
                        </a:spcAft>
                        <a:buNone/>
                      </a:pPr>
                      <a:endParaRPr sz="1800" b="1" dirty="0">
                        <a:solidFill>
                          <a:schemeClr val="lt1"/>
                        </a:solidFill>
                      </a:endParaRPr>
                    </a:p>
                  </a:txBody>
                  <a:tcPr marL="91425" marR="91425" marT="91425" marB="91425">
                    <a:solidFill>
                      <a:srgbClr val="C00000"/>
                    </a:solidFill>
                  </a:tcPr>
                </a:tc>
                <a:extLst>
                  <a:ext uri="{0D108BD9-81ED-4DB2-BD59-A6C34878D82A}">
                    <a16:rowId xmlns:a16="http://schemas.microsoft.com/office/drawing/2014/main" val="10005"/>
                  </a:ext>
                </a:extLst>
              </a:tr>
              <a:tr h="381000">
                <a:tc>
                  <a:txBody>
                    <a:bodyPr/>
                    <a:lstStyle/>
                    <a:p>
                      <a:pPr marL="0" lvl="0" indent="0" algn="ctr" rtl="0">
                        <a:spcBef>
                          <a:spcPts val="0"/>
                        </a:spcBef>
                        <a:spcAft>
                          <a:spcPts val="0"/>
                        </a:spcAft>
                        <a:buNone/>
                      </a:pPr>
                      <a:endParaRPr sz="1800" b="1" dirty="0">
                        <a:solidFill>
                          <a:schemeClr val="lt1"/>
                        </a:solidFill>
                      </a:endParaRPr>
                    </a:p>
                  </a:txBody>
                  <a:tcPr marL="91425" marR="91425" marT="91425" marB="91425">
                    <a:solidFill>
                      <a:srgbClr val="C00000"/>
                    </a:solidFill>
                  </a:tcPr>
                </a:tc>
                <a:extLst>
                  <a:ext uri="{0D108BD9-81ED-4DB2-BD59-A6C34878D82A}">
                    <a16:rowId xmlns:a16="http://schemas.microsoft.com/office/drawing/2014/main" val="10006"/>
                  </a:ext>
                </a:extLst>
              </a:tr>
              <a:tr h="381000">
                <a:tc>
                  <a:txBody>
                    <a:bodyPr/>
                    <a:lstStyle/>
                    <a:p>
                      <a:pPr marL="0" lvl="0" indent="0" algn="ctr" rtl="0">
                        <a:spcBef>
                          <a:spcPts val="0"/>
                        </a:spcBef>
                        <a:spcAft>
                          <a:spcPts val="0"/>
                        </a:spcAft>
                        <a:buNone/>
                      </a:pPr>
                      <a:endParaRPr sz="1800" b="1" dirty="0">
                        <a:solidFill>
                          <a:schemeClr val="lt1"/>
                        </a:solidFill>
                      </a:endParaRPr>
                    </a:p>
                  </a:txBody>
                  <a:tcPr marL="91425" marR="91425" marT="91425" marB="91425">
                    <a:solidFill>
                      <a:srgbClr val="C00000"/>
                    </a:solidFill>
                  </a:tcPr>
                </a:tc>
                <a:extLst>
                  <a:ext uri="{0D108BD9-81ED-4DB2-BD59-A6C34878D82A}">
                    <a16:rowId xmlns:a16="http://schemas.microsoft.com/office/drawing/2014/main" val="10007"/>
                  </a:ext>
                </a:extLst>
              </a:tr>
            </a:tbl>
          </a:graphicData>
        </a:graphic>
      </p:graphicFrame>
      <p:sp>
        <p:nvSpPr>
          <p:cNvPr id="1142" name="Google Shape;1142;g2950e80dcb7_0_5"/>
          <p:cNvSpPr txBox="1"/>
          <p:nvPr/>
        </p:nvSpPr>
        <p:spPr>
          <a:xfrm>
            <a:off x="8594850" y="1249850"/>
            <a:ext cx="1868400" cy="514500"/>
          </a:xfrm>
          <a:prstGeom prst="rect">
            <a:avLst/>
          </a:prstGeom>
          <a:noFill/>
          <a:ln>
            <a:noFill/>
          </a:ln>
        </p:spPr>
        <p:txBody>
          <a:bodyPr spcFirstLastPara="1" wrap="square" lIns="91425" tIns="91425" rIns="91425" bIns="91425" anchor="t" anchorCtr="0">
            <a:noAutofit/>
          </a:bodyPr>
          <a:lstStyle/>
          <a:p>
            <a:pPr algn="ctr"/>
            <a:r>
              <a:rPr lang="en" sz="1900">
                <a:solidFill>
                  <a:srgbClr val="00C3B1"/>
                </a:solidFill>
                <a:latin typeface="Didact Gothic"/>
                <a:ea typeface="Didact Gothic"/>
                <a:cs typeface="Didact Gothic"/>
                <a:sym typeface="Didact Gothic"/>
              </a:rPr>
              <a:t>Stack cont.</a:t>
            </a:r>
            <a:endParaRPr sz="1900">
              <a:solidFill>
                <a:srgbClr val="00C3B1"/>
              </a:solidFill>
              <a:latin typeface="Didact Gothic"/>
              <a:ea typeface="Didact Gothic"/>
              <a:cs typeface="Didact Gothic"/>
              <a:sym typeface="Didact Gothic"/>
            </a:endParaRPr>
          </a:p>
        </p:txBody>
      </p:sp>
      <p:graphicFrame>
        <p:nvGraphicFramePr>
          <p:cNvPr id="1143" name="Google Shape;1143;g2950e80dcb7_0_5"/>
          <p:cNvGraphicFramePr/>
          <p:nvPr>
            <p:extLst>
              <p:ext uri="{D42A27DB-BD31-4B8C-83A1-F6EECF244321}">
                <p14:modId xmlns:p14="http://schemas.microsoft.com/office/powerpoint/2010/main" val="3632861954"/>
              </p:ext>
            </p:extLst>
          </p:nvPr>
        </p:nvGraphicFramePr>
        <p:xfrm>
          <a:off x="9142600" y="1890138"/>
          <a:ext cx="917700" cy="3581190"/>
        </p:xfrm>
        <a:graphic>
          <a:graphicData uri="http://schemas.openxmlformats.org/drawingml/2006/table">
            <a:tbl>
              <a:tblPr>
                <a:noFill/>
              </a:tblPr>
              <a:tblGrid>
                <a:gridCol w="917700">
                  <a:extLst>
                    <a:ext uri="{9D8B030D-6E8A-4147-A177-3AD203B41FA5}">
                      <a16:colId xmlns:a16="http://schemas.microsoft.com/office/drawing/2014/main" val="20000"/>
                    </a:ext>
                  </a:extLst>
                </a:gridCol>
              </a:tblGrid>
              <a:tr h="381000">
                <a:tc>
                  <a:txBody>
                    <a:bodyPr/>
                    <a:lstStyle/>
                    <a:p>
                      <a:pPr marL="0" lvl="0" indent="0" algn="ctr" rtl="0">
                        <a:spcBef>
                          <a:spcPts val="0"/>
                        </a:spcBef>
                        <a:spcAft>
                          <a:spcPts val="0"/>
                        </a:spcAft>
                        <a:buNone/>
                      </a:pPr>
                      <a:endParaRPr sz="1800" b="1" dirty="0">
                        <a:solidFill>
                          <a:schemeClr val="lt1"/>
                        </a:solidFill>
                      </a:endParaRPr>
                    </a:p>
                  </a:txBody>
                  <a:tcPr marL="91425" marR="91425" marT="91425" marB="91425">
                    <a:solidFill>
                      <a:srgbClr val="C00000"/>
                    </a:solidFill>
                  </a:tcPr>
                </a:tc>
                <a:extLst>
                  <a:ext uri="{0D108BD9-81ED-4DB2-BD59-A6C34878D82A}">
                    <a16:rowId xmlns:a16="http://schemas.microsoft.com/office/drawing/2014/main" val="10000"/>
                  </a:ext>
                </a:extLst>
              </a:tr>
              <a:tr h="381000">
                <a:tc>
                  <a:txBody>
                    <a:bodyPr/>
                    <a:lstStyle/>
                    <a:p>
                      <a:pPr marL="0" lvl="0" indent="0" algn="ctr" rtl="0">
                        <a:spcBef>
                          <a:spcPts val="0"/>
                        </a:spcBef>
                        <a:spcAft>
                          <a:spcPts val="0"/>
                        </a:spcAft>
                        <a:buNone/>
                      </a:pPr>
                      <a:endParaRPr sz="1800" b="1" dirty="0">
                        <a:solidFill>
                          <a:schemeClr val="lt1"/>
                        </a:solidFill>
                      </a:endParaRPr>
                    </a:p>
                  </a:txBody>
                  <a:tcPr marL="91425" marR="91425" marT="91425" marB="91425">
                    <a:solidFill>
                      <a:srgbClr val="C00000"/>
                    </a:solidFill>
                  </a:tcPr>
                </a:tc>
                <a:extLst>
                  <a:ext uri="{0D108BD9-81ED-4DB2-BD59-A6C34878D82A}">
                    <a16:rowId xmlns:a16="http://schemas.microsoft.com/office/drawing/2014/main" val="10001"/>
                  </a:ext>
                </a:extLst>
              </a:tr>
              <a:tr h="381000">
                <a:tc>
                  <a:txBody>
                    <a:bodyPr/>
                    <a:lstStyle/>
                    <a:p>
                      <a:pPr marL="0" lvl="0" indent="0" algn="ctr" rtl="0">
                        <a:spcBef>
                          <a:spcPts val="0"/>
                        </a:spcBef>
                        <a:spcAft>
                          <a:spcPts val="0"/>
                        </a:spcAft>
                        <a:buNone/>
                      </a:pPr>
                      <a:endParaRPr sz="1800" b="1">
                        <a:solidFill>
                          <a:schemeClr val="lt1"/>
                        </a:solidFill>
                      </a:endParaRPr>
                    </a:p>
                  </a:txBody>
                  <a:tcPr marL="91425" marR="91425" marT="91425" marB="91425">
                    <a:solidFill>
                      <a:srgbClr val="C00000"/>
                    </a:solidFill>
                  </a:tcPr>
                </a:tc>
                <a:extLst>
                  <a:ext uri="{0D108BD9-81ED-4DB2-BD59-A6C34878D82A}">
                    <a16:rowId xmlns:a16="http://schemas.microsoft.com/office/drawing/2014/main" val="10002"/>
                  </a:ext>
                </a:extLst>
              </a:tr>
              <a:tr h="381000">
                <a:tc>
                  <a:txBody>
                    <a:bodyPr/>
                    <a:lstStyle/>
                    <a:p>
                      <a:pPr marL="0" lvl="0" indent="0" algn="ctr" rtl="0">
                        <a:spcBef>
                          <a:spcPts val="0"/>
                        </a:spcBef>
                        <a:spcAft>
                          <a:spcPts val="0"/>
                        </a:spcAft>
                        <a:buNone/>
                      </a:pPr>
                      <a:endParaRPr sz="1800" b="1" dirty="0">
                        <a:solidFill>
                          <a:schemeClr val="lt1"/>
                        </a:solidFill>
                      </a:endParaRPr>
                    </a:p>
                  </a:txBody>
                  <a:tcPr marL="91425" marR="91425" marT="91425" marB="91425">
                    <a:solidFill>
                      <a:srgbClr val="C00000"/>
                    </a:solidFill>
                  </a:tcPr>
                </a:tc>
                <a:extLst>
                  <a:ext uri="{0D108BD9-81ED-4DB2-BD59-A6C34878D82A}">
                    <a16:rowId xmlns:a16="http://schemas.microsoft.com/office/drawing/2014/main" val="10003"/>
                  </a:ext>
                </a:extLst>
              </a:tr>
              <a:tr h="381000">
                <a:tc>
                  <a:txBody>
                    <a:bodyPr/>
                    <a:lstStyle/>
                    <a:p>
                      <a:pPr marL="0" lvl="0" indent="0" algn="ctr" rtl="0">
                        <a:spcBef>
                          <a:spcPts val="0"/>
                        </a:spcBef>
                        <a:spcAft>
                          <a:spcPts val="0"/>
                        </a:spcAft>
                        <a:buNone/>
                      </a:pPr>
                      <a:endParaRPr sz="1800" b="1" dirty="0">
                        <a:solidFill>
                          <a:schemeClr val="dk1"/>
                        </a:solidFill>
                      </a:endParaRPr>
                    </a:p>
                  </a:txBody>
                  <a:tcPr marL="91425" marR="91425" marT="91425" marB="91425">
                    <a:solidFill>
                      <a:srgbClr val="C00000"/>
                    </a:solidFill>
                  </a:tcPr>
                </a:tc>
                <a:extLst>
                  <a:ext uri="{0D108BD9-81ED-4DB2-BD59-A6C34878D82A}">
                    <a16:rowId xmlns:a16="http://schemas.microsoft.com/office/drawing/2014/main" val="10004"/>
                  </a:ext>
                </a:extLst>
              </a:tr>
              <a:tr h="381000">
                <a:tc>
                  <a:txBody>
                    <a:bodyPr/>
                    <a:lstStyle/>
                    <a:p>
                      <a:pPr marL="0" lvl="0" indent="0" algn="ctr" rtl="0">
                        <a:spcBef>
                          <a:spcPts val="0"/>
                        </a:spcBef>
                        <a:spcAft>
                          <a:spcPts val="0"/>
                        </a:spcAft>
                        <a:buNone/>
                      </a:pPr>
                      <a:endParaRPr sz="700" dirty="0">
                        <a:solidFill>
                          <a:schemeClr val="dk1"/>
                        </a:solidFill>
                      </a:endParaRPr>
                    </a:p>
                  </a:txBody>
                  <a:tcPr marL="91425" marR="91425" marT="91425" marB="91425">
                    <a:solidFill>
                      <a:srgbClr val="C00000"/>
                    </a:solidFill>
                  </a:tcPr>
                </a:tc>
                <a:extLst>
                  <a:ext uri="{0D108BD9-81ED-4DB2-BD59-A6C34878D82A}">
                    <a16:rowId xmlns:a16="http://schemas.microsoft.com/office/drawing/2014/main" val="10005"/>
                  </a:ext>
                </a:extLst>
              </a:tr>
              <a:tr h="381000">
                <a:tc>
                  <a:txBody>
                    <a:bodyPr/>
                    <a:lstStyle/>
                    <a:p>
                      <a:pPr marL="0" lvl="0" indent="0" algn="ctr" rtl="0">
                        <a:spcBef>
                          <a:spcPts val="0"/>
                        </a:spcBef>
                        <a:spcAft>
                          <a:spcPts val="0"/>
                        </a:spcAft>
                        <a:buNone/>
                      </a:pPr>
                      <a:endParaRPr sz="1800" b="1" dirty="0">
                        <a:solidFill>
                          <a:schemeClr val="dk1"/>
                        </a:solidFill>
                      </a:endParaRPr>
                    </a:p>
                  </a:txBody>
                  <a:tcPr marL="91425" marR="91425" marT="91425" marB="91425">
                    <a:solidFill>
                      <a:srgbClr val="C00000"/>
                    </a:solidFill>
                  </a:tcPr>
                </a:tc>
                <a:extLst>
                  <a:ext uri="{0D108BD9-81ED-4DB2-BD59-A6C34878D82A}">
                    <a16:rowId xmlns:a16="http://schemas.microsoft.com/office/drawing/2014/main" val="10006"/>
                  </a:ext>
                </a:extLst>
              </a:tr>
              <a:tr h="381000">
                <a:tc>
                  <a:txBody>
                    <a:bodyPr/>
                    <a:lstStyle/>
                    <a:p>
                      <a:pPr marL="0" lvl="0" indent="0" algn="ctr" rtl="0">
                        <a:spcBef>
                          <a:spcPts val="0"/>
                        </a:spcBef>
                        <a:spcAft>
                          <a:spcPts val="0"/>
                        </a:spcAft>
                        <a:buNone/>
                      </a:pPr>
                      <a:endParaRPr sz="1800" b="1" dirty="0">
                        <a:solidFill>
                          <a:schemeClr val="dk1"/>
                        </a:solidFill>
                      </a:endParaRPr>
                    </a:p>
                  </a:txBody>
                  <a:tcPr marL="91425" marR="91425" marT="91425" marB="91425">
                    <a:solidFill>
                      <a:srgbClr val="C00000"/>
                    </a:solidFill>
                  </a:tcPr>
                </a:tc>
                <a:extLst>
                  <a:ext uri="{0D108BD9-81ED-4DB2-BD59-A6C34878D82A}">
                    <a16:rowId xmlns:a16="http://schemas.microsoft.com/office/drawing/2014/main" val="10007"/>
                  </a:ext>
                </a:extLst>
              </a:tr>
            </a:tbl>
          </a:graphicData>
        </a:graphic>
      </p:graphicFrame>
      <p:sp>
        <p:nvSpPr>
          <p:cNvPr id="2" name="Title 1">
            <a:extLst>
              <a:ext uri="{FF2B5EF4-FFF2-40B4-BE49-F238E27FC236}">
                <a16:creationId xmlns:a16="http://schemas.microsoft.com/office/drawing/2014/main" id="{E95CFBD8-A607-5AD4-AAAD-62745ACA4288}"/>
              </a:ext>
            </a:extLst>
          </p:cNvPr>
          <p:cNvSpPr txBox="1">
            <a:spLocks/>
          </p:cNvSpPr>
          <p:nvPr/>
        </p:nvSpPr>
        <p:spPr>
          <a:xfrm>
            <a:off x="646111" y="461596"/>
            <a:ext cx="9404723" cy="1400530"/>
          </a:xfrm>
          <a:prstGeom prst="rect">
            <a:avLst/>
          </a:prstGeom>
          <a:noFill/>
          <a:ln>
            <a:noFill/>
          </a:ln>
        </p:spPr>
        <p:txBody>
          <a:bodyPr spcFirstLastPara="1" vert="horz" wrap="square" lIns="91425" tIns="91425" rIns="91425" bIns="91425" rtlCol="0" anchor="ctr" anchorCtr="0">
            <a:noAutofit/>
          </a:bodyPr>
          <a:lstStyle>
            <a:lvl1pPr lvl="0" algn="l" defTabSz="457200" rtl="0" eaLnBrk="1" latinLnBrk="0" hangingPunct="1">
              <a:lnSpc>
                <a:spcPct val="100000"/>
              </a:lnSpc>
              <a:spcBef>
                <a:spcPts val="0"/>
              </a:spcBef>
              <a:spcAft>
                <a:spcPts val="0"/>
              </a:spcAft>
              <a:buSzPts val="3500"/>
              <a:buNone/>
              <a:defRPr sz="4200" b="0" i="0" kern="1200">
                <a:solidFill>
                  <a:schemeClr val="tx2"/>
                </a:solidFill>
                <a:latin typeface="+mj-lt"/>
                <a:ea typeface="+mj-ea"/>
                <a:cs typeface="+mj-cs"/>
              </a:defRPr>
            </a:lvl1pPr>
            <a:lvl2pPr lvl="1" algn="l" eaLnBrk="1" hangingPunct="1">
              <a:lnSpc>
                <a:spcPct val="100000"/>
              </a:lnSpc>
              <a:spcBef>
                <a:spcPts val="0"/>
              </a:spcBef>
              <a:spcAft>
                <a:spcPts val="0"/>
              </a:spcAft>
              <a:buSzPts val="3500"/>
              <a:buNone/>
              <a:defRPr>
                <a:solidFill>
                  <a:schemeClr val="tx2"/>
                </a:solidFill>
              </a:defRPr>
            </a:lvl2pPr>
            <a:lvl3pPr lvl="2" algn="l" eaLnBrk="1" hangingPunct="1">
              <a:lnSpc>
                <a:spcPct val="100000"/>
              </a:lnSpc>
              <a:spcBef>
                <a:spcPts val="0"/>
              </a:spcBef>
              <a:spcAft>
                <a:spcPts val="0"/>
              </a:spcAft>
              <a:buSzPts val="3500"/>
              <a:buNone/>
              <a:defRPr>
                <a:solidFill>
                  <a:schemeClr val="tx2"/>
                </a:solidFill>
              </a:defRPr>
            </a:lvl3pPr>
            <a:lvl4pPr lvl="3" algn="l" eaLnBrk="1" hangingPunct="1">
              <a:lnSpc>
                <a:spcPct val="100000"/>
              </a:lnSpc>
              <a:spcBef>
                <a:spcPts val="0"/>
              </a:spcBef>
              <a:spcAft>
                <a:spcPts val="0"/>
              </a:spcAft>
              <a:buSzPts val="3500"/>
              <a:buNone/>
              <a:defRPr>
                <a:solidFill>
                  <a:schemeClr val="tx2"/>
                </a:solidFill>
              </a:defRPr>
            </a:lvl4pPr>
            <a:lvl5pPr lvl="4" algn="l" eaLnBrk="1" hangingPunct="1">
              <a:lnSpc>
                <a:spcPct val="100000"/>
              </a:lnSpc>
              <a:spcBef>
                <a:spcPts val="0"/>
              </a:spcBef>
              <a:spcAft>
                <a:spcPts val="0"/>
              </a:spcAft>
              <a:buSzPts val="3500"/>
              <a:buNone/>
              <a:defRPr>
                <a:solidFill>
                  <a:schemeClr val="tx2"/>
                </a:solidFill>
              </a:defRPr>
            </a:lvl5pPr>
            <a:lvl6pPr lvl="5" algn="l" eaLnBrk="1" hangingPunct="1">
              <a:lnSpc>
                <a:spcPct val="100000"/>
              </a:lnSpc>
              <a:spcBef>
                <a:spcPts val="0"/>
              </a:spcBef>
              <a:spcAft>
                <a:spcPts val="0"/>
              </a:spcAft>
              <a:buSzPts val="3500"/>
              <a:buNone/>
              <a:defRPr>
                <a:solidFill>
                  <a:schemeClr val="tx2"/>
                </a:solidFill>
              </a:defRPr>
            </a:lvl6pPr>
            <a:lvl7pPr lvl="6" algn="l" eaLnBrk="1" hangingPunct="1">
              <a:lnSpc>
                <a:spcPct val="100000"/>
              </a:lnSpc>
              <a:spcBef>
                <a:spcPts val="0"/>
              </a:spcBef>
              <a:spcAft>
                <a:spcPts val="0"/>
              </a:spcAft>
              <a:buSzPts val="3500"/>
              <a:buNone/>
              <a:defRPr>
                <a:solidFill>
                  <a:schemeClr val="tx2"/>
                </a:solidFill>
              </a:defRPr>
            </a:lvl7pPr>
            <a:lvl8pPr lvl="7" algn="l" eaLnBrk="1" hangingPunct="1">
              <a:lnSpc>
                <a:spcPct val="100000"/>
              </a:lnSpc>
              <a:spcBef>
                <a:spcPts val="0"/>
              </a:spcBef>
              <a:spcAft>
                <a:spcPts val="0"/>
              </a:spcAft>
              <a:buSzPts val="3500"/>
              <a:buNone/>
              <a:defRPr>
                <a:solidFill>
                  <a:schemeClr val="tx2"/>
                </a:solidFill>
              </a:defRPr>
            </a:lvl8pPr>
            <a:lvl9pPr lvl="8" algn="l" eaLnBrk="1" hangingPunct="1">
              <a:lnSpc>
                <a:spcPct val="100000"/>
              </a:lnSpc>
              <a:spcBef>
                <a:spcPts val="0"/>
              </a:spcBef>
              <a:spcAft>
                <a:spcPts val="0"/>
              </a:spcAft>
              <a:buSzPts val="3500"/>
              <a:buNone/>
              <a:defRPr>
                <a:solidFill>
                  <a:schemeClr val="tx2"/>
                </a:solidFill>
              </a:defRPr>
            </a:lvl9pPr>
          </a:lstStyle>
          <a:p>
            <a:r>
              <a:rPr lang="en-US"/>
              <a:t>Problem 3</a:t>
            </a:r>
            <a:endParaRPr lang="en-US" dirty="0"/>
          </a:p>
        </p:txBody>
      </p:sp>
      <p:sp>
        <p:nvSpPr>
          <p:cNvPr id="3" name="Rectangle 2">
            <a:extLst>
              <a:ext uri="{FF2B5EF4-FFF2-40B4-BE49-F238E27FC236}">
                <a16:creationId xmlns:a16="http://schemas.microsoft.com/office/drawing/2014/main" id="{7207CD96-17EC-3A5F-19EB-6D22335932CE}"/>
              </a:ext>
            </a:extLst>
          </p:cNvPr>
          <p:cNvSpPr/>
          <p:nvPr/>
        </p:nvSpPr>
        <p:spPr>
          <a:xfrm>
            <a:off x="6165800" y="5723751"/>
            <a:ext cx="2325949" cy="331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Top of Memory</a:t>
            </a:r>
          </a:p>
        </p:txBody>
      </p:sp>
      <p:sp>
        <p:nvSpPr>
          <p:cNvPr id="4" name="Rectangle 3">
            <a:extLst>
              <a:ext uri="{FF2B5EF4-FFF2-40B4-BE49-F238E27FC236}">
                <a16:creationId xmlns:a16="http://schemas.microsoft.com/office/drawing/2014/main" id="{F738A37E-6B42-E89B-9D4E-16B539F9556C}"/>
              </a:ext>
            </a:extLst>
          </p:cNvPr>
          <p:cNvSpPr/>
          <p:nvPr/>
        </p:nvSpPr>
        <p:spPr>
          <a:xfrm>
            <a:off x="7979625" y="830849"/>
            <a:ext cx="2325949" cy="331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Bottom of Memory</a:t>
            </a:r>
          </a:p>
        </p:txBody>
      </p:sp>
      <p:sp>
        <p:nvSpPr>
          <p:cNvPr id="50" name="Arrow: Down 49">
            <a:extLst>
              <a:ext uri="{FF2B5EF4-FFF2-40B4-BE49-F238E27FC236}">
                <a16:creationId xmlns:a16="http://schemas.microsoft.com/office/drawing/2014/main" id="{23CD4B52-185B-21A3-887B-B09C0C786F4F}"/>
              </a:ext>
            </a:extLst>
          </p:cNvPr>
          <p:cNvSpPr/>
          <p:nvPr/>
        </p:nvSpPr>
        <p:spPr>
          <a:xfrm rot="10800000">
            <a:off x="6292602" y="2760955"/>
            <a:ext cx="216061" cy="1828800"/>
          </a:xfrm>
          <a:prstGeom prst="down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51" name="Arrow: Down 50">
            <a:extLst>
              <a:ext uri="{FF2B5EF4-FFF2-40B4-BE49-F238E27FC236}">
                <a16:creationId xmlns:a16="http://schemas.microsoft.com/office/drawing/2014/main" id="{752F1333-B176-4000-81B5-53BA29A04549}"/>
              </a:ext>
            </a:extLst>
          </p:cNvPr>
          <p:cNvSpPr/>
          <p:nvPr/>
        </p:nvSpPr>
        <p:spPr>
          <a:xfrm rot="10800000">
            <a:off x="10355219" y="2760955"/>
            <a:ext cx="216061" cy="1828800"/>
          </a:xfrm>
          <a:prstGeom prst="down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47"/>
        <p:cNvGrpSpPr/>
        <p:nvPr/>
      </p:nvGrpSpPr>
      <p:grpSpPr>
        <a:xfrm>
          <a:off x="0" y="0"/>
          <a:ext cx="0" cy="0"/>
          <a:chOff x="0" y="0"/>
          <a:chExt cx="0" cy="0"/>
        </a:xfrm>
      </p:grpSpPr>
      <p:pic>
        <p:nvPicPr>
          <p:cNvPr id="1149" name="Google Shape;1149;g2950e80dcb7_0_44"/>
          <p:cNvPicPr preferRelativeResize="0"/>
          <p:nvPr/>
        </p:nvPicPr>
        <p:blipFill>
          <a:blip r:embed="rId3">
            <a:alphaModFix/>
          </a:blip>
          <a:stretch>
            <a:fillRect/>
          </a:stretch>
        </p:blipFill>
        <p:spPr>
          <a:xfrm>
            <a:off x="2286002" y="2062352"/>
            <a:ext cx="2497975" cy="3312775"/>
          </a:xfrm>
          <a:prstGeom prst="rect">
            <a:avLst/>
          </a:prstGeom>
          <a:noFill/>
          <a:ln>
            <a:noFill/>
          </a:ln>
        </p:spPr>
      </p:pic>
      <p:cxnSp>
        <p:nvCxnSpPr>
          <p:cNvPr id="1150" name="Google Shape;1150;g2950e80dcb7_0_44"/>
          <p:cNvCxnSpPr/>
          <p:nvPr/>
        </p:nvCxnSpPr>
        <p:spPr>
          <a:xfrm>
            <a:off x="2376175" y="3261600"/>
            <a:ext cx="661200" cy="0"/>
          </a:xfrm>
          <a:prstGeom prst="straightConnector1">
            <a:avLst/>
          </a:prstGeom>
          <a:noFill/>
          <a:ln w="28575" cap="flat" cmpd="sng">
            <a:solidFill>
              <a:srgbClr val="FF0000"/>
            </a:solidFill>
            <a:prstDash val="solid"/>
            <a:round/>
            <a:headEnd type="none" w="med" len="med"/>
            <a:tailEnd type="triangle" w="med" len="med"/>
          </a:ln>
        </p:spPr>
      </p:cxnSp>
      <p:sp>
        <p:nvSpPr>
          <p:cNvPr id="1151" name="Google Shape;1151;g2950e80dcb7_0_44"/>
          <p:cNvSpPr txBox="1"/>
          <p:nvPr/>
        </p:nvSpPr>
        <p:spPr>
          <a:xfrm>
            <a:off x="6313325" y="1249850"/>
            <a:ext cx="1868400" cy="514500"/>
          </a:xfrm>
          <a:prstGeom prst="rect">
            <a:avLst/>
          </a:prstGeom>
          <a:noFill/>
          <a:ln>
            <a:noFill/>
          </a:ln>
        </p:spPr>
        <p:txBody>
          <a:bodyPr spcFirstLastPara="1" wrap="square" lIns="91425" tIns="91425" rIns="91425" bIns="91425" anchor="t" anchorCtr="0">
            <a:noAutofit/>
          </a:bodyPr>
          <a:lstStyle/>
          <a:p>
            <a:pPr algn="ctr"/>
            <a:r>
              <a:rPr lang="en" sz="1900">
                <a:solidFill>
                  <a:srgbClr val="00C3B1"/>
                </a:solidFill>
                <a:latin typeface="Didact Gothic"/>
                <a:ea typeface="Didact Gothic"/>
                <a:cs typeface="Didact Gothic"/>
                <a:sym typeface="Didact Gothic"/>
              </a:rPr>
              <a:t>Stack</a:t>
            </a:r>
            <a:endParaRPr sz="1900">
              <a:solidFill>
                <a:srgbClr val="00C3B1"/>
              </a:solidFill>
              <a:latin typeface="Didact Gothic"/>
              <a:ea typeface="Didact Gothic"/>
              <a:cs typeface="Didact Gothic"/>
              <a:sym typeface="Didact Gothic"/>
            </a:endParaRPr>
          </a:p>
        </p:txBody>
      </p:sp>
      <p:sp>
        <p:nvSpPr>
          <p:cNvPr id="1152" name="Google Shape;1152;g2950e80dcb7_0_44"/>
          <p:cNvSpPr txBox="1"/>
          <p:nvPr/>
        </p:nvSpPr>
        <p:spPr>
          <a:xfrm>
            <a:off x="5462450" y="4219700"/>
            <a:ext cx="1280700" cy="378000"/>
          </a:xfrm>
          <a:prstGeom prst="rect">
            <a:avLst/>
          </a:prstGeom>
          <a:noFill/>
          <a:ln>
            <a:noFill/>
          </a:ln>
        </p:spPr>
        <p:txBody>
          <a:bodyPr spcFirstLastPara="1" wrap="square" lIns="91425" tIns="91425" rIns="91425" bIns="91425" anchor="t" anchorCtr="0">
            <a:noAutofit/>
          </a:bodyPr>
          <a:lstStyle/>
          <a:p>
            <a:r>
              <a:rPr lang="en">
                <a:solidFill>
                  <a:schemeClr val="lt1"/>
                </a:solidFill>
                <a:latin typeface="Didact Gothic"/>
                <a:ea typeface="Didact Gothic"/>
                <a:cs typeface="Didact Gothic"/>
                <a:sym typeface="Didact Gothic"/>
              </a:rPr>
              <a:t>SP = 1286H</a:t>
            </a:r>
            <a:endParaRPr>
              <a:solidFill>
                <a:schemeClr val="lt1"/>
              </a:solidFill>
              <a:latin typeface="Didact Gothic"/>
              <a:ea typeface="Didact Gothic"/>
              <a:cs typeface="Didact Gothic"/>
              <a:sym typeface="Didact Gothic"/>
            </a:endParaRPr>
          </a:p>
        </p:txBody>
      </p:sp>
      <p:cxnSp>
        <p:nvCxnSpPr>
          <p:cNvPr id="1153" name="Google Shape;1153;g2950e80dcb7_0_44"/>
          <p:cNvCxnSpPr/>
          <p:nvPr/>
        </p:nvCxnSpPr>
        <p:spPr>
          <a:xfrm>
            <a:off x="5493950" y="4618575"/>
            <a:ext cx="1343700" cy="10500"/>
          </a:xfrm>
          <a:prstGeom prst="straightConnector1">
            <a:avLst/>
          </a:prstGeom>
          <a:noFill/>
          <a:ln w="19050" cap="flat" cmpd="sng">
            <a:solidFill>
              <a:srgbClr val="FF0000"/>
            </a:solidFill>
            <a:prstDash val="solid"/>
            <a:round/>
            <a:headEnd type="none" w="med" len="med"/>
            <a:tailEnd type="triangle" w="med" len="med"/>
          </a:ln>
        </p:spPr>
      </p:cxnSp>
      <p:graphicFrame>
        <p:nvGraphicFramePr>
          <p:cNvPr id="1154" name="Google Shape;1154;g2950e80dcb7_0_44"/>
          <p:cNvGraphicFramePr/>
          <p:nvPr>
            <p:extLst>
              <p:ext uri="{D42A27DB-BD31-4B8C-83A1-F6EECF244321}">
                <p14:modId xmlns:p14="http://schemas.microsoft.com/office/powerpoint/2010/main" val="1980103533"/>
              </p:ext>
            </p:extLst>
          </p:nvPr>
        </p:nvGraphicFramePr>
        <p:xfrm>
          <a:off x="6861075" y="1890125"/>
          <a:ext cx="772900" cy="3657360"/>
        </p:xfrm>
        <a:graphic>
          <a:graphicData uri="http://schemas.openxmlformats.org/drawingml/2006/table">
            <a:tbl>
              <a:tblPr>
                <a:noFill/>
              </a:tblPr>
              <a:tblGrid>
                <a:gridCol w="772900">
                  <a:extLst>
                    <a:ext uri="{9D8B030D-6E8A-4147-A177-3AD203B41FA5}">
                      <a16:colId xmlns:a16="http://schemas.microsoft.com/office/drawing/2014/main" val="20000"/>
                    </a:ext>
                  </a:extLst>
                </a:gridCol>
              </a:tblGrid>
              <a:tr h="381000">
                <a:tc>
                  <a:txBody>
                    <a:bodyPr/>
                    <a:lstStyle/>
                    <a:p>
                      <a:pPr marL="0" lvl="0" indent="0" algn="ctr" rtl="0">
                        <a:spcBef>
                          <a:spcPts val="0"/>
                        </a:spcBef>
                        <a:spcAft>
                          <a:spcPts val="0"/>
                        </a:spcAft>
                        <a:buNone/>
                      </a:pPr>
                      <a:endParaRPr sz="1800" b="1" dirty="0">
                        <a:solidFill>
                          <a:schemeClr val="lt1"/>
                        </a:solidFill>
                      </a:endParaRPr>
                    </a:p>
                  </a:txBody>
                  <a:tcPr marL="91425" marR="91425" marT="91425" marB="91425">
                    <a:solidFill>
                      <a:srgbClr val="C00000"/>
                    </a:solidFill>
                  </a:tcPr>
                </a:tc>
                <a:extLst>
                  <a:ext uri="{0D108BD9-81ED-4DB2-BD59-A6C34878D82A}">
                    <a16:rowId xmlns:a16="http://schemas.microsoft.com/office/drawing/2014/main" val="10000"/>
                  </a:ext>
                </a:extLst>
              </a:tr>
              <a:tr h="381000">
                <a:tc>
                  <a:txBody>
                    <a:bodyPr/>
                    <a:lstStyle/>
                    <a:p>
                      <a:pPr marL="0" lvl="0" indent="0" algn="ctr" rtl="0">
                        <a:spcBef>
                          <a:spcPts val="0"/>
                        </a:spcBef>
                        <a:spcAft>
                          <a:spcPts val="0"/>
                        </a:spcAft>
                        <a:buNone/>
                      </a:pPr>
                      <a:endParaRPr sz="1800" b="1">
                        <a:solidFill>
                          <a:schemeClr val="lt1"/>
                        </a:solidFill>
                      </a:endParaRPr>
                    </a:p>
                  </a:txBody>
                  <a:tcPr marL="91425" marR="91425" marT="91425" marB="91425">
                    <a:solidFill>
                      <a:srgbClr val="C00000"/>
                    </a:solidFill>
                  </a:tcPr>
                </a:tc>
                <a:extLst>
                  <a:ext uri="{0D108BD9-81ED-4DB2-BD59-A6C34878D82A}">
                    <a16:rowId xmlns:a16="http://schemas.microsoft.com/office/drawing/2014/main" val="10001"/>
                  </a:ext>
                </a:extLst>
              </a:tr>
              <a:tr h="381000">
                <a:tc>
                  <a:txBody>
                    <a:bodyPr/>
                    <a:lstStyle/>
                    <a:p>
                      <a:pPr marL="0" lvl="0" indent="0" algn="ctr" rtl="0">
                        <a:spcBef>
                          <a:spcPts val="0"/>
                        </a:spcBef>
                        <a:spcAft>
                          <a:spcPts val="0"/>
                        </a:spcAft>
                        <a:buNone/>
                      </a:pPr>
                      <a:endParaRPr sz="1800" b="1" dirty="0">
                        <a:solidFill>
                          <a:schemeClr val="lt1"/>
                        </a:solidFill>
                      </a:endParaRPr>
                    </a:p>
                  </a:txBody>
                  <a:tcPr marL="91425" marR="91425" marT="91425" marB="91425">
                    <a:solidFill>
                      <a:srgbClr val="C00000"/>
                    </a:solidFill>
                  </a:tcPr>
                </a:tc>
                <a:extLst>
                  <a:ext uri="{0D108BD9-81ED-4DB2-BD59-A6C34878D82A}">
                    <a16:rowId xmlns:a16="http://schemas.microsoft.com/office/drawing/2014/main" val="10002"/>
                  </a:ext>
                </a:extLst>
              </a:tr>
              <a:tr h="381000">
                <a:tc>
                  <a:txBody>
                    <a:bodyPr/>
                    <a:lstStyle/>
                    <a:p>
                      <a:pPr marL="0" lvl="0" indent="0" algn="ctr" rtl="0">
                        <a:spcBef>
                          <a:spcPts val="0"/>
                        </a:spcBef>
                        <a:spcAft>
                          <a:spcPts val="0"/>
                        </a:spcAft>
                        <a:buNone/>
                      </a:pPr>
                      <a:endParaRPr sz="1800" b="1">
                        <a:solidFill>
                          <a:schemeClr val="lt1"/>
                        </a:solidFill>
                      </a:endParaRPr>
                    </a:p>
                  </a:txBody>
                  <a:tcPr marL="91425" marR="91425" marT="91425" marB="91425">
                    <a:solidFill>
                      <a:srgbClr val="C00000"/>
                    </a:solidFill>
                  </a:tcPr>
                </a:tc>
                <a:extLst>
                  <a:ext uri="{0D108BD9-81ED-4DB2-BD59-A6C34878D82A}">
                    <a16:rowId xmlns:a16="http://schemas.microsoft.com/office/drawing/2014/main" val="10003"/>
                  </a:ext>
                </a:extLst>
              </a:tr>
              <a:tr h="381000">
                <a:tc>
                  <a:txBody>
                    <a:bodyPr/>
                    <a:lstStyle/>
                    <a:p>
                      <a:pPr marL="0" lvl="0" indent="0" algn="ctr" rtl="0">
                        <a:spcBef>
                          <a:spcPts val="0"/>
                        </a:spcBef>
                        <a:spcAft>
                          <a:spcPts val="0"/>
                        </a:spcAft>
                        <a:buNone/>
                      </a:pPr>
                      <a:endParaRPr sz="1800" b="1">
                        <a:solidFill>
                          <a:schemeClr val="lt1"/>
                        </a:solidFill>
                      </a:endParaRPr>
                    </a:p>
                  </a:txBody>
                  <a:tcPr marL="91425" marR="91425" marT="91425" marB="91425">
                    <a:solidFill>
                      <a:srgbClr val="C00000"/>
                    </a:solidFill>
                  </a:tcPr>
                </a:tc>
                <a:extLst>
                  <a:ext uri="{0D108BD9-81ED-4DB2-BD59-A6C34878D82A}">
                    <a16:rowId xmlns:a16="http://schemas.microsoft.com/office/drawing/2014/main" val="10004"/>
                  </a:ext>
                </a:extLst>
              </a:tr>
              <a:tr h="381000">
                <a:tc>
                  <a:txBody>
                    <a:bodyPr/>
                    <a:lstStyle/>
                    <a:p>
                      <a:pPr marL="0" lvl="0" indent="0" algn="ctr" rtl="0">
                        <a:spcBef>
                          <a:spcPts val="0"/>
                        </a:spcBef>
                        <a:spcAft>
                          <a:spcPts val="0"/>
                        </a:spcAft>
                        <a:buNone/>
                      </a:pPr>
                      <a:endParaRPr sz="1800" b="1" dirty="0">
                        <a:solidFill>
                          <a:schemeClr val="lt1"/>
                        </a:solidFill>
                      </a:endParaRPr>
                    </a:p>
                  </a:txBody>
                  <a:tcPr marL="91425" marR="91425" marT="91425" marB="91425">
                    <a:solidFill>
                      <a:srgbClr val="C00000"/>
                    </a:solidFill>
                  </a:tcPr>
                </a:tc>
                <a:extLst>
                  <a:ext uri="{0D108BD9-81ED-4DB2-BD59-A6C34878D82A}">
                    <a16:rowId xmlns:a16="http://schemas.microsoft.com/office/drawing/2014/main" val="10005"/>
                  </a:ext>
                </a:extLst>
              </a:tr>
              <a:tr h="381000">
                <a:tc>
                  <a:txBody>
                    <a:bodyPr/>
                    <a:lstStyle/>
                    <a:p>
                      <a:pPr marL="0" lvl="0" indent="0" algn="ctr" rtl="0">
                        <a:spcBef>
                          <a:spcPts val="0"/>
                        </a:spcBef>
                        <a:spcAft>
                          <a:spcPts val="0"/>
                        </a:spcAft>
                        <a:buNone/>
                      </a:pPr>
                      <a:r>
                        <a:rPr lang="en" sz="1800" b="1" dirty="0">
                          <a:solidFill>
                            <a:schemeClr val="lt1"/>
                          </a:solidFill>
                        </a:rPr>
                        <a:t>53</a:t>
                      </a:r>
                      <a:endParaRPr sz="1800" b="1" dirty="0">
                        <a:solidFill>
                          <a:schemeClr val="lt1"/>
                        </a:solidFill>
                      </a:endParaRPr>
                    </a:p>
                  </a:txBody>
                  <a:tcPr marL="91425" marR="91425" marT="91425" marB="91425">
                    <a:solidFill>
                      <a:srgbClr val="C00000"/>
                    </a:solidFill>
                  </a:tcPr>
                </a:tc>
                <a:extLst>
                  <a:ext uri="{0D108BD9-81ED-4DB2-BD59-A6C34878D82A}">
                    <a16:rowId xmlns:a16="http://schemas.microsoft.com/office/drawing/2014/main" val="10006"/>
                  </a:ext>
                </a:extLst>
              </a:tr>
              <a:tr h="381000">
                <a:tc>
                  <a:txBody>
                    <a:bodyPr/>
                    <a:lstStyle/>
                    <a:p>
                      <a:pPr marL="0" lvl="0" indent="0" algn="ctr" rtl="0">
                        <a:spcBef>
                          <a:spcPts val="0"/>
                        </a:spcBef>
                        <a:spcAft>
                          <a:spcPts val="0"/>
                        </a:spcAft>
                        <a:buNone/>
                      </a:pPr>
                      <a:r>
                        <a:rPr lang="en" sz="1800" b="1" dirty="0">
                          <a:solidFill>
                            <a:schemeClr val="lt1"/>
                          </a:solidFill>
                        </a:rPr>
                        <a:t>04</a:t>
                      </a:r>
                      <a:endParaRPr sz="1800" b="1" dirty="0">
                        <a:solidFill>
                          <a:schemeClr val="lt1"/>
                        </a:solidFill>
                      </a:endParaRPr>
                    </a:p>
                  </a:txBody>
                  <a:tcPr marL="91425" marR="91425" marT="91425" marB="91425">
                    <a:solidFill>
                      <a:srgbClr val="C00000"/>
                    </a:solidFill>
                  </a:tcPr>
                </a:tc>
                <a:extLst>
                  <a:ext uri="{0D108BD9-81ED-4DB2-BD59-A6C34878D82A}">
                    <a16:rowId xmlns:a16="http://schemas.microsoft.com/office/drawing/2014/main" val="10007"/>
                  </a:ext>
                </a:extLst>
              </a:tr>
            </a:tbl>
          </a:graphicData>
        </a:graphic>
      </p:graphicFrame>
      <p:sp>
        <p:nvSpPr>
          <p:cNvPr id="1155" name="Google Shape;1155;g2950e80dcb7_0_44"/>
          <p:cNvSpPr txBox="1"/>
          <p:nvPr/>
        </p:nvSpPr>
        <p:spPr>
          <a:xfrm>
            <a:off x="8594850" y="1249850"/>
            <a:ext cx="1868400" cy="514500"/>
          </a:xfrm>
          <a:prstGeom prst="rect">
            <a:avLst/>
          </a:prstGeom>
          <a:noFill/>
          <a:ln>
            <a:noFill/>
          </a:ln>
        </p:spPr>
        <p:txBody>
          <a:bodyPr spcFirstLastPara="1" wrap="square" lIns="91425" tIns="91425" rIns="91425" bIns="91425" anchor="t" anchorCtr="0">
            <a:noAutofit/>
          </a:bodyPr>
          <a:lstStyle/>
          <a:p>
            <a:pPr algn="ctr"/>
            <a:r>
              <a:rPr lang="en" sz="1900">
                <a:solidFill>
                  <a:srgbClr val="00C3B1"/>
                </a:solidFill>
                <a:latin typeface="Didact Gothic"/>
                <a:ea typeface="Didact Gothic"/>
                <a:cs typeface="Didact Gothic"/>
                <a:sym typeface="Didact Gothic"/>
              </a:rPr>
              <a:t>Stack cont.</a:t>
            </a:r>
            <a:endParaRPr sz="1900">
              <a:solidFill>
                <a:srgbClr val="00C3B1"/>
              </a:solidFill>
              <a:latin typeface="Didact Gothic"/>
              <a:ea typeface="Didact Gothic"/>
              <a:cs typeface="Didact Gothic"/>
              <a:sym typeface="Didact Gothic"/>
            </a:endParaRPr>
          </a:p>
        </p:txBody>
      </p:sp>
      <p:graphicFrame>
        <p:nvGraphicFramePr>
          <p:cNvPr id="1156" name="Google Shape;1156;g2950e80dcb7_0_44"/>
          <p:cNvGraphicFramePr/>
          <p:nvPr>
            <p:extLst>
              <p:ext uri="{D42A27DB-BD31-4B8C-83A1-F6EECF244321}">
                <p14:modId xmlns:p14="http://schemas.microsoft.com/office/powerpoint/2010/main" val="1492033650"/>
              </p:ext>
            </p:extLst>
          </p:nvPr>
        </p:nvGraphicFramePr>
        <p:xfrm>
          <a:off x="9142600" y="1890138"/>
          <a:ext cx="917700" cy="3581190"/>
        </p:xfrm>
        <a:graphic>
          <a:graphicData uri="http://schemas.openxmlformats.org/drawingml/2006/table">
            <a:tbl>
              <a:tblPr>
                <a:noFill/>
              </a:tblPr>
              <a:tblGrid>
                <a:gridCol w="917700">
                  <a:extLst>
                    <a:ext uri="{9D8B030D-6E8A-4147-A177-3AD203B41FA5}">
                      <a16:colId xmlns:a16="http://schemas.microsoft.com/office/drawing/2014/main" val="20000"/>
                    </a:ext>
                  </a:extLst>
                </a:gridCol>
              </a:tblGrid>
              <a:tr h="381000">
                <a:tc>
                  <a:txBody>
                    <a:bodyPr/>
                    <a:lstStyle/>
                    <a:p>
                      <a:pPr marL="0" lvl="0" indent="0" algn="ctr" rtl="0">
                        <a:spcBef>
                          <a:spcPts val="0"/>
                        </a:spcBef>
                        <a:spcAft>
                          <a:spcPts val="0"/>
                        </a:spcAft>
                        <a:buNone/>
                      </a:pPr>
                      <a:endParaRPr sz="1800" b="1" dirty="0">
                        <a:solidFill>
                          <a:schemeClr val="lt1"/>
                        </a:solidFill>
                      </a:endParaRPr>
                    </a:p>
                  </a:txBody>
                  <a:tcPr marL="91425" marR="91425" marT="91425" marB="91425">
                    <a:solidFill>
                      <a:srgbClr val="C00000"/>
                    </a:solidFill>
                  </a:tcPr>
                </a:tc>
                <a:extLst>
                  <a:ext uri="{0D108BD9-81ED-4DB2-BD59-A6C34878D82A}">
                    <a16:rowId xmlns:a16="http://schemas.microsoft.com/office/drawing/2014/main" val="10000"/>
                  </a:ext>
                </a:extLst>
              </a:tr>
              <a:tr h="381000">
                <a:tc>
                  <a:txBody>
                    <a:bodyPr/>
                    <a:lstStyle/>
                    <a:p>
                      <a:pPr marL="0" lvl="0" indent="0" algn="ctr" rtl="0">
                        <a:spcBef>
                          <a:spcPts val="0"/>
                        </a:spcBef>
                        <a:spcAft>
                          <a:spcPts val="0"/>
                        </a:spcAft>
                        <a:buNone/>
                      </a:pPr>
                      <a:endParaRPr sz="1800" b="1" dirty="0">
                        <a:solidFill>
                          <a:schemeClr val="lt1"/>
                        </a:solidFill>
                      </a:endParaRPr>
                    </a:p>
                  </a:txBody>
                  <a:tcPr marL="91425" marR="91425" marT="91425" marB="91425">
                    <a:solidFill>
                      <a:srgbClr val="C00000"/>
                    </a:solidFill>
                  </a:tcPr>
                </a:tc>
                <a:extLst>
                  <a:ext uri="{0D108BD9-81ED-4DB2-BD59-A6C34878D82A}">
                    <a16:rowId xmlns:a16="http://schemas.microsoft.com/office/drawing/2014/main" val="10001"/>
                  </a:ext>
                </a:extLst>
              </a:tr>
              <a:tr h="381000">
                <a:tc>
                  <a:txBody>
                    <a:bodyPr/>
                    <a:lstStyle/>
                    <a:p>
                      <a:pPr marL="0" lvl="0" indent="0" algn="ctr" rtl="0">
                        <a:spcBef>
                          <a:spcPts val="0"/>
                        </a:spcBef>
                        <a:spcAft>
                          <a:spcPts val="0"/>
                        </a:spcAft>
                        <a:buNone/>
                      </a:pPr>
                      <a:endParaRPr sz="1800" b="1" dirty="0">
                        <a:solidFill>
                          <a:schemeClr val="lt1"/>
                        </a:solidFill>
                      </a:endParaRPr>
                    </a:p>
                  </a:txBody>
                  <a:tcPr marL="91425" marR="91425" marT="91425" marB="91425">
                    <a:solidFill>
                      <a:srgbClr val="C00000"/>
                    </a:solidFill>
                  </a:tcPr>
                </a:tc>
                <a:extLst>
                  <a:ext uri="{0D108BD9-81ED-4DB2-BD59-A6C34878D82A}">
                    <a16:rowId xmlns:a16="http://schemas.microsoft.com/office/drawing/2014/main" val="10002"/>
                  </a:ext>
                </a:extLst>
              </a:tr>
              <a:tr h="381000">
                <a:tc>
                  <a:txBody>
                    <a:bodyPr/>
                    <a:lstStyle/>
                    <a:p>
                      <a:pPr marL="0" lvl="0" indent="0" algn="ctr" rtl="0">
                        <a:spcBef>
                          <a:spcPts val="0"/>
                        </a:spcBef>
                        <a:spcAft>
                          <a:spcPts val="0"/>
                        </a:spcAft>
                        <a:buNone/>
                      </a:pPr>
                      <a:endParaRPr sz="1800" b="1" dirty="0">
                        <a:solidFill>
                          <a:schemeClr val="lt1"/>
                        </a:solidFill>
                      </a:endParaRPr>
                    </a:p>
                  </a:txBody>
                  <a:tcPr marL="91425" marR="91425" marT="91425" marB="91425">
                    <a:solidFill>
                      <a:srgbClr val="C00000"/>
                    </a:solidFill>
                  </a:tcPr>
                </a:tc>
                <a:extLst>
                  <a:ext uri="{0D108BD9-81ED-4DB2-BD59-A6C34878D82A}">
                    <a16:rowId xmlns:a16="http://schemas.microsoft.com/office/drawing/2014/main" val="10003"/>
                  </a:ext>
                </a:extLst>
              </a:tr>
              <a:tr h="381000">
                <a:tc>
                  <a:txBody>
                    <a:bodyPr/>
                    <a:lstStyle/>
                    <a:p>
                      <a:pPr marL="0" lvl="0" indent="0" algn="ctr" rtl="0">
                        <a:spcBef>
                          <a:spcPts val="0"/>
                        </a:spcBef>
                        <a:spcAft>
                          <a:spcPts val="0"/>
                        </a:spcAft>
                        <a:buNone/>
                      </a:pPr>
                      <a:endParaRPr sz="1800" b="1" dirty="0">
                        <a:solidFill>
                          <a:schemeClr val="dk1"/>
                        </a:solidFill>
                      </a:endParaRPr>
                    </a:p>
                  </a:txBody>
                  <a:tcPr marL="91425" marR="91425" marT="91425" marB="91425">
                    <a:solidFill>
                      <a:srgbClr val="C00000"/>
                    </a:solidFill>
                  </a:tcPr>
                </a:tc>
                <a:extLst>
                  <a:ext uri="{0D108BD9-81ED-4DB2-BD59-A6C34878D82A}">
                    <a16:rowId xmlns:a16="http://schemas.microsoft.com/office/drawing/2014/main" val="10004"/>
                  </a:ext>
                </a:extLst>
              </a:tr>
              <a:tr h="381000">
                <a:tc>
                  <a:txBody>
                    <a:bodyPr/>
                    <a:lstStyle/>
                    <a:p>
                      <a:pPr marL="0" lvl="0" indent="0" algn="ctr" rtl="0">
                        <a:spcBef>
                          <a:spcPts val="0"/>
                        </a:spcBef>
                        <a:spcAft>
                          <a:spcPts val="0"/>
                        </a:spcAft>
                        <a:buNone/>
                      </a:pPr>
                      <a:endParaRPr sz="700" dirty="0">
                        <a:solidFill>
                          <a:schemeClr val="dk1"/>
                        </a:solidFill>
                      </a:endParaRPr>
                    </a:p>
                  </a:txBody>
                  <a:tcPr marL="91425" marR="91425" marT="91425" marB="91425">
                    <a:solidFill>
                      <a:srgbClr val="C00000"/>
                    </a:solidFill>
                  </a:tcPr>
                </a:tc>
                <a:extLst>
                  <a:ext uri="{0D108BD9-81ED-4DB2-BD59-A6C34878D82A}">
                    <a16:rowId xmlns:a16="http://schemas.microsoft.com/office/drawing/2014/main" val="10005"/>
                  </a:ext>
                </a:extLst>
              </a:tr>
              <a:tr h="381000">
                <a:tc>
                  <a:txBody>
                    <a:bodyPr/>
                    <a:lstStyle/>
                    <a:p>
                      <a:pPr marL="0" lvl="0" indent="0" algn="ctr" rtl="0">
                        <a:spcBef>
                          <a:spcPts val="0"/>
                        </a:spcBef>
                        <a:spcAft>
                          <a:spcPts val="0"/>
                        </a:spcAft>
                        <a:buNone/>
                      </a:pPr>
                      <a:endParaRPr sz="1800" b="1" dirty="0">
                        <a:solidFill>
                          <a:schemeClr val="dk1"/>
                        </a:solidFill>
                      </a:endParaRPr>
                    </a:p>
                  </a:txBody>
                  <a:tcPr marL="91425" marR="91425" marT="91425" marB="91425">
                    <a:solidFill>
                      <a:srgbClr val="C00000"/>
                    </a:solidFill>
                  </a:tcPr>
                </a:tc>
                <a:extLst>
                  <a:ext uri="{0D108BD9-81ED-4DB2-BD59-A6C34878D82A}">
                    <a16:rowId xmlns:a16="http://schemas.microsoft.com/office/drawing/2014/main" val="10006"/>
                  </a:ext>
                </a:extLst>
              </a:tr>
              <a:tr h="381000">
                <a:tc>
                  <a:txBody>
                    <a:bodyPr/>
                    <a:lstStyle/>
                    <a:p>
                      <a:pPr marL="0" lvl="0" indent="0" algn="ctr" rtl="0">
                        <a:spcBef>
                          <a:spcPts val="0"/>
                        </a:spcBef>
                        <a:spcAft>
                          <a:spcPts val="0"/>
                        </a:spcAft>
                        <a:buNone/>
                      </a:pPr>
                      <a:endParaRPr sz="1800" b="1" dirty="0">
                        <a:solidFill>
                          <a:schemeClr val="dk1"/>
                        </a:solidFill>
                      </a:endParaRPr>
                    </a:p>
                  </a:txBody>
                  <a:tcPr marL="91425" marR="91425" marT="91425" marB="91425">
                    <a:solidFill>
                      <a:srgbClr val="C00000"/>
                    </a:solidFill>
                  </a:tcPr>
                </a:tc>
                <a:extLst>
                  <a:ext uri="{0D108BD9-81ED-4DB2-BD59-A6C34878D82A}">
                    <a16:rowId xmlns:a16="http://schemas.microsoft.com/office/drawing/2014/main" val="10007"/>
                  </a:ext>
                </a:extLst>
              </a:tr>
            </a:tbl>
          </a:graphicData>
        </a:graphic>
      </p:graphicFrame>
      <p:sp>
        <p:nvSpPr>
          <p:cNvPr id="2" name="Title 1">
            <a:extLst>
              <a:ext uri="{FF2B5EF4-FFF2-40B4-BE49-F238E27FC236}">
                <a16:creationId xmlns:a16="http://schemas.microsoft.com/office/drawing/2014/main" id="{AAE7DE8B-A10E-7507-38EA-1F702440521C}"/>
              </a:ext>
            </a:extLst>
          </p:cNvPr>
          <p:cNvSpPr txBox="1">
            <a:spLocks/>
          </p:cNvSpPr>
          <p:nvPr/>
        </p:nvSpPr>
        <p:spPr>
          <a:xfrm>
            <a:off x="646111" y="452718"/>
            <a:ext cx="9404723" cy="1400530"/>
          </a:xfrm>
          <a:prstGeom prst="rect">
            <a:avLst/>
          </a:prstGeom>
          <a:noFill/>
          <a:ln>
            <a:noFill/>
          </a:ln>
        </p:spPr>
        <p:txBody>
          <a:bodyPr spcFirstLastPara="1" vert="horz" wrap="square" lIns="91425" tIns="91425" rIns="91425" bIns="91425" rtlCol="0" anchor="ctr" anchorCtr="0">
            <a:noAutofit/>
          </a:bodyPr>
          <a:lstStyle>
            <a:lvl1pPr lvl="0" algn="l" defTabSz="457200" rtl="0" eaLnBrk="1" latinLnBrk="0" hangingPunct="1">
              <a:lnSpc>
                <a:spcPct val="100000"/>
              </a:lnSpc>
              <a:spcBef>
                <a:spcPts val="0"/>
              </a:spcBef>
              <a:spcAft>
                <a:spcPts val="0"/>
              </a:spcAft>
              <a:buSzPts val="3500"/>
              <a:buNone/>
              <a:defRPr sz="4200" b="0" i="0" kern="1200">
                <a:solidFill>
                  <a:schemeClr val="tx2"/>
                </a:solidFill>
                <a:latin typeface="+mj-lt"/>
                <a:ea typeface="+mj-ea"/>
                <a:cs typeface="+mj-cs"/>
              </a:defRPr>
            </a:lvl1pPr>
            <a:lvl2pPr lvl="1" algn="l" eaLnBrk="1" hangingPunct="1">
              <a:lnSpc>
                <a:spcPct val="100000"/>
              </a:lnSpc>
              <a:spcBef>
                <a:spcPts val="0"/>
              </a:spcBef>
              <a:spcAft>
                <a:spcPts val="0"/>
              </a:spcAft>
              <a:buSzPts val="3500"/>
              <a:buNone/>
              <a:defRPr>
                <a:solidFill>
                  <a:schemeClr val="tx2"/>
                </a:solidFill>
              </a:defRPr>
            </a:lvl2pPr>
            <a:lvl3pPr lvl="2" algn="l" eaLnBrk="1" hangingPunct="1">
              <a:lnSpc>
                <a:spcPct val="100000"/>
              </a:lnSpc>
              <a:spcBef>
                <a:spcPts val="0"/>
              </a:spcBef>
              <a:spcAft>
                <a:spcPts val="0"/>
              </a:spcAft>
              <a:buSzPts val="3500"/>
              <a:buNone/>
              <a:defRPr>
                <a:solidFill>
                  <a:schemeClr val="tx2"/>
                </a:solidFill>
              </a:defRPr>
            </a:lvl3pPr>
            <a:lvl4pPr lvl="3" algn="l" eaLnBrk="1" hangingPunct="1">
              <a:lnSpc>
                <a:spcPct val="100000"/>
              </a:lnSpc>
              <a:spcBef>
                <a:spcPts val="0"/>
              </a:spcBef>
              <a:spcAft>
                <a:spcPts val="0"/>
              </a:spcAft>
              <a:buSzPts val="3500"/>
              <a:buNone/>
              <a:defRPr>
                <a:solidFill>
                  <a:schemeClr val="tx2"/>
                </a:solidFill>
              </a:defRPr>
            </a:lvl4pPr>
            <a:lvl5pPr lvl="4" algn="l" eaLnBrk="1" hangingPunct="1">
              <a:lnSpc>
                <a:spcPct val="100000"/>
              </a:lnSpc>
              <a:spcBef>
                <a:spcPts val="0"/>
              </a:spcBef>
              <a:spcAft>
                <a:spcPts val="0"/>
              </a:spcAft>
              <a:buSzPts val="3500"/>
              <a:buNone/>
              <a:defRPr>
                <a:solidFill>
                  <a:schemeClr val="tx2"/>
                </a:solidFill>
              </a:defRPr>
            </a:lvl5pPr>
            <a:lvl6pPr lvl="5" algn="l" eaLnBrk="1" hangingPunct="1">
              <a:lnSpc>
                <a:spcPct val="100000"/>
              </a:lnSpc>
              <a:spcBef>
                <a:spcPts val="0"/>
              </a:spcBef>
              <a:spcAft>
                <a:spcPts val="0"/>
              </a:spcAft>
              <a:buSzPts val="3500"/>
              <a:buNone/>
              <a:defRPr>
                <a:solidFill>
                  <a:schemeClr val="tx2"/>
                </a:solidFill>
              </a:defRPr>
            </a:lvl6pPr>
            <a:lvl7pPr lvl="6" algn="l" eaLnBrk="1" hangingPunct="1">
              <a:lnSpc>
                <a:spcPct val="100000"/>
              </a:lnSpc>
              <a:spcBef>
                <a:spcPts val="0"/>
              </a:spcBef>
              <a:spcAft>
                <a:spcPts val="0"/>
              </a:spcAft>
              <a:buSzPts val="3500"/>
              <a:buNone/>
              <a:defRPr>
                <a:solidFill>
                  <a:schemeClr val="tx2"/>
                </a:solidFill>
              </a:defRPr>
            </a:lvl7pPr>
            <a:lvl8pPr lvl="7" algn="l" eaLnBrk="1" hangingPunct="1">
              <a:lnSpc>
                <a:spcPct val="100000"/>
              </a:lnSpc>
              <a:spcBef>
                <a:spcPts val="0"/>
              </a:spcBef>
              <a:spcAft>
                <a:spcPts val="0"/>
              </a:spcAft>
              <a:buSzPts val="3500"/>
              <a:buNone/>
              <a:defRPr>
                <a:solidFill>
                  <a:schemeClr val="tx2"/>
                </a:solidFill>
              </a:defRPr>
            </a:lvl8pPr>
            <a:lvl9pPr lvl="8" algn="l" eaLnBrk="1" hangingPunct="1">
              <a:lnSpc>
                <a:spcPct val="100000"/>
              </a:lnSpc>
              <a:spcBef>
                <a:spcPts val="0"/>
              </a:spcBef>
              <a:spcAft>
                <a:spcPts val="0"/>
              </a:spcAft>
              <a:buSzPts val="3500"/>
              <a:buNone/>
              <a:defRPr>
                <a:solidFill>
                  <a:schemeClr val="tx2"/>
                </a:solidFill>
              </a:defRPr>
            </a:lvl9pPr>
          </a:lstStyle>
          <a:p>
            <a:r>
              <a:rPr lang="en-US"/>
              <a:t>Problem 3</a:t>
            </a:r>
            <a:endParaRPr lang="en-US" dirty="0"/>
          </a:p>
        </p:txBody>
      </p:sp>
      <p:sp>
        <p:nvSpPr>
          <p:cNvPr id="3" name="Rectangle 2">
            <a:extLst>
              <a:ext uri="{FF2B5EF4-FFF2-40B4-BE49-F238E27FC236}">
                <a16:creationId xmlns:a16="http://schemas.microsoft.com/office/drawing/2014/main" id="{FCF0344E-5FB5-9FC1-43FA-817B695A82E7}"/>
              </a:ext>
            </a:extLst>
          </p:cNvPr>
          <p:cNvSpPr/>
          <p:nvPr/>
        </p:nvSpPr>
        <p:spPr>
          <a:xfrm>
            <a:off x="6165800" y="5723751"/>
            <a:ext cx="2325949" cy="331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Top of Memory</a:t>
            </a:r>
          </a:p>
        </p:txBody>
      </p:sp>
      <p:sp>
        <p:nvSpPr>
          <p:cNvPr id="4" name="Rectangle 3">
            <a:extLst>
              <a:ext uri="{FF2B5EF4-FFF2-40B4-BE49-F238E27FC236}">
                <a16:creationId xmlns:a16="http://schemas.microsoft.com/office/drawing/2014/main" id="{A1DFADB1-7D53-6344-77FE-2B787DB25285}"/>
              </a:ext>
            </a:extLst>
          </p:cNvPr>
          <p:cNvSpPr/>
          <p:nvPr/>
        </p:nvSpPr>
        <p:spPr>
          <a:xfrm>
            <a:off x="7979625" y="830849"/>
            <a:ext cx="2325949" cy="331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Bottom of Memory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60"/>
        <p:cNvGrpSpPr/>
        <p:nvPr/>
      </p:nvGrpSpPr>
      <p:grpSpPr>
        <a:xfrm>
          <a:off x="0" y="0"/>
          <a:ext cx="0" cy="0"/>
          <a:chOff x="0" y="0"/>
          <a:chExt cx="0" cy="0"/>
        </a:xfrm>
      </p:grpSpPr>
      <p:pic>
        <p:nvPicPr>
          <p:cNvPr id="1162" name="Google Shape;1162;g2950e80dcb7_0_56"/>
          <p:cNvPicPr preferRelativeResize="0"/>
          <p:nvPr/>
        </p:nvPicPr>
        <p:blipFill>
          <a:blip r:embed="rId3">
            <a:alphaModFix/>
          </a:blip>
          <a:stretch>
            <a:fillRect/>
          </a:stretch>
        </p:blipFill>
        <p:spPr>
          <a:xfrm>
            <a:off x="2286002" y="2062352"/>
            <a:ext cx="2497975" cy="3312775"/>
          </a:xfrm>
          <a:prstGeom prst="rect">
            <a:avLst/>
          </a:prstGeom>
          <a:noFill/>
          <a:ln>
            <a:noFill/>
          </a:ln>
        </p:spPr>
      </p:pic>
      <p:cxnSp>
        <p:nvCxnSpPr>
          <p:cNvPr id="1163" name="Google Shape;1163;g2950e80dcb7_0_56"/>
          <p:cNvCxnSpPr/>
          <p:nvPr/>
        </p:nvCxnSpPr>
        <p:spPr>
          <a:xfrm>
            <a:off x="2401800" y="3494300"/>
            <a:ext cx="661200" cy="0"/>
          </a:xfrm>
          <a:prstGeom prst="straightConnector1">
            <a:avLst/>
          </a:prstGeom>
          <a:noFill/>
          <a:ln w="28575" cap="flat" cmpd="sng">
            <a:solidFill>
              <a:srgbClr val="FF0000"/>
            </a:solidFill>
            <a:prstDash val="solid"/>
            <a:round/>
            <a:headEnd type="none" w="med" len="med"/>
            <a:tailEnd type="triangle" w="med" len="med"/>
          </a:ln>
        </p:spPr>
      </p:cxnSp>
      <p:sp>
        <p:nvSpPr>
          <p:cNvPr id="1164" name="Google Shape;1164;g2950e80dcb7_0_56"/>
          <p:cNvSpPr txBox="1"/>
          <p:nvPr/>
        </p:nvSpPr>
        <p:spPr>
          <a:xfrm>
            <a:off x="6313325" y="1249850"/>
            <a:ext cx="1868400" cy="514500"/>
          </a:xfrm>
          <a:prstGeom prst="rect">
            <a:avLst/>
          </a:prstGeom>
          <a:noFill/>
          <a:ln>
            <a:noFill/>
          </a:ln>
        </p:spPr>
        <p:txBody>
          <a:bodyPr spcFirstLastPara="1" wrap="square" lIns="91425" tIns="91425" rIns="91425" bIns="91425" anchor="t" anchorCtr="0">
            <a:noAutofit/>
          </a:bodyPr>
          <a:lstStyle/>
          <a:p>
            <a:pPr algn="ctr"/>
            <a:r>
              <a:rPr lang="en" sz="1900">
                <a:solidFill>
                  <a:srgbClr val="00C3B1"/>
                </a:solidFill>
                <a:latin typeface="Didact Gothic"/>
                <a:ea typeface="Didact Gothic"/>
                <a:cs typeface="Didact Gothic"/>
                <a:sym typeface="Didact Gothic"/>
              </a:rPr>
              <a:t>Stack</a:t>
            </a:r>
            <a:endParaRPr sz="1900">
              <a:solidFill>
                <a:srgbClr val="00C3B1"/>
              </a:solidFill>
              <a:latin typeface="Didact Gothic"/>
              <a:ea typeface="Didact Gothic"/>
              <a:cs typeface="Didact Gothic"/>
              <a:sym typeface="Didact Gothic"/>
            </a:endParaRPr>
          </a:p>
        </p:txBody>
      </p:sp>
      <p:sp>
        <p:nvSpPr>
          <p:cNvPr id="1165" name="Google Shape;1165;g2950e80dcb7_0_56"/>
          <p:cNvSpPr txBox="1"/>
          <p:nvPr/>
        </p:nvSpPr>
        <p:spPr>
          <a:xfrm>
            <a:off x="5462450" y="3305300"/>
            <a:ext cx="1280700" cy="378000"/>
          </a:xfrm>
          <a:prstGeom prst="rect">
            <a:avLst/>
          </a:prstGeom>
          <a:noFill/>
          <a:ln>
            <a:noFill/>
          </a:ln>
        </p:spPr>
        <p:txBody>
          <a:bodyPr spcFirstLastPara="1" wrap="square" lIns="91425" tIns="91425" rIns="91425" bIns="91425" anchor="t" anchorCtr="0">
            <a:noAutofit/>
          </a:bodyPr>
          <a:lstStyle/>
          <a:p>
            <a:r>
              <a:rPr lang="en">
                <a:solidFill>
                  <a:schemeClr val="lt1"/>
                </a:solidFill>
                <a:latin typeface="Didact Gothic"/>
                <a:ea typeface="Didact Gothic"/>
                <a:cs typeface="Didact Gothic"/>
                <a:sym typeface="Didact Gothic"/>
              </a:rPr>
              <a:t>SP = 1284H</a:t>
            </a:r>
            <a:endParaRPr>
              <a:solidFill>
                <a:schemeClr val="lt1"/>
              </a:solidFill>
              <a:latin typeface="Didact Gothic"/>
              <a:ea typeface="Didact Gothic"/>
              <a:cs typeface="Didact Gothic"/>
              <a:sym typeface="Didact Gothic"/>
            </a:endParaRPr>
          </a:p>
        </p:txBody>
      </p:sp>
      <p:cxnSp>
        <p:nvCxnSpPr>
          <p:cNvPr id="1166" name="Google Shape;1166;g2950e80dcb7_0_56"/>
          <p:cNvCxnSpPr/>
          <p:nvPr/>
        </p:nvCxnSpPr>
        <p:spPr>
          <a:xfrm>
            <a:off x="5493950" y="3704175"/>
            <a:ext cx="1343700" cy="10500"/>
          </a:xfrm>
          <a:prstGeom prst="straightConnector1">
            <a:avLst/>
          </a:prstGeom>
          <a:noFill/>
          <a:ln w="19050" cap="flat" cmpd="sng">
            <a:solidFill>
              <a:srgbClr val="FF0000"/>
            </a:solidFill>
            <a:prstDash val="solid"/>
            <a:round/>
            <a:headEnd type="none" w="med" len="med"/>
            <a:tailEnd type="triangle" w="med" len="med"/>
          </a:ln>
        </p:spPr>
      </p:cxnSp>
      <p:graphicFrame>
        <p:nvGraphicFramePr>
          <p:cNvPr id="1167" name="Google Shape;1167;g2950e80dcb7_0_56"/>
          <p:cNvGraphicFramePr/>
          <p:nvPr>
            <p:extLst>
              <p:ext uri="{D42A27DB-BD31-4B8C-83A1-F6EECF244321}">
                <p14:modId xmlns:p14="http://schemas.microsoft.com/office/powerpoint/2010/main" val="931614047"/>
              </p:ext>
            </p:extLst>
          </p:nvPr>
        </p:nvGraphicFramePr>
        <p:xfrm>
          <a:off x="6861075" y="1890125"/>
          <a:ext cx="772900" cy="3657360"/>
        </p:xfrm>
        <a:graphic>
          <a:graphicData uri="http://schemas.openxmlformats.org/drawingml/2006/table">
            <a:tbl>
              <a:tblPr>
                <a:noFill/>
              </a:tblPr>
              <a:tblGrid>
                <a:gridCol w="772900">
                  <a:extLst>
                    <a:ext uri="{9D8B030D-6E8A-4147-A177-3AD203B41FA5}">
                      <a16:colId xmlns:a16="http://schemas.microsoft.com/office/drawing/2014/main" val="20000"/>
                    </a:ext>
                  </a:extLst>
                </a:gridCol>
              </a:tblGrid>
              <a:tr h="381000">
                <a:tc>
                  <a:txBody>
                    <a:bodyPr/>
                    <a:lstStyle/>
                    <a:p>
                      <a:pPr marL="0" lvl="0" indent="0" algn="ctr" rtl="0">
                        <a:spcBef>
                          <a:spcPts val="0"/>
                        </a:spcBef>
                        <a:spcAft>
                          <a:spcPts val="0"/>
                        </a:spcAft>
                        <a:buNone/>
                      </a:pPr>
                      <a:endParaRPr sz="1800" b="1" dirty="0">
                        <a:solidFill>
                          <a:schemeClr val="lt1"/>
                        </a:solidFill>
                      </a:endParaRPr>
                    </a:p>
                  </a:txBody>
                  <a:tcPr marL="91425" marR="91425" marT="91425" marB="91425">
                    <a:solidFill>
                      <a:srgbClr val="C00000"/>
                    </a:solidFill>
                  </a:tcPr>
                </a:tc>
                <a:extLst>
                  <a:ext uri="{0D108BD9-81ED-4DB2-BD59-A6C34878D82A}">
                    <a16:rowId xmlns:a16="http://schemas.microsoft.com/office/drawing/2014/main" val="10000"/>
                  </a:ext>
                </a:extLst>
              </a:tr>
              <a:tr h="381000">
                <a:tc>
                  <a:txBody>
                    <a:bodyPr/>
                    <a:lstStyle/>
                    <a:p>
                      <a:pPr marL="0" lvl="0" indent="0" algn="ctr" rtl="0">
                        <a:spcBef>
                          <a:spcPts val="0"/>
                        </a:spcBef>
                        <a:spcAft>
                          <a:spcPts val="0"/>
                        </a:spcAft>
                        <a:buNone/>
                      </a:pPr>
                      <a:endParaRPr sz="1800" b="1">
                        <a:solidFill>
                          <a:schemeClr val="lt1"/>
                        </a:solidFill>
                      </a:endParaRPr>
                    </a:p>
                  </a:txBody>
                  <a:tcPr marL="91425" marR="91425" marT="91425" marB="91425">
                    <a:solidFill>
                      <a:srgbClr val="C00000"/>
                    </a:solidFill>
                  </a:tcPr>
                </a:tc>
                <a:extLst>
                  <a:ext uri="{0D108BD9-81ED-4DB2-BD59-A6C34878D82A}">
                    <a16:rowId xmlns:a16="http://schemas.microsoft.com/office/drawing/2014/main" val="10001"/>
                  </a:ext>
                </a:extLst>
              </a:tr>
              <a:tr h="381000">
                <a:tc>
                  <a:txBody>
                    <a:bodyPr/>
                    <a:lstStyle/>
                    <a:p>
                      <a:pPr marL="0" lvl="0" indent="0" algn="ctr" rtl="0">
                        <a:spcBef>
                          <a:spcPts val="0"/>
                        </a:spcBef>
                        <a:spcAft>
                          <a:spcPts val="0"/>
                        </a:spcAft>
                        <a:buNone/>
                      </a:pPr>
                      <a:endParaRPr sz="1800" b="1" dirty="0">
                        <a:solidFill>
                          <a:schemeClr val="lt1"/>
                        </a:solidFill>
                      </a:endParaRPr>
                    </a:p>
                  </a:txBody>
                  <a:tcPr marL="91425" marR="91425" marT="91425" marB="91425">
                    <a:solidFill>
                      <a:srgbClr val="C00000"/>
                    </a:solidFill>
                  </a:tcPr>
                </a:tc>
                <a:extLst>
                  <a:ext uri="{0D108BD9-81ED-4DB2-BD59-A6C34878D82A}">
                    <a16:rowId xmlns:a16="http://schemas.microsoft.com/office/drawing/2014/main" val="10002"/>
                  </a:ext>
                </a:extLst>
              </a:tr>
              <a:tr h="381000">
                <a:tc>
                  <a:txBody>
                    <a:bodyPr/>
                    <a:lstStyle/>
                    <a:p>
                      <a:pPr marL="0" lvl="0" indent="0" algn="ctr" rtl="0">
                        <a:spcBef>
                          <a:spcPts val="0"/>
                        </a:spcBef>
                        <a:spcAft>
                          <a:spcPts val="0"/>
                        </a:spcAft>
                        <a:buNone/>
                      </a:pPr>
                      <a:endParaRPr sz="1800" b="1" dirty="0">
                        <a:solidFill>
                          <a:schemeClr val="lt1"/>
                        </a:solidFill>
                      </a:endParaRPr>
                    </a:p>
                  </a:txBody>
                  <a:tcPr marL="91425" marR="91425" marT="91425" marB="91425">
                    <a:solidFill>
                      <a:srgbClr val="C00000"/>
                    </a:solidFill>
                  </a:tcPr>
                </a:tc>
                <a:extLst>
                  <a:ext uri="{0D108BD9-81ED-4DB2-BD59-A6C34878D82A}">
                    <a16:rowId xmlns:a16="http://schemas.microsoft.com/office/drawing/2014/main" val="10003"/>
                  </a:ext>
                </a:extLst>
              </a:tr>
              <a:tr h="381000">
                <a:tc>
                  <a:txBody>
                    <a:bodyPr/>
                    <a:lstStyle/>
                    <a:p>
                      <a:pPr marL="0" lvl="0" indent="0" algn="ctr" rtl="0">
                        <a:spcBef>
                          <a:spcPts val="0"/>
                        </a:spcBef>
                        <a:spcAft>
                          <a:spcPts val="0"/>
                        </a:spcAft>
                        <a:buNone/>
                      </a:pPr>
                      <a:r>
                        <a:rPr lang="en" sz="1800" b="1">
                          <a:solidFill>
                            <a:schemeClr val="lt1"/>
                          </a:solidFill>
                        </a:rPr>
                        <a:t>AL</a:t>
                      </a:r>
                      <a:endParaRPr sz="1800" b="1">
                        <a:solidFill>
                          <a:schemeClr val="lt1"/>
                        </a:solidFill>
                      </a:endParaRPr>
                    </a:p>
                  </a:txBody>
                  <a:tcPr marL="91425" marR="91425" marT="91425" marB="91425">
                    <a:solidFill>
                      <a:srgbClr val="C00000"/>
                    </a:solidFill>
                  </a:tcPr>
                </a:tc>
                <a:extLst>
                  <a:ext uri="{0D108BD9-81ED-4DB2-BD59-A6C34878D82A}">
                    <a16:rowId xmlns:a16="http://schemas.microsoft.com/office/drawing/2014/main" val="10004"/>
                  </a:ext>
                </a:extLst>
              </a:tr>
              <a:tr h="381000">
                <a:tc>
                  <a:txBody>
                    <a:bodyPr/>
                    <a:lstStyle/>
                    <a:p>
                      <a:pPr marL="0" lvl="0" indent="0" algn="ctr" rtl="0">
                        <a:spcBef>
                          <a:spcPts val="0"/>
                        </a:spcBef>
                        <a:spcAft>
                          <a:spcPts val="0"/>
                        </a:spcAft>
                        <a:buNone/>
                      </a:pPr>
                      <a:r>
                        <a:rPr lang="en" sz="1800" b="1" dirty="0">
                          <a:solidFill>
                            <a:schemeClr val="lt1"/>
                          </a:solidFill>
                        </a:rPr>
                        <a:t>AH</a:t>
                      </a:r>
                      <a:endParaRPr sz="1800" b="1" dirty="0">
                        <a:solidFill>
                          <a:schemeClr val="lt1"/>
                        </a:solidFill>
                      </a:endParaRPr>
                    </a:p>
                  </a:txBody>
                  <a:tcPr marL="91425" marR="91425" marT="91425" marB="91425">
                    <a:solidFill>
                      <a:srgbClr val="C00000"/>
                    </a:solidFill>
                  </a:tcPr>
                </a:tc>
                <a:extLst>
                  <a:ext uri="{0D108BD9-81ED-4DB2-BD59-A6C34878D82A}">
                    <a16:rowId xmlns:a16="http://schemas.microsoft.com/office/drawing/2014/main" val="10005"/>
                  </a:ext>
                </a:extLst>
              </a:tr>
              <a:tr h="381000">
                <a:tc>
                  <a:txBody>
                    <a:bodyPr/>
                    <a:lstStyle/>
                    <a:p>
                      <a:pPr marL="0" lvl="0" indent="0" algn="ctr" rtl="0">
                        <a:spcBef>
                          <a:spcPts val="0"/>
                        </a:spcBef>
                        <a:spcAft>
                          <a:spcPts val="0"/>
                        </a:spcAft>
                        <a:buNone/>
                      </a:pPr>
                      <a:r>
                        <a:rPr lang="en" sz="1800" b="1" dirty="0">
                          <a:solidFill>
                            <a:schemeClr val="lt1"/>
                          </a:solidFill>
                        </a:rPr>
                        <a:t>53</a:t>
                      </a:r>
                      <a:endParaRPr sz="1800" b="1" dirty="0">
                        <a:solidFill>
                          <a:schemeClr val="lt1"/>
                        </a:solidFill>
                      </a:endParaRPr>
                    </a:p>
                  </a:txBody>
                  <a:tcPr marL="91425" marR="91425" marT="91425" marB="91425">
                    <a:solidFill>
                      <a:srgbClr val="C00000"/>
                    </a:solidFill>
                  </a:tcPr>
                </a:tc>
                <a:extLst>
                  <a:ext uri="{0D108BD9-81ED-4DB2-BD59-A6C34878D82A}">
                    <a16:rowId xmlns:a16="http://schemas.microsoft.com/office/drawing/2014/main" val="10006"/>
                  </a:ext>
                </a:extLst>
              </a:tr>
              <a:tr h="381000">
                <a:tc>
                  <a:txBody>
                    <a:bodyPr/>
                    <a:lstStyle/>
                    <a:p>
                      <a:pPr marL="0" lvl="0" indent="0" algn="ctr" rtl="0">
                        <a:spcBef>
                          <a:spcPts val="0"/>
                        </a:spcBef>
                        <a:spcAft>
                          <a:spcPts val="0"/>
                        </a:spcAft>
                        <a:buNone/>
                      </a:pPr>
                      <a:r>
                        <a:rPr lang="en" sz="1800" b="1" dirty="0">
                          <a:solidFill>
                            <a:schemeClr val="lt1"/>
                          </a:solidFill>
                        </a:rPr>
                        <a:t>04</a:t>
                      </a:r>
                      <a:endParaRPr sz="1800" b="1" dirty="0">
                        <a:solidFill>
                          <a:schemeClr val="lt1"/>
                        </a:solidFill>
                      </a:endParaRPr>
                    </a:p>
                  </a:txBody>
                  <a:tcPr marL="91425" marR="91425" marT="91425" marB="91425">
                    <a:solidFill>
                      <a:srgbClr val="C00000"/>
                    </a:solidFill>
                  </a:tcPr>
                </a:tc>
                <a:extLst>
                  <a:ext uri="{0D108BD9-81ED-4DB2-BD59-A6C34878D82A}">
                    <a16:rowId xmlns:a16="http://schemas.microsoft.com/office/drawing/2014/main" val="10007"/>
                  </a:ext>
                </a:extLst>
              </a:tr>
            </a:tbl>
          </a:graphicData>
        </a:graphic>
      </p:graphicFrame>
      <p:sp>
        <p:nvSpPr>
          <p:cNvPr id="1168" name="Google Shape;1168;g2950e80dcb7_0_56"/>
          <p:cNvSpPr txBox="1"/>
          <p:nvPr/>
        </p:nvSpPr>
        <p:spPr>
          <a:xfrm>
            <a:off x="8594850" y="1249850"/>
            <a:ext cx="1868400" cy="514500"/>
          </a:xfrm>
          <a:prstGeom prst="rect">
            <a:avLst/>
          </a:prstGeom>
          <a:noFill/>
          <a:ln>
            <a:noFill/>
          </a:ln>
        </p:spPr>
        <p:txBody>
          <a:bodyPr spcFirstLastPara="1" wrap="square" lIns="91425" tIns="91425" rIns="91425" bIns="91425" anchor="t" anchorCtr="0">
            <a:noAutofit/>
          </a:bodyPr>
          <a:lstStyle/>
          <a:p>
            <a:pPr algn="ctr"/>
            <a:r>
              <a:rPr lang="en" sz="1900">
                <a:solidFill>
                  <a:srgbClr val="00C3B1"/>
                </a:solidFill>
                <a:latin typeface="Didact Gothic"/>
                <a:ea typeface="Didact Gothic"/>
                <a:cs typeface="Didact Gothic"/>
                <a:sym typeface="Didact Gothic"/>
              </a:rPr>
              <a:t>Stack cont.</a:t>
            </a:r>
            <a:endParaRPr sz="1900">
              <a:solidFill>
                <a:srgbClr val="00C3B1"/>
              </a:solidFill>
              <a:latin typeface="Didact Gothic"/>
              <a:ea typeface="Didact Gothic"/>
              <a:cs typeface="Didact Gothic"/>
              <a:sym typeface="Didact Gothic"/>
            </a:endParaRPr>
          </a:p>
        </p:txBody>
      </p:sp>
      <p:graphicFrame>
        <p:nvGraphicFramePr>
          <p:cNvPr id="1169" name="Google Shape;1169;g2950e80dcb7_0_56"/>
          <p:cNvGraphicFramePr/>
          <p:nvPr>
            <p:extLst>
              <p:ext uri="{D42A27DB-BD31-4B8C-83A1-F6EECF244321}">
                <p14:modId xmlns:p14="http://schemas.microsoft.com/office/powerpoint/2010/main" val="2658035623"/>
              </p:ext>
            </p:extLst>
          </p:nvPr>
        </p:nvGraphicFramePr>
        <p:xfrm>
          <a:off x="9142600" y="1890138"/>
          <a:ext cx="917700" cy="3581190"/>
        </p:xfrm>
        <a:graphic>
          <a:graphicData uri="http://schemas.openxmlformats.org/drawingml/2006/table">
            <a:tbl>
              <a:tblPr>
                <a:noFill/>
              </a:tblPr>
              <a:tblGrid>
                <a:gridCol w="917700">
                  <a:extLst>
                    <a:ext uri="{9D8B030D-6E8A-4147-A177-3AD203B41FA5}">
                      <a16:colId xmlns:a16="http://schemas.microsoft.com/office/drawing/2014/main" val="20000"/>
                    </a:ext>
                  </a:extLst>
                </a:gridCol>
              </a:tblGrid>
              <a:tr h="381000">
                <a:tc>
                  <a:txBody>
                    <a:bodyPr/>
                    <a:lstStyle/>
                    <a:p>
                      <a:pPr marL="0" lvl="0" indent="0" algn="ctr" rtl="0">
                        <a:spcBef>
                          <a:spcPts val="0"/>
                        </a:spcBef>
                        <a:spcAft>
                          <a:spcPts val="0"/>
                        </a:spcAft>
                        <a:buNone/>
                      </a:pPr>
                      <a:endParaRPr sz="1800" b="1" dirty="0">
                        <a:solidFill>
                          <a:schemeClr val="lt1"/>
                        </a:solidFill>
                      </a:endParaRPr>
                    </a:p>
                  </a:txBody>
                  <a:tcPr marL="91425" marR="91425" marT="91425" marB="91425">
                    <a:solidFill>
                      <a:srgbClr val="C00000"/>
                    </a:solidFill>
                  </a:tcPr>
                </a:tc>
                <a:extLst>
                  <a:ext uri="{0D108BD9-81ED-4DB2-BD59-A6C34878D82A}">
                    <a16:rowId xmlns:a16="http://schemas.microsoft.com/office/drawing/2014/main" val="10000"/>
                  </a:ext>
                </a:extLst>
              </a:tr>
              <a:tr h="381000">
                <a:tc>
                  <a:txBody>
                    <a:bodyPr/>
                    <a:lstStyle/>
                    <a:p>
                      <a:pPr marL="0" lvl="0" indent="0" algn="ctr" rtl="0">
                        <a:spcBef>
                          <a:spcPts val="0"/>
                        </a:spcBef>
                        <a:spcAft>
                          <a:spcPts val="0"/>
                        </a:spcAft>
                        <a:buNone/>
                      </a:pPr>
                      <a:endParaRPr sz="1800" b="1">
                        <a:solidFill>
                          <a:schemeClr val="lt1"/>
                        </a:solidFill>
                      </a:endParaRPr>
                    </a:p>
                  </a:txBody>
                  <a:tcPr marL="91425" marR="91425" marT="91425" marB="91425">
                    <a:solidFill>
                      <a:srgbClr val="C00000"/>
                    </a:solidFill>
                  </a:tcPr>
                </a:tc>
                <a:extLst>
                  <a:ext uri="{0D108BD9-81ED-4DB2-BD59-A6C34878D82A}">
                    <a16:rowId xmlns:a16="http://schemas.microsoft.com/office/drawing/2014/main" val="10001"/>
                  </a:ext>
                </a:extLst>
              </a:tr>
              <a:tr h="381000">
                <a:tc>
                  <a:txBody>
                    <a:bodyPr/>
                    <a:lstStyle/>
                    <a:p>
                      <a:pPr marL="0" lvl="0" indent="0" algn="ctr" rtl="0">
                        <a:spcBef>
                          <a:spcPts val="0"/>
                        </a:spcBef>
                        <a:spcAft>
                          <a:spcPts val="0"/>
                        </a:spcAft>
                        <a:buNone/>
                      </a:pPr>
                      <a:endParaRPr sz="1800" b="1" dirty="0">
                        <a:solidFill>
                          <a:schemeClr val="lt1"/>
                        </a:solidFill>
                      </a:endParaRPr>
                    </a:p>
                  </a:txBody>
                  <a:tcPr marL="91425" marR="91425" marT="91425" marB="91425">
                    <a:solidFill>
                      <a:srgbClr val="C00000"/>
                    </a:solidFill>
                  </a:tcPr>
                </a:tc>
                <a:extLst>
                  <a:ext uri="{0D108BD9-81ED-4DB2-BD59-A6C34878D82A}">
                    <a16:rowId xmlns:a16="http://schemas.microsoft.com/office/drawing/2014/main" val="10002"/>
                  </a:ext>
                </a:extLst>
              </a:tr>
              <a:tr h="381000">
                <a:tc>
                  <a:txBody>
                    <a:bodyPr/>
                    <a:lstStyle/>
                    <a:p>
                      <a:pPr marL="0" lvl="0" indent="0" algn="ctr" rtl="0">
                        <a:spcBef>
                          <a:spcPts val="0"/>
                        </a:spcBef>
                        <a:spcAft>
                          <a:spcPts val="0"/>
                        </a:spcAft>
                        <a:buNone/>
                      </a:pPr>
                      <a:endParaRPr sz="1800" b="1" dirty="0">
                        <a:solidFill>
                          <a:schemeClr val="lt1"/>
                        </a:solidFill>
                      </a:endParaRPr>
                    </a:p>
                  </a:txBody>
                  <a:tcPr marL="91425" marR="91425" marT="91425" marB="91425">
                    <a:solidFill>
                      <a:srgbClr val="C00000"/>
                    </a:solidFill>
                  </a:tcPr>
                </a:tc>
                <a:extLst>
                  <a:ext uri="{0D108BD9-81ED-4DB2-BD59-A6C34878D82A}">
                    <a16:rowId xmlns:a16="http://schemas.microsoft.com/office/drawing/2014/main" val="10003"/>
                  </a:ext>
                </a:extLst>
              </a:tr>
              <a:tr h="381000">
                <a:tc>
                  <a:txBody>
                    <a:bodyPr/>
                    <a:lstStyle/>
                    <a:p>
                      <a:pPr marL="0" lvl="0" indent="0" algn="ctr" rtl="0">
                        <a:spcBef>
                          <a:spcPts val="0"/>
                        </a:spcBef>
                        <a:spcAft>
                          <a:spcPts val="0"/>
                        </a:spcAft>
                        <a:buNone/>
                      </a:pPr>
                      <a:endParaRPr sz="1800" b="1" dirty="0">
                        <a:solidFill>
                          <a:schemeClr val="dk1"/>
                        </a:solidFill>
                      </a:endParaRPr>
                    </a:p>
                  </a:txBody>
                  <a:tcPr marL="91425" marR="91425" marT="91425" marB="91425">
                    <a:solidFill>
                      <a:srgbClr val="C00000"/>
                    </a:solidFill>
                  </a:tcPr>
                </a:tc>
                <a:extLst>
                  <a:ext uri="{0D108BD9-81ED-4DB2-BD59-A6C34878D82A}">
                    <a16:rowId xmlns:a16="http://schemas.microsoft.com/office/drawing/2014/main" val="10004"/>
                  </a:ext>
                </a:extLst>
              </a:tr>
              <a:tr h="381000">
                <a:tc>
                  <a:txBody>
                    <a:bodyPr/>
                    <a:lstStyle/>
                    <a:p>
                      <a:pPr marL="0" lvl="0" indent="0" algn="ctr" rtl="0">
                        <a:spcBef>
                          <a:spcPts val="0"/>
                        </a:spcBef>
                        <a:spcAft>
                          <a:spcPts val="0"/>
                        </a:spcAft>
                        <a:buNone/>
                      </a:pPr>
                      <a:endParaRPr sz="700" dirty="0">
                        <a:solidFill>
                          <a:schemeClr val="dk1"/>
                        </a:solidFill>
                      </a:endParaRPr>
                    </a:p>
                  </a:txBody>
                  <a:tcPr marL="91425" marR="91425" marT="91425" marB="91425">
                    <a:solidFill>
                      <a:srgbClr val="C00000"/>
                    </a:solidFill>
                  </a:tcPr>
                </a:tc>
                <a:extLst>
                  <a:ext uri="{0D108BD9-81ED-4DB2-BD59-A6C34878D82A}">
                    <a16:rowId xmlns:a16="http://schemas.microsoft.com/office/drawing/2014/main" val="10005"/>
                  </a:ext>
                </a:extLst>
              </a:tr>
              <a:tr h="381000">
                <a:tc>
                  <a:txBody>
                    <a:bodyPr/>
                    <a:lstStyle/>
                    <a:p>
                      <a:pPr marL="0" lvl="0" indent="0" algn="ctr" rtl="0">
                        <a:spcBef>
                          <a:spcPts val="0"/>
                        </a:spcBef>
                        <a:spcAft>
                          <a:spcPts val="0"/>
                        </a:spcAft>
                        <a:buNone/>
                      </a:pPr>
                      <a:endParaRPr sz="1800" b="1" dirty="0">
                        <a:solidFill>
                          <a:schemeClr val="dk1"/>
                        </a:solidFill>
                      </a:endParaRPr>
                    </a:p>
                  </a:txBody>
                  <a:tcPr marL="91425" marR="91425" marT="91425" marB="91425">
                    <a:solidFill>
                      <a:srgbClr val="C00000"/>
                    </a:solidFill>
                  </a:tcPr>
                </a:tc>
                <a:extLst>
                  <a:ext uri="{0D108BD9-81ED-4DB2-BD59-A6C34878D82A}">
                    <a16:rowId xmlns:a16="http://schemas.microsoft.com/office/drawing/2014/main" val="10006"/>
                  </a:ext>
                </a:extLst>
              </a:tr>
              <a:tr h="381000">
                <a:tc>
                  <a:txBody>
                    <a:bodyPr/>
                    <a:lstStyle/>
                    <a:p>
                      <a:pPr marL="0" lvl="0" indent="0" algn="ctr" rtl="0">
                        <a:spcBef>
                          <a:spcPts val="0"/>
                        </a:spcBef>
                        <a:spcAft>
                          <a:spcPts val="0"/>
                        </a:spcAft>
                        <a:buNone/>
                      </a:pPr>
                      <a:endParaRPr sz="1800" b="1" dirty="0">
                        <a:solidFill>
                          <a:schemeClr val="dk1"/>
                        </a:solidFill>
                      </a:endParaRPr>
                    </a:p>
                  </a:txBody>
                  <a:tcPr marL="91425" marR="91425" marT="91425" marB="91425">
                    <a:solidFill>
                      <a:srgbClr val="C00000"/>
                    </a:solidFill>
                  </a:tcPr>
                </a:tc>
                <a:extLst>
                  <a:ext uri="{0D108BD9-81ED-4DB2-BD59-A6C34878D82A}">
                    <a16:rowId xmlns:a16="http://schemas.microsoft.com/office/drawing/2014/main" val="10007"/>
                  </a:ext>
                </a:extLst>
              </a:tr>
            </a:tbl>
          </a:graphicData>
        </a:graphic>
      </p:graphicFrame>
      <p:sp>
        <p:nvSpPr>
          <p:cNvPr id="2" name="Title 1">
            <a:extLst>
              <a:ext uri="{FF2B5EF4-FFF2-40B4-BE49-F238E27FC236}">
                <a16:creationId xmlns:a16="http://schemas.microsoft.com/office/drawing/2014/main" id="{A5005BC3-A7EB-2081-7393-5B31CA5FFD31}"/>
              </a:ext>
            </a:extLst>
          </p:cNvPr>
          <p:cNvSpPr txBox="1">
            <a:spLocks/>
          </p:cNvSpPr>
          <p:nvPr/>
        </p:nvSpPr>
        <p:spPr>
          <a:xfrm>
            <a:off x="646111" y="452718"/>
            <a:ext cx="9404723" cy="1400530"/>
          </a:xfrm>
          <a:prstGeom prst="rect">
            <a:avLst/>
          </a:prstGeom>
          <a:noFill/>
          <a:ln>
            <a:noFill/>
          </a:ln>
        </p:spPr>
        <p:txBody>
          <a:bodyPr spcFirstLastPara="1" vert="horz" wrap="square" lIns="91425" tIns="91425" rIns="91425" bIns="91425" rtlCol="0" anchor="ctr" anchorCtr="0">
            <a:noAutofit/>
          </a:bodyPr>
          <a:lstStyle>
            <a:lvl1pPr lvl="0" algn="l" defTabSz="457200" rtl="0" eaLnBrk="1" latinLnBrk="0" hangingPunct="1">
              <a:lnSpc>
                <a:spcPct val="100000"/>
              </a:lnSpc>
              <a:spcBef>
                <a:spcPts val="0"/>
              </a:spcBef>
              <a:spcAft>
                <a:spcPts val="0"/>
              </a:spcAft>
              <a:buSzPts val="3500"/>
              <a:buNone/>
              <a:defRPr sz="4200" b="0" i="0" kern="1200">
                <a:solidFill>
                  <a:schemeClr val="tx2"/>
                </a:solidFill>
                <a:latin typeface="+mj-lt"/>
                <a:ea typeface="+mj-ea"/>
                <a:cs typeface="+mj-cs"/>
              </a:defRPr>
            </a:lvl1pPr>
            <a:lvl2pPr lvl="1" algn="l" eaLnBrk="1" hangingPunct="1">
              <a:lnSpc>
                <a:spcPct val="100000"/>
              </a:lnSpc>
              <a:spcBef>
                <a:spcPts val="0"/>
              </a:spcBef>
              <a:spcAft>
                <a:spcPts val="0"/>
              </a:spcAft>
              <a:buSzPts val="3500"/>
              <a:buNone/>
              <a:defRPr>
                <a:solidFill>
                  <a:schemeClr val="tx2"/>
                </a:solidFill>
              </a:defRPr>
            </a:lvl2pPr>
            <a:lvl3pPr lvl="2" algn="l" eaLnBrk="1" hangingPunct="1">
              <a:lnSpc>
                <a:spcPct val="100000"/>
              </a:lnSpc>
              <a:spcBef>
                <a:spcPts val="0"/>
              </a:spcBef>
              <a:spcAft>
                <a:spcPts val="0"/>
              </a:spcAft>
              <a:buSzPts val="3500"/>
              <a:buNone/>
              <a:defRPr>
                <a:solidFill>
                  <a:schemeClr val="tx2"/>
                </a:solidFill>
              </a:defRPr>
            </a:lvl3pPr>
            <a:lvl4pPr lvl="3" algn="l" eaLnBrk="1" hangingPunct="1">
              <a:lnSpc>
                <a:spcPct val="100000"/>
              </a:lnSpc>
              <a:spcBef>
                <a:spcPts val="0"/>
              </a:spcBef>
              <a:spcAft>
                <a:spcPts val="0"/>
              </a:spcAft>
              <a:buSzPts val="3500"/>
              <a:buNone/>
              <a:defRPr>
                <a:solidFill>
                  <a:schemeClr val="tx2"/>
                </a:solidFill>
              </a:defRPr>
            </a:lvl4pPr>
            <a:lvl5pPr lvl="4" algn="l" eaLnBrk="1" hangingPunct="1">
              <a:lnSpc>
                <a:spcPct val="100000"/>
              </a:lnSpc>
              <a:spcBef>
                <a:spcPts val="0"/>
              </a:spcBef>
              <a:spcAft>
                <a:spcPts val="0"/>
              </a:spcAft>
              <a:buSzPts val="3500"/>
              <a:buNone/>
              <a:defRPr>
                <a:solidFill>
                  <a:schemeClr val="tx2"/>
                </a:solidFill>
              </a:defRPr>
            </a:lvl5pPr>
            <a:lvl6pPr lvl="5" algn="l" eaLnBrk="1" hangingPunct="1">
              <a:lnSpc>
                <a:spcPct val="100000"/>
              </a:lnSpc>
              <a:spcBef>
                <a:spcPts val="0"/>
              </a:spcBef>
              <a:spcAft>
                <a:spcPts val="0"/>
              </a:spcAft>
              <a:buSzPts val="3500"/>
              <a:buNone/>
              <a:defRPr>
                <a:solidFill>
                  <a:schemeClr val="tx2"/>
                </a:solidFill>
              </a:defRPr>
            </a:lvl6pPr>
            <a:lvl7pPr lvl="6" algn="l" eaLnBrk="1" hangingPunct="1">
              <a:lnSpc>
                <a:spcPct val="100000"/>
              </a:lnSpc>
              <a:spcBef>
                <a:spcPts val="0"/>
              </a:spcBef>
              <a:spcAft>
                <a:spcPts val="0"/>
              </a:spcAft>
              <a:buSzPts val="3500"/>
              <a:buNone/>
              <a:defRPr>
                <a:solidFill>
                  <a:schemeClr val="tx2"/>
                </a:solidFill>
              </a:defRPr>
            </a:lvl7pPr>
            <a:lvl8pPr lvl="7" algn="l" eaLnBrk="1" hangingPunct="1">
              <a:lnSpc>
                <a:spcPct val="100000"/>
              </a:lnSpc>
              <a:spcBef>
                <a:spcPts val="0"/>
              </a:spcBef>
              <a:spcAft>
                <a:spcPts val="0"/>
              </a:spcAft>
              <a:buSzPts val="3500"/>
              <a:buNone/>
              <a:defRPr>
                <a:solidFill>
                  <a:schemeClr val="tx2"/>
                </a:solidFill>
              </a:defRPr>
            </a:lvl8pPr>
            <a:lvl9pPr lvl="8" algn="l" eaLnBrk="1" hangingPunct="1">
              <a:lnSpc>
                <a:spcPct val="100000"/>
              </a:lnSpc>
              <a:spcBef>
                <a:spcPts val="0"/>
              </a:spcBef>
              <a:spcAft>
                <a:spcPts val="0"/>
              </a:spcAft>
              <a:buSzPts val="3500"/>
              <a:buNone/>
              <a:defRPr>
                <a:solidFill>
                  <a:schemeClr val="tx2"/>
                </a:solidFill>
              </a:defRPr>
            </a:lvl9pPr>
          </a:lstStyle>
          <a:p>
            <a:r>
              <a:rPr lang="en-US"/>
              <a:t>Problem 3</a:t>
            </a:r>
            <a:endParaRPr lang="en-US" dirty="0"/>
          </a:p>
        </p:txBody>
      </p:sp>
      <p:sp>
        <p:nvSpPr>
          <p:cNvPr id="3" name="Rectangle 2">
            <a:extLst>
              <a:ext uri="{FF2B5EF4-FFF2-40B4-BE49-F238E27FC236}">
                <a16:creationId xmlns:a16="http://schemas.microsoft.com/office/drawing/2014/main" id="{412FFFFF-5638-BB33-AD7A-A9DC93EEAAA5}"/>
              </a:ext>
            </a:extLst>
          </p:cNvPr>
          <p:cNvSpPr/>
          <p:nvPr/>
        </p:nvSpPr>
        <p:spPr>
          <a:xfrm>
            <a:off x="6165800" y="5723751"/>
            <a:ext cx="2325949" cy="331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Top of Memory</a:t>
            </a:r>
          </a:p>
        </p:txBody>
      </p:sp>
      <p:sp>
        <p:nvSpPr>
          <p:cNvPr id="4" name="Rectangle 3">
            <a:extLst>
              <a:ext uri="{FF2B5EF4-FFF2-40B4-BE49-F238E27FC236}">
                <a16:creationId xmlns:a16="http://schemas.microsoft.com/office/drawing/2014/main" id="{00C27851-4852-2317-15DE-34793376EFD4}"/>
              </a:ext>
            </a:extLst>
          </p:cNvPr>
          <p:cNvSpPr/>
          <p:nvPr/>
        </p:nvSpPr>
        <p:spPr>
          <a:xfrm>
            <a:off x="7979625" y="830849"/>
            <a:ext cx="2325949" cy="331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Bottom of Memory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73"/>
        <p:cNvGrpSpPr/>
        <p:nvPr/>
      </p:nvGrpSpPr>
      <p:grpSpPr>
        <a:xfrm>
          <a:off x="0" y="0"/>
          <a:ext cx="0" cy="0"/>
          <a:chOff x="0" y="0"/>
          <a:chExt cx="0" cy="0"/>
        </a:xfrm>
      </p:grpSpPr>
      <p:pic>
        <p:nvPicPr>
          <p:cNvPr id="1175" name="Google Shape;1175;g2950e80dcb7_0_68"/>
          <p:cNvPicPr preferRelativeResize="0"/>
          <p:nvPr/>
        </p:nvPicPr>
        <p:blipFill>
          <a:blip r:embed="rId3">
            <a:alphaModFix/>
          </a:blip>
          <a:stretch>
            <a:fillRect/>
          </a:stretch>
        </p:blipFill>
        <p:spPr>
          <a:xfrm>
            <a:off x="2286002" y="2062352"/>
            <a:ext cx="2497975" cy="3312775"/>
          </a:xfrm>
          <a:prstGeom prst="rect">
            <a:avLst/>
          </a:prstGeom>
          <a:noFill/>
          <a:ln>
            <a:noFill/>
          </a:ln>
        </p:spPr>
      </p:pic>
      <p:sp>
        <p:nvSpPr>
          <p:cNvPr id="1176" name="Google Shape;1176;g2950e80dcb7_0_68"/>
          <p:cNvSpPr txBox="1"/>
          <p:nvPr/>
        </p:nvSpPr>
        <p:spPr>
          <a:xfrm>
            <a:off x="6313325" y="1249850"/>
            <a:ext cx="1868400" cy="514500"/>
          </a:xfrm>
          <a:prstGeom prst="rect">
            <a:avLst/>
          </a:prstGeom>
          <a:noFill/>
          <a:ln>
            <a:noFill/>
          </a:ln>
        </p:spPr>
        <p:txBody>
          <a:bodyPr spcFirstLastPara="1" wrap="square" lIns="91425" tIns="91425" rIns="91425" bIns="91425" anchor="t" anchorCtr="0">
            <a:noAutofit/>
          </a:bodyPr>
          <a:lstStyle/>
          <a:p>
            <a:pPr algn="ctr"/>
            <a:r>
              <a:rPr lang="en" sz="1900">
                <a:solidFill>
                  <a:srgbClr val="00C3B1"/>
                </a:solidFill>
                <a:latin typeface="Didact Gothic"/>
                <a:ea typeface="Didact Gothic"/>
                <a:cs typeface="Didact Gothic"/>
                <a:sym typeface="Didact Gothic"/>
              </a:rPr>
              <a:t>Stack</a:t>
            </a:r>
            <a:endParaRPr sz="1900">
              <a:solidFill>
                <a:srgbClr val="00C3B1"/>
              </a:solidFill>
              <a:latin typeface="Didact Gothic"/>
              <a:ea typeface="Didact Gothic"/>
              <a:cs typeface="Didact Gothic"/>
              <a:sym typeface="Didact Gothic"/>
            </a:endParaRPr>
          </a:p>
        </p:txBody>
      </p:sp>
      <p:sp>
        <p:nvSpPr>
          <p:cNvPr id="1177" name="Google Shape;1177;g2950e80dcb7_0_68"/>
          <p:cNvSpPr txBox="1"/>
          <p:nvPr/>
        </p:nvSpPr>
        <p:spPr>
          <a:xfrm>
            <a:off x="5462450" y="2390900"/>
            <a:ext cx="1280700" cy="378000"/>
          </a:xfrm>
          <a:prstGeom prst="rect">
            <a:avLst/>
          </a:prstGeom>
          <a:noFill/>
          <a:ln>
            <a:noFill/>
          </a:ln>
        </p:spPr>
        <p:txBody>
          <a:bodyPr spcFirstLastPara="1" wrap="square" lIns="91425" tIns="91425" rIns="91425" bIns="91425" anchor="t" anchorCtr="0">
            <a:noAutofit/>
          </a:bodyPr>
          <a:lstStyle/>
          <a:p>
            <a:r>
              <a:rPr lang="en">
                <a:solidFill>
                  <a:schemeClr val="lt1"/>
                </a:solidFill>
                <a:latin typeface="Didact Gothic"/>
                <a:ea typeface="Didact Gothic"/>
                <a:cs typeface="Didact Gothic"/>
                <a:sym typeface="Didact Gothic"/>
              </a:rPr>
              <a:t>SP = 1282H</a:t>
            </a:r>
            <a:endParaRPr>
              <a:solidFill>
                <a:schemeClr val="lt1"/>
              </a:solidFill>
              <a:latin typeface="Didact Gothic"/>
              <a:ea typeface="Didact Gothic"/>
              <a:cs typeface="Didact Gothic"/>
              <a:sym typeface="Didact Gothic"/>
            </a:endParaRPr>
          </a:p>
        </p:txBody>
      </p:sp>
      <p:cxnSp>
        <p:nvCxnSpPr>
          <p:cNvPr id="1178" name="Google Shape;1178;g2950e80dcb7_0_68"/>
          <p:cNvCxnSpPr/>
          <p:nvPr/>
        </p:nvCxnSpPr>
        <p:spPr>
          <a:xfrm>
            <a:off x="5493950" y="2789775"/>
            <a:ext cx="1343700" cy="10500"/>
          </a:xfrm>
          <a:prstGeom prst="straightConnector1">
            <a:avLst/>
          </a:prstGeom>
          <a:noFill/>
          <a:ln w="19050" cap="flat" cmpd="sng">
            <a:solidFill>
              <a:srgbClr val="FF0000"/>
            </a:solidFill>
            <a:prstDash val="solid"/>
            <a:round/>
            <a:headEnd type="none" w="med" len="med"/>
            <a:tailEnd type="triangle" w="med" len="med"/>
          </a:ln>
        </p:spPr>
      </p:cxnSp>
      <p:graphicFrame>
        <p:nvGraphicFramePr>
          <p:cNvPr id="1179" name="Google Shape;1179;g2950e80dcb7_0_68"/>
          <p:cNvGraphicFramePr/>
          <p:nvPr>
            <p:extLst>
              <p:ext uri="{D42A27DB-BD31-4B8C-83A1-F6EECF244321}">
                <p14:modId xmlns:p14="http://schemas.microsoft.com/office/powerpoint/2010/main" val="2196266105"/>
              </p:ext>
            </p:extLst>
          </p:nvPr>
        </p:nvGraphicFramePr>
        <p:xfrm>
          <a:off x="6861075" y="1890125"/>
          <a:ext cx="772900" cy="3657360"/>
        </p:xfrm>
        <a:graphic>
          <a:graphicData uri="http://schemas.openxmlformats.org/drawingml/2006/table">
            <a:tbl>
              <a:tblPr>
                <a:noFill/>
              </a:tblPr>
              <a:tblGrid>
                <a:gridCol w="772900">
                  <a:extLst>
                    <a:ext uri="{9D8B030D-6E8A-4147-A177-3AD203B41FA5}">
                      <a16:colId xmlns:a16="http://schemas.microsoft.com/office/drawing/2014/main" val="20000"/>
                    </a:ext>
                  </a:extLst>
                </a:gridCol>
              </a:tblGrid>
              <a:tr h="381000">
                <a:tc>
                  <a:txBody>
                    <a:bodyPr/>
                    <a:lstStyle/>
                    <a:p>
                      <a:pPr marL="0" lvl="0" indent="0" algn="ctr" rtl="0">
                        <a:spcBef>
                          <a:spcPts val="0"/>
                        </a:spcBef>
                        <a:spcAft>
                          <a:spcPts val="0"/>
                        </a:spcAft>
                        <a:buNone/>
                      </a:pPr>
                      <a:endParaRPr sz="1800" b="1" dirty="0">
                        <a:solidFill>
                          <a:schemeClr val="lt1"/>
                        </a:solidFill>
                      </a:endParaRPr>
                    </a:p>
                  </a:txBody>
                  <a:tcPr marL="91425" marR="91425" marT="91425" marB="91425">
                    <a:solidFill>
                      <a:srgbClr val="C00000"/>
                    </a:solidFill>
                  </a:tcPr>
                </a:tc>
                <a:extLst>
                  <a:ext uri="{0D108BD9-81ED-4DB2-BD59-A6C34878D82A}">
                    <a16:rowId xmlns:a16="http://schemas.microsoft.com/office/drawing/2014/main" val="10000"/>
                  </a:ext>
                </a:extLst>
              </a:tr>
              <a:tr h="381000">
                <a:tc>
                  <a:txBody>
                    <a:bodyPr/>
                    <a:lstStyle/>
                    <a:p>
                      <a:pPr marL="0" lvl="0" indent="0" algn="ctr" rtl="0">
                        <a:spcBef>
                          <a:spcPts val="0"/>
                        </a:spcBef>
                        <a:spcAft>
                          <a:spcPts val="0"/>
                        </a:spcAft>
                        <a:buNone/>
                      </a:pPr>
                      <a:endParaRPr sz="1800" b="1">
                        <a:solidFill>
                          <a:schemeClr val="lt1"/>
                        </a:solidFill>
                      </a:endParaRPr>
                    </a:p>
                  </a:txBody>
                  <a:tcPr marL="91425" marR="91425" marT="91425" marB="91425">
                    <a:solidFill>
                      <a:srgbClr val="C00000"/>
                    </a:solidFill>
                  </a:tcPr>
                </a:tc>
                <a:extLst>
                  <a:ext uri="{0D108BD9-81ED-4DB2-BD59-A6C34878D82A}">
                    <a16:rowId xmlns:a16="http://schemas.microsoft.com/office/drawing/2014/main" val="10001"/>
                  </a:ext>
                </a:extLst>
              </a:tr>
              <a:tr h="381000">
                <a:tc>
                  <a:txBody>
                    <a:bodyPr/>
                    <a:lstStyle/>
                    <a:p>
                      <a:pPr marL="0" lvl="0" indent="0" algn="ctr" rtl="0">
                        <a:spcBef>
                          <a:spcPts val="0"/>
                        </a:spcBef>
                        <a:spcAft>
                          <a:spcPts val="0"/>
                        </a:spcAft>
                        <a:buNone/>
                      </a:pPr>
                      <a:r>
                        <a:rPr lang="en" sz="1800" b="1" dirty="0">
                          <a:solidFill>
                            <a:schemeClr val="lt1"/>
                          </a:solidFill>
                        </a:rPr>
                        <a:t>BL</a:t>
                      </a:r>
                      <a:endParaRPr sz="1800" b="1" dirty="0">
                        <a:solidFill>
                          <a:schemeClr val="lt1"/>
                        </a:solidFill>
                      </a:endParaRPr>
                    </a:p>
                  </a:txBody>
                  <a:tcPr marL="91425" marR="91425" marT="91425" marB="91425">
                    <a:solidFill>
                      <a:srgbClr val="C00000"/>
                    </a:solidFill>
                  </a:tcPr>
                </a:tc>
                <a:extLst>
                  <a:ext uri="{0D108BD9-81ED-4DB2-BD59-A6C34878D82A}">
                    <a16:rowId xmlns:a16="http://schemas.microsoft.com/office/drawing/2014/main" val="10002"/>
                  </a:ext>
                </a:extLst>
              </a:tr>
              <a:tr h="381000">
                <a:tc>
                  <a:txBody>
                    <a:bodyPr/>
                    <a:lstStyle/>
                    <a:p>
                      <a:pPr marL="0" lvl="0" indent="0" algn="ctr" rtl="0">
                        <a:spcBef>
                          <a:spcPts val="0"/>
                        </a:spcBef>
                        <a:spcAft>
                          <a:spcPts val="0"/>
                        </a:spcAft>
                        <a:buNone/>
                      </a:pPr>
                      <a:r>
                        <a:rPr lang="en" sz="1800" b="1">
                          <a:solidFill>
                            <a:schemeClr val="lt1"/>
                          </a:solidFill>
                        </a:rPr>
                        <a:t>BH</a:t>
                      </a:r>
                      <a:endParaRPr sz="1800" b="1">
                        <a:solidFill>
                          <a:schemeClr val="lt1"/>
                        </a:solidFill>
                      </a:endParaRPr>
                    </a:p>
                  </a:txBody>
                  <a:tcPr marL="91425" marR="91425" marT="91425" marB="91425">
                    <a:solidFill>
                      <a:srgbClr val="C00000"/>
                    </a:solidFill>
                  </a:tcPr>
                </a:tc>
                <a:extLst>
                  <a:ext uri="{0D108BD9-81ED-4DB2-BD59-A6C34878D82A}">
                    <a16:rowId xmlns:a16="http://schemas.microsoft.com/office/drawing/2014/main" val="10003"/>
                  </a:ext>
                </a:extLst>
              </a:tr>
              <a:tr h="381000">
                <a:tc>
                  <a:txBody>
                    <a:bodyPr/>
                    <a:lstStyle/>
                    <a:p>
                      <a:pPr marL="0" lvl="0" indent="0" algn="ctr" rtl="0">
                        <a:spcBef>
                          <a:spcPts val="0"/>
                        </a:spcBef>
                        <a:spcAft>
                          <a:spcPts val="0"/>
                        </a:spcAft>
                        <a:buNone/>
                      </a:pPr>
                      <a:r>
                        <a:rPr lang="en" sz="1800" b="1" dirty="0">
                          <a:solidFill>
                            <a:schemeClr val="lt1"/>
                          </a:solidFill>
                        </a:rPr>
                        <a:t>AL</a:t>
                      </a:r>
                      <a:endParaRPr sz="1800" b="1" dirty="0">
                        <a:solidFill>
                          <a:schemeClr val="lt1"/>
                        </a:solidFill>
                      </a:endParaRPr>
                    </a:p>
                  </a:txBody>
                  <a:tcPr marL="91425" marR="91425" marT="91425" marB="91425">
                    <a:solidFill>
                      <a:srgbClr val="C00000"/>
                    </a:solidFill>
                  </a:tcPr>
                </a:tc>
                <a:extLst>
                  <a:ext uri="{0D108BD9-81ED-4DB2-BD59-A6C34878D82A}">
                    <a16:rowId xmlns:a16="http://schemas.microsoft.com/office/drawing/2014/main" val="10004"/>
                  </a:ext>
                </a:extLst>
              </a:tr>
              <a:tr h="381000">
                <a:tc>
                  <a:txBody>
                    <a:bodyPr/>
                    <a:lstStyle/>
                    <a:p>
                      <a:pPr marL="0" lvl="0" indent="0" algn="ctr" rtl="0">
                        <a:spcBef>
                          <a:spcPts val="0"/>
                        </a:spcBef>
                        <a:spcAft>
                          <a:spcPts val="0"/>
                        </a:spcAft>
                        <a:buNone/>
                      </a:pPr>
                      <a:r>
                        <a:rPr lang="en" sz="1800" b="1" dirty="0">
                          <a:solidFill>
                            <a:schemeClr val="lt1"/>
                          </a:solidFill>
                        </a:rPr>
                        <a:t>AH</a:t>
                      </a:r>
                      <a:endParaRPr sz="1800" b="1" dirty="0">
                        <a:solidFill>
                          <a:schemeClr val="lt1"/>
                        </a:solidFill>
                      </a:endParaRPr>
                    </a:p>
                  </a:txBody>
                  <a:tcPr marL="91425" marR="91425" marT="91425" marB="91425">
                    <a:solidFill>
                      <a:srgbClr val="C00000"/>
                    </a:solidFill>
                  </a:tcPr>
                </a:tc>
                <a:extLst>
                  <a:ext uri="{0D108BD9-81ED-4DB2-BD59-A6C34878D82A}">
                    <a16:rowId xmlns:a16="http://schemas.microsoft.com/office/drawing/2014/main" val="10005"/>
                  </a:ext>
                </a:extLst>
              </a:tr>
              <a:tr h="381000">
                <a:tc>
                  <a:txBody>
                    <a:bodyPr/>
                    <a:lstStyle/>
                    <a:p>
                      <a:pPr marL="0" lvl="0" indent="0" algn="ctr" rtl="0">
                        <a:spcBef>
                          <a:spcPts val="0"/>
                        </a:spcBef>
                        <a:spcAft>
                          <a:spcPts val="0"/>
                        </a:spcAft>
                        <a:buNone/>
                      </a:pPr>
                      <a:r>
                        <a:rPr lang="en" sz="1800" b="1" dirty="0">
                          <a:solidFill>
                            <a:schemeClr val="lt1"/>
                          </a:solidFill>
                        </a:rPr>
                        <a:t>53</a:t>
                      </a:r>
                      <a:endParaRPr sz="1800" b="1" dirty="0">
                        <a:solidFill>
                          <a:schemeClr val="lt1"/>
                        </a:solidFill>
                      </a:endParaRPr>
                    </a:p>
                  </a:txBody>
                  <a:tcPr marL="91425" marR="91425" marT="91425" marB="91425">
                    <a:solidFill>
                      <a:srgbClr val="C00000"/>
                    </a:solidFill>
                  </a:tcPr>
                </a:tc>
                <a:extLst>
                  <a:ext uri="{0D108BD9-81ED-4DB2-BD59-A6C34878D82A}">
                    <a16:rowId xmlns:a16="http://schemas.microsoft.com/office/drawing/2014/main" val="10006"/>
                  </a:ext>
                </a:extLst>
              </a:tr>
              <a:tr h="381000">
                <a:tc>
                  <a:txBody>
                    <a:bodyPr/>
                    <a:lstStyle/>
                    <a:p>
                      <a:pPr marL="0" lvl="0" indent="0" algn="ctr" rtl="0">
                        <a:spcBef>
                          <a:spcPts val="0"/>
                        </a:spcBef>
                        <a:spcAft>
                          <a:spcPts val="0"/>
                        </a:spcAft>
                        <a:buNone/>
                      </a:pPr>
                      <a:r>
                        <a:rPr lang="en" sz="1800" b="1" dirty="0">
                          <a:solidFill>
                            <a:schemeClr val="lt1"/>
                          </a:solidFill>
                        </a:rPr>
                        <a:t>04</a:t>
                      </a:r>
                      <a:endParaRPr sz="1800" b="1" dirty="0">
                        <a:solidFill>
                          <a:schemeClr val="lt1"/>
                        </a:solidFill>
                      </a:endParaRPr>
                    </a:p>
                  </a:txBody>
                  <a:tcPr marL="91425" marR="91425" marT="91425" marB="91425">
                    <a:solidFill>
                      <a:srgbClr val="C00000"/>
                    </a:solidFill>
                  </a:tcPr>
                </a:tc>
                <a:extLst>
                  <a:ext uri="{0D108BD9-81ED-4DB2-BD59-A6C34878D82A}">
                    <a16:rowId xmlns:a16="http://schemas.microsoft.com/office/drawing/2014/main" val="10007"/>
                  </a:ext>
                </a:extLst>
              </a:tr>
            </a:tbl>
          </a:graphicData>
        </a:graphic>
      </p:graphicFrame>
      <p:sp>
        <p:nvSpPr>
          <p:cNvPr id="1180" name="Google Shape;1180;g2950e80dcb7_0_68"/>
          <p:cNvSpPr txBox="1"/>
          <p:nvPr/>
        </p:nvSpPr>
        <p:spPr>
          <a:xfrm>
            <a:off x="8594850" y="1249850"/>
            <a:ext cx="1868400" cy="514500"/>
          </a:xfrm>
          <a:prstGeom prst="rect">
            <a:avLst/>
          </a:prstGeom>
          <a:noFill/>
          <a:ln>
            <a:noFill/>
          </a:ln>
        </p:spPr>
        <p:txBody>
          <a:bodyPr spcFirstLastPara="1" wrap="square" lIns="91425" tIns="91425" rIns="91425" bIns="91425" anchor="t" anchorCtr="0">
            <a:noAutofit/>
          </a:bodyPr>
          <a:lstStyle/>
          <a:p>
            <a:pPr algn="ctr"/>
            <a:r>
              <a:rPr lang="en" sz="1900">
                <a:solidFill>
                  <a:srgbClr val="00C3B1"/>
                </a:solidFill>
                <a:latin typeface="Didact Gothic"/>
                <a:ea typeface="Didact Gothic"/>
                <a:cs typeface="Didact Gothic"/>
                <a:sym typeface="Didact Gothic"/>
              </a:rPr>
              <a:t>Stack cont.</a:t>
            </a:r>
            <a:endParaRPr sz="1900">
              <a:solidFill>
                <a:srgbClr val="00C3B1"/>
              </a:solidFill>
              <a:latin typeface="Didact Gothic"/>
              <a:ea typeface="Didact Gothic"/>
              <a:cs typeface="Didact Gothic"/>
              <a:sym typeface="Didact Gothic"/>
            </a:endParaRPr>
          </a:p>
        </p:txBody>
      </p:sp>
      <p:graphicFrame>
        <p:nvGraphicFramePr>
          <p:cNvPr id="1181" name="Google Shape;1181;g2950e80dcb7_0_68"/>
          <p:cNvGraphicFramePr/>
          <p:nvPr>
            <p:extLst>
              <p:ext uri="{D42A27DB-BD31-4B8C-83A1-F6EECF244321}">
                <p14:modId xmlns:p14="http://schemas.microsoft.com/office/powerpoint/2010/main" val="1583284383"/>
              </p:ext>
            </p:extLst>
          </p:nvPr>
        </p:nvGraphicFramePr>
        <p:xfrm>
          <a:off x="9142600" y="1890138"/>
          <a:ext cx="917700" cy="3581190"/>
        </p:xfrm>
        <a:graphic>
          <a:graphicData uri="http://schemas.openxmlformats.org/drawingml/2006/table">
            <a:tbl>
              <a:tblPr>
                <a:noFill/>
              </a:tblPr>
              <a:tblGrid>
                <a:gridCol w="917700">
                  <a:extLst>
                    <a:ext uri="{9D8B030D-6E8A-4147-A177-3AD203B41FA5}">
                      <a16:colId xmlns:a16="http://schemas.microsoft.com/office/drawing/2014/main" val="20000"/>
                    </a:ext>
                  </a:extLst>
                </a:gridCol>
              </a:tblGrid>
              <a:tr h="381000">
                <a:tc>
                  <a:txBody>
                    <a:bodyPr/>
                    <a:lstStyle/>
                    <a:p>
                      <a:pPr marL="0" lvl="0" indent="0" algn="ctr" rtl="0">
                        <a:spcBef>
                          <a:spcPts val="0"/>
                        </a:spcBef>
                        <a:spcAft>
                          <a:spcPts val="0"/>
                        </a:spcAft>
                        <a:buNone/>
                      </a:pPr>
                      <a:endParaRPr sz="1800" b="1" dirty="0">
                        <a:solidFill>
                          <a:schemeClr val="lt1"/>
                        </a:solidFill>
                      </a:endParaRPr>
                    </a:p>
                  </a:txBody>
                  <a:tcPr marL="91425" marR="91425" marT="91425" marB="91425">
                    <a:solidFill>
                      <a:srgbClr val="C00000"/>
                    </a:solidFill>
                  </a:tcPr>
                </a:tc>
                <a:extLst>
                  <a:ext uri="{0D108BD9-81ED-4DB2-BD59-A6C34878D82A}">
                    <a16:rowId xmlns:a16="http://schemas.microsoft.com/office/drawing/2014/main" val="10000"/>
                  </a:ext>
                </a:extLst>
              </a:tr>
              <a:tr h="381000">
                <a:tc>
                  <a:txBody>
                    <a:bodyPr/>
                    <a:lstStyle/>
                    <a:p>
                      <a:pPr marL="0" lvl="0" indent="0" algn="ctr" rtl="0">
                        <a:spcBef>
                          <a:spcPts val="0"/>
                        </a:spcBef>
                        <a:spcAft>
                          <a:spcPts val="0"/>
                        </a:spcAft>
                        <a:buNone/>
                      </a:pPr>
                      <a:endParaRPr sz="1800" b="1" dirty="0">
                        <a:solidFill>
                          <a:schemeClr val="lt1"/>
                        </a:solidFill>
                      </a:endParaRPr>
                    </a:p>
                  </a:txBody>
                  <a:tcPr marL="91425" marR="91425" marT="91425" marB="91425">
                    <a:solidFill>
                      <a:srgbClr val="C00000"/>
                    </a:solidFill>
                  </a:tcPr>
                </a:tc>
                <a:extLst>
                  <a:ext uri="{0D108BD9-81ED-4DB2-BD59-A6C34878D82A}">
                    <a16:rowId xmlns:a16="http://schemas.microsoft.com/office/drawing/2014/main" val="10001"/>
                  </a:ext>
                </a:extLst>
              </a:tr>
              <a:tr h="381000">
                <a:tc>
                  <a:txBody>
                    <a:bodyPr/>
                    <a:lstStyle/>
                    <a:p>
                      <a:pPr marL="0" lvl="0" indent="0" algn="ctr" rtl="0">
                        <a:spcBef>
                          <a:spcPts val="0"/>
                        </a:spcBef>
                        <a:spcAft>
                          <a:spcPts val="0"/>
                        </a:spcAft>
                        <a:buNone/>
                      </a:pPr>
                      <a:endParaRPr sz="1800" b="1">
                        <a:solidFill>
                          <a:schemeClr val="lt1"/>
                        </a:solidFill>
                      </a:endParaRPr>
                    </a:p>
                  </a:txBody>
                  <a:tcPr marL="91425" marR="91425" marT="91425" marB="91425">
                    <a:solidFill>
                      <a:srgbClr val="C00000"/>
                    </a:solidFill>
                  </a:tcPr>
                </a:tc>
                <a:extLst>
                  <a:ext uri="{0D108BD9-81ED-4DB2-BD59-A6C34878D82A}">
                    <a16:rowId xmlns:a16="http://schemas.microsoft.com/office/drawing/2014/main" val="10002"/>
                  </a:ext>
                </a:extLst>
              </a:tr>
              <a:tr h="381000">
                <a:tc>
                  <a:txBody>
                    <a:bodyPr/>
                    <a:lstStyle/>
                    <a:p>
                      <a:pPr marL="0" lvl="0" indent="0" algn="ctr" rtl="0">
                        <a:spcBef>
                          <a:spcPts val="0"/>
                        </a:spcBef>
                        <a:spcAft>
                          <a:spcPts val="0"/>
                        </a:spcAft>
                        <a:buNone/>
                      </a:pPr>
                      <a:endParaRPr sz="1800" b="1" dirty="0">
                        <a:solidFill>
                          <a:schemeClr val="lt1"/>
                        </a:solidFill>
                      </a:endParaRPr>
                    </a:p>
                  </a:txBody>
                  <a:tcPr marL="91425" marR="91425" marT="91425" marB="91425">
                    <a:solidFill>
                      <a:srgbClr val="C00000"/>
                    </a:solidFill>
                  </a:tcPr>
                </a:tc>
                <a:extLst>
                  <a:ext uri="{0D108BD9-81ED-4DB2-BD59-A6C34878D82A}">
                    <a16:rowId xmlns:a16="http://schemas.microsoft.com/office/drawing/2014/main" val="10003"/>
                  </a:ext>
                </a:extLst>
              </a:tr>
              <a:tr h="381000">
                <a:tc>
                  <a:txBody>
                    <a:bodyPr/>
                    <a:lstStyle/>
                    <a:p>
                      <a:pPr marL="0" lvl="0" indent="0" algn="ctr" rtl="0">
                        <a:spcBef>
                          <a:spcPts val="0"/>
                        </a:spcBef>
                        <a:spcAft>
                          <a:spcPts val="0"/>
                        </a:spcAft>
                        <a:buNone/>
                      </a:pPr>
                      <a:endParaRPr sz="1800" b="1" dirty="0">
                        <a:solidFill>
                          <a:schemeClr val="dk1"/>
                        </a:solidFill>
                      </a:endParaRPr>
                    </a:p>
                  </a:txBody>
                  <a:tcPr marL="91425" marR="91425" marT="91425" marB="91425">
                    <a:solidFill>
                      <a:srgbClr val="C00000"/>
                    </a:solidFill>
                  </a:tcPr>
                </a:tc>
                <a:extLst>
                  <a:ext uri="{0D108BD9-81ED-4DB2-BD59-A6C34878D82A}">
                    <a16:rowId xmlns:a16="http://schemas.microsoft.com/office/drawing/2014/main" val="10004"/>
                  </a:ext>
                </a:extLst>
              </a:tr>
              <a:tr h="381000">
                <a:tc>
                  <a:txBody>
                    <a:bodyPr/>
                    <a:lstStyle/>
                    <a:p>
                      <a:pPr marL="0" lvl="0" indent="0" algn="ctr" rtl="0">
                        <a:spcBef>
                          <a:spcPts val="0"/>
                        </a:spcBef>
                        <a:spcAft>
                          <a:spcPts val="0"/>
                        </a:spcAft>
                        <a:buNone/>
                      </a:pPr>
                      <a:endParaRPr sz="700">
                        <a:solidFill>
                          <a:schemeClr val="dk1"/>
                        </a:solidFill>
                      </a:endParaRPr>
                    </a:p>
                  </a:txBody>
                  <a:tcPr marL="91425" marR="91425" marT="91425" marB="91425">
                    <a:solidFill>
                      <a:srgbClr val="C00000"/>
                    </a:solidFill>
                  </a:tcPr>
                </a:tc>
                <a:extLst>
                  <a:ext uri="{0D108BD9-81ED-4DB2-BD59-A6C34878D82A}">
                    <a16:rowId xmlns:a16="http://schemas.microsoft.com/office/drawing/2014/main" val="10005"/>
                  </a:ext>
                </a:extLst>
              </a:tr>
              <a:tr h="381000">
                <a:tc>
                  <a:txBody>
                    <a:bodyPr/>
                    <a:lstStyle/>
                    <a:p>
                      <a:pPr marL="0" lvl="0" indent="0" algn="ctr" rtl="0">
                        <a:spcBef>
                          <a:spcPts val="0"/>
                        </a:spcBef>
                        <a:spcAft>
                          <a:spcPts val="0"/>
                        </a:spcAft>
                        <a:buNone/>
                      </a:pPr>
                      <a:endParaRPr sz="1800" b="1" dirty="0">
                        <a:solidFill>
                          <a:schemeClr val="dk1"/>
                        </a:solidFill>
                      </a:endParaRPr>
                    </a:p>
                  </a:txBody>
                  <a:tcPr marL="91425" marR="91425" marT="91425" marB="91425">
                    <a:solidFill>
                      <a:srgbClr val="C00000"/>
                    </a:solidFill>
                  </a:tcPr>
                </a:tc>
                <a:extLst>
                  <a:ext uri="{0D108BD9-81ED-4DB2-BD59-A6C34878D82A}">
                    <a16:rowId xmlns:a16="http://schemas.microsoft.com/office/drawing/2014/main" val="10006"/>
                  </a:ext>
                </a:extLst>
              </a:tr>
              <a:tr h="381000">
                <a:tc>
                  <a:txBody>
                    <a:bodyPr/>
                    <a:lstStyle/>
                    <a:p>
                      <a:pPr marL="0" lvl="0" indent="0" algn="ctr" rtl="0">
                        <a:spcBef>
                          <a:spcPts val="0"/>
                        </a:spcBef>
                        <a:spcAft>
                          <a:spcPts val="0"/>
                        </a:spcAft>
                        <a:buNone/>
                      </a:pPr>
                      <a:endParaRPr sz="1800" b="1" dirty="0">
                        <a:solidFill>
                          <a:schemeClr val="dk1"/>
                        </a:solidFill>
                      </a:endParaRPr>
                    </a:p>
                  </a:txBody>
                  <a:tcPr marL="91425" marR="91425" marT="91425" marB="91425">
                    <a:solidFill>
                      <a:srgbClr val="C00000"/>
                    </a:solidFill>
                  </a:tcPr>
                </a:tc>
                <a:extLst>
                  <a:ext uri="{0D108BD9-81ED-4DB2-BD59-A6C34878D82A}">
                    <a16:rowId xmlns:a16="http://schemas.microsoft.com/office/drawing/2014/main" val="10007"/>
                  </a:ext>
                </a:extLst>
              </a:tr>
            </a:tbl>
          </a:graphicData>
        </a:graphic>
      </p:graphicFrame>
      <p:cxnSp>
        <p:nvCxnSpPr>
          <p:cNvPr id="1182" name="Google Shape;1182;g2950e80dcb7_0_68"/>
          <p:cNvCxnSpPr/>
          <p:nvPr/>
        </p:nvCxnSpPr>
        <p:spPr>
          <a:xfrm>
            <a:off x="2401800" y="3765482"/>
            <a:ext cx="661200" cy="0"/>
          </a:xfrm>
          <a:prstGeom prst="straightConnector1">
            <a:avLst/>
          </a:prstGeom>
          <a:noFill/>
          <a:ln w="28575" cap="flat" cmpd="sng">
            <a:solidFill>
              <a:srgbClr val="FF0000"/>
            </a:solidFill>
            <a:prstDash val="solid"/>
            <a:round/>
            <a:headEnd type="none" w="med" len="med"/>
            <a:tailEnd type="triangle" w="med" len="med"/>
          </a:ln>
        </p:spPr>
      </p:cxnSp>
      <p:sp>
        <p:nvSpPr>
          <p:cNvPr id="2" name="Title 1">
            <a:extLst>
              <a:ext uri="{FF2B5EF4-FFF2-40B4-BE49-F238E27FC236}">
                <a16:creationId xmlns:a16="http://schemas.microsoft.com/office/drawing/2014/main" id="{0AFAE9AF-1054-0204-D188-CBD6905D96FD}"/>
              </a:ext>
            </a:extLst>
          </p:cNvPr>
          <p:cNvSpPr txBox="1">
            <a:spLocks/>
          </p:cNvSpPr>
          <p:nvPr/>
        </p:nvSpPr>
        <p:spPr>
          <a:xfrm>
            <a:off x="646112" y="452718"/>
            <a:ext cx="6908786" cy="1400530"/>
          </a:xfrm>
          <a:prstGeom prst="rect">
            <a:avLst/>
          </a:prstGeom>
          <a:noFill/>
          <a:ln>
            <a:noFill/>
          </a:ln>
        </p:spPr>
        <p:txBody>
          <a:bodyPr spcFirstLastPara="1" vert="horz" wrap="square" lIns="91425" tIns="91425" rIns="91425" bIns="91425" rtlCol="0" anchor="ctr" anchorCtr="0">
            <a:noAutofit/>
          </a:bodyPr>
          <a:lstStyle>
            <a:lvl1pPr lvl="0" algn="l" defTabSz="457200" rtl="0" eaLnBrk="1" latinLnBrk="0" hangingPunct="1">
              <a:lnSpc>
                <a:spcPct val="100000"/>
              </a:lnSpc>
              <a:spcBef>
                <a:spcPts val="0"/>
              </a:spcBef>
              <a:spcAft>
                <a:spcPts val="0"/>
              </a:spcAft>
              <a:buSzPts val="3500"/>
              <a:buNone/>
              <a:defRPr sz="4200" b="0" i="0" kern="1200">
                <a:solidFill>
                  <a:schemeClr val="tx2"/>
                </a:solidFill>
                <a:latin typeface="+mj-lt"/>
                <a:ea typeface="+mj-ea"/>
                <a:cs typeface="+mj-cs"/>
              </a:defRPr>
            </a:lvl1pPr>
            <a:lvl2pPr lvl="1" algn="l" eaLnBrk="1" hangingPunct="1">
              <a:lnSpc>
                <a:spcPct val="100000"/>
              </a:lnSpc>
              <a:spcBef>
                <a:spcPts val="0"/>
              </a:spcBef>
              <a:spcAft>
                <a:spcPts val="0"/>
              </a:spcAft>
              <a:buSzPts val="3500"/>
              <a:buNone/>
              <a:defRPr>
                <a:solidFill>
                  <a:schemeClr val="tx2"/>
                </a:solidFill>
              </a:defRPr>
            </a:lvl2pPr>
            <a:lvl3pPr lvl="2" algn="l" eaLnBrk="1" hangingPunct="1">
              <a:lnSpc>
                <a:spcPct val="100000"/>
              </a:lnSpc>
              <a:spcBef>
                <a:spcPts val="0"/>
              </a:spcBef>
              <a:spcAft>
                <a:spcPts val="0"/>
              </a:spcAft>
              <a:buSzPts val="3500"/>
              <a:buNone/>
              <a:defRPr>
                <a:solidFill>
                  <a:schemeClr val="tx2"/>
                </a:solidFill>
              </a:defRPr>
            </a:lvl3pPr>
            <a:lvl4pPr lvl="3" algn="l" eaLnBrk="1" hangingPunct="1">
              <a:lnSpc>
                <a:spcPct val="100000"/>
              </a:lnSpc>
              <a:spcBef>
                <a:spcPts val="0"/>
              </a:spcBef>
              <a:spcAft>
                <a:spcPts val="0"/>
              </a:spcAft>
              <a:buSzPts val="3500"/>
              <a:buNone/>
              <a:defRPr>
                <a:solidFill>
                  <a:schemeClr val="tx2"/>
                </a:solidFill>
              </a:defRPr>
            </a:lvl4pPr>
            <a:lvl5pPr lvl="4" algn="l" eaLnBrk="1" hangingPunct="1">
              <a:lnSpc>
                <a:spcPct val="100000"/>
              </a:lnSpc>
              <a:spcBef>
                <a:spcPts val="0"/>
              </a:spcBef>
              <a:spcAft>
                <a:spcPts val="0"/>
              </a:spcAft>
              <a:buSzPts val="3500"/>
              <a:buNone/>
              <a:defRPr>
                <a:solidFill>
                  <a:schemeClr val="tx2"/>
                </a:solidFill>
              </a:defRPr>
            </a:lvl5pPr>
            <a:lvl6pPr lvl="5" algn="l" eaLnBrk="1" hangingPunct="1">
              <a:lnSpc>
                <a:spcPct val="100000"/>
              </a:lnSpc>
              <a:spcBef>
                <a:spcPts val="0"/>
              </a:spcBef>
              <a:spcAft>
                <a:spcPts val="0"/>
              </a:spcAft>
              <a:buSzPts val="3500"/>
              <a:buNone/>
              <a:defRPr>
                <a:solidFill>
                  <a:schemeClr val="tx2"/>
                </a:solidFill>
              </a:defRPr>
            </a:lvl6pPr>
            <a:lvl7pPr lvl="6" algn="l" eaLnBrk="1" hangingPunct="1">
              <a:lnSpc>
                <a:spcPct val="100000"/>
              </a:lnSpc>
              <a:spcBef>
                <a:spcPts val="0"/>
              </a:spcBef>
              <a:spcAft>
                <a:spcPts val="0"/>
              </a:spcAft>
              <a:buSzPts val="3500"/>
              <a:buNone/>
              <a:defRPr>
                <a:solidFill>
                  <a:schemeClr val="tx2"/>
                </a:solidFill>
              </a:defRPr>
            </a:lvl7pPr>
            <a:lvl8pPr lvl="7" algn="l" eaLnBrk="1" hangingPunct="1">
              <a:lnSpc>
                <a:spcPct val="100000"/>
              </a:lnSpc>
              <a:spcBef>
                <a:spcPts val="0"/>
              </a:spcBef>
              <a:spcAft>
                <a:spcPts val="0"/>
              </a:spcAft>
              <a:buSzPts val="3500"/>
              <a:buNone/>
              <a:defRPr>
                <a:solidFill>
                  <a:schemeClr val="tx2"/>
                </a:solidFill>
              </a:defRPr>
            </a:lvl8pPr>
            <a:lvl9pPr lvl="8" algn="l" eaLnBrk="1" hangingPunct="1">
              <a:lnSpc>
                <a:spcPct val="100000"/>
              </a:lnSpc>
              <a:spcBef>
                <a:spcPts val="0"/>
              </a:spcBef>
              <a:spcAft>
                <a:spcPts val="0"/>
              </a:spcAft>
              <a:buSzPts val="3500"/>
              <a:buNone/>
              <a:defRPr>
                <a:solidFill>
                  <a:schemeClr val="tx2"/>
                </a:solidFill>
              </a:defRPr>
            </a:lvl9pPr>
          </a:lstStyle>
          <a:p>
            <a:r>
              <a:rPr lang="en-US" dirty="0"/>
              <a:t>Problem 3</a:t>
            </a:r>
          </a:p>
        </p:txBody>
      </p:sp>
      <p:sp>
        <p:nvSpPr>
          <p:cNvPr id="3" name="Rectangle 2">
            <a:extLst>
              <a:ext uri="{FF2B5EF4-FFF2-40B4-BE49-F238E27FC236}">
                <a16:creationId xmlns:a16="http://schemas.microsoft.com/office/drawing/2014/main" id="{3538911C-3351-5CF1-AE44-E41E4B47FF1D}"/>
              </a:ext>
            </a:extLst>
          </p:cNvPr>
          <p:cNvSpPr/>
          <p:nvPr/>
        </p:nvSpPr>
        <p:spPr>
          <a:xfrm>
            <a:off x="6165800" y="5723751"/>
            <a:ext cx="2325949" cy="331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Top of Memory</a:t>
            </a:r>
          </a:p>
        </p:txBody>
      </p:sp>
      <p:sp>
        <p:nvSpPr>
          <p:cNvPr id="4" name="Rectangle 3">
            <a:extLst>
              <a:ext uri="{FF2B5EF4-FFF2-40B4-BE49-F238E27FC236}">
                <a16:creationId xmlns:a16="http://schemas.microsoft.com/office/drawing/2014/main" id="{7F7387CF-6B8B-4160-17B1-8A6579AC27B4}"/>
              </a:ext>
            </a:extLst>
          </p:cNvPr>
          <p:cNvSpPr/>
          <p:nvPr/>
        </p:nvSpPr>
        <p:spPr>
          <a:xfrm>
            <a:off x="7979625" y="830849"/>
            <a:ext cx="2325949" cy="331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Bottom of Memory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86"/>
        <p:cNvGrpSpPr/>
        <p:nvPr/>
      </p:nvGrpSpPr>
      <p:grpSpPr>
        <a:xfrm>
          <a:off x="0" y="0"/>
          <a:ext cx="0" cy="0"/>
          <a:chOff x="0" y="0"/>
          <a:chExt cx="0" cy="0"/>
        </a:xfrm>
      </p:grpSpPr>
      <p:pic>
        <p:nvPicPr>
          <p:cNvPr id="1188" name="Google Shape;1188;g2950e80dcb7_0_80"/>
          <p:cNvPicPr preferRelativeResize="0"/>
          <p:nvPr/>
        </p:nvPicPr>
        <p:blipFill>
          <a:blip r:embed="rId3">
            <a:alphaModFix/>
          </a:blip>
          <a:stretch>
            <a:fillRect/>
          </a:stretch>
        </p:blipFill>
        <p:spPr>
          <a:xfrm>
            <a:off x="2286002" y="2062352"/>
            <a:ext cx="2497975" cy="3312775"/>
          </a:xfrm>
          <a:prstGeom prst="rect">
            <a:avLst/>
          </a:prstGeom>
          <a:noFill/>
          <a:ln>
            <a:noFill/>
          </a:ln>
        </p:spPr>
      </p:pic>
      <p:sp>
        <p:nvSpPr>
          <p:cNvPr id="1189" name="Google Shape;1189;g2950e80dcb7_0_80"/>
          <p:cNvSpPr txBox="1"/>
          <p:nvPr/>
        </p:nvSpPr>
        <p:spPr>
          <a:xfrm>
            <a:off x="6313325" y="1249850"/>
            <a:ext cx="1868400" cy="514500"/>
          </a:xfrm>
          <a:prstGeom prst="rect">
            <a:avLst/>
          </a:prstGeom>
          <a:noFill/>
          <a:ln>
            <a:noFill/>
          </a:ln>
        </p:spPr>
        <p:txBody>
          <a:bodyPr spcFirstLastPara="1" wrap="square" lIns="91425" tIns="91425" rIns="91425" bIns="91425" anchor="t" anchorCtr="0">
            <a:noAutofit/>
          </a:bodyPr>
          <a:lstStyle/>
          <a:p>
            <a:pPr algn="ctr"/>
            <a:r>
              <a:rPr lang="en" sz="1900">
                <a:solidFill>
                  <a:srgbClr val="00C3B1"/>
                </a:solidFill>
                <a:latin typeface="Didact Gothic"/>
                <a:ea typeface="Didact Gothic"/>
                <a:cs typeface="Didact Gothic"/>
                <a:sym typeface="Didact Gothic"/>
              </a:rPr>
              <a:t>Stack</a:t>
            </a:r>
            <a:endParaRPr sz="1900">
              <a:solidFill>
                <a:srgbClr val="00C3B1"/>
              </a:solidFill>
              <a:latin typeface="Didact Gothic"/>
              <a:ea typeface="Didact Gothic"/>
              <a:cs typeface="Didact Gothic"/>
              <a:sym typeface="Didact Gothic"/>
            </a:endParaRPr>
          </a:p>
        </p:txBody>
      </p:sp>
      <p:sp>
        <p:nvSpPr>
          <p:cNvPr id="1190" name="Google Shape;1190;g2950e80dcb7_0_80"/>
          <p:cNvSpPr txBox="1"/>
          <p:nvPr/>
        </p:nvSpPr>
        <p:spPr>
          <a:xfrm>
            <a:off x="7748450" y="5134100"/>
            <a:ext cx="1280700" cy="378000"/>
          </a:xfrm>
          <a:prstGeom prst="rect">
            <a:avLst/>
          </a:prstGeom>
          <a:noFill/>
          <a:ln>
            <a:noFill/>
          </a:ln>
        </p:spPr>
        <p:txBody>
          <a:bodyPr spcFirstLastPara="1" wrap="square" lIns="91425" tIns="91425" rIns="91425" bIns="91425" anchor="t" anchorCtr="0">
            <a:noAutofit/>
          </a:bodyPr>
          <a:lstStyle/>
          <a:p>
            <a:r>
              <a:rPr lang="en">
                <a:solidFill>
                  <a:schemeClr val="lt1"/>
                </a:solidFill>
                <a:latin typeface="Didact Gothic"/>
                <a:ea typeface="Didact Gothic"/>
                <a:cs typeface="Didact Gothic"/>
                <a:sym typeface="Didact Gothic"/>
              </a:rPr>
              <a:t>SP = 1280H</a:t>
            </a:r>
            <a:endParaRPr>
              <a:solidFill>
                <a:schemeClr val="lt1"/>
              </a:solidFill>
              <a:latin typeface="Didact Gothic"/>
              <a:ea typeface="Didact Gothic"/>
              <a:cs typeface="Didact Gothic"/>
              <a:sym typeface="Didact Gothic"/>
            </a:endParaRPr>
          </a:p>
        </p:txBody>
      </p:sp>
      <p:cxnSp>
        <p:nvCxnSpPr>
          <p:cNvPr id="1191" name="Google Shape;1191;g2950e80dcb7_0_80"/>
          <p:cNvCxnSpPr/>
          <p:nvPr/>
        </p:nvCxnSpPr>
        <p:spPr>
          <a:xfrm>
            <a:off x="7779950" y="5532975"/>
            <a:ext cx="1343700" cy="10500"/>
          </a:xfrm>
          <a:prstGeom prst="straightConnector1">
            <a:avLst/>
          </a:prstGeom>
          <a:noFill/>
          <a:ln w="19050" cap="flat" cmpd="sng">
            <a:solidFill>
              <a:srgbClr val="FF0000"/>
            </a:solidFill>
            <a:prstDash val="solid"/>
            <a:round/>
            <a:headEnd type="none" w="med" len="med"/>
            <a:tailEnd type="triangle" w="med" len="med"/>
          </a:ln>
        </p:spPr>
      </p:cxnSp>
      <p:graphicFrame>
        <p:nvGraphicFramePr>
          <p:cNvPr id="1192" name="Google Shape;1192;g2950e80dcb7_0_80"/>
          <p:cNvGraphicFramePr/>
          <p:nvPr>
            <p:extLst>
              <p:ext uri="{D42A27DB-BD31-4B8C-83A1-F6EECF244321}">
                <p14:modId xmlns:p14="http://schemas.microsoft.com/office/powerpoint/2010/main" val="489810983"/>
              </p:ext>
            </p:extLst>
          </p:nvPr>
        </p:nvGraphicFramePr>
        <p:xfrm>
          <a:off x="6861075" y="1890125"/>
          <a:ext cx="772900" cy="3657360"/>
        </p:xfrm>
        <a:graphic>
          <a:graphicData uri="http://schemas.openxmlformats.org/drawingml/2006/table">
            <a:tbl>
              <a:tblPr>
                <a:noFill/>
              </a:tblPr>
              <a:tblGrid>
                <a:gridCol w="772900">
                  <a:extLst>
                    <a:ext uri="{9D8B030D-6E8A-4147-A177-3AD203B41FA5}">
                      <a16:colId xmlns:a16="http://schemas.microsoft.com/office/drawing/2014/main" val="20000"/>
                    </a:ext>
                  </a:extLst>
                </a:gridCol>
              </a:tblGrid>
              <a:tr h="381000">
                <a:tc>
                  <a:txBody>
                    <a:bodyPr/>
                    <a:lstStyle/>
                    <a:p>
                      <a:pPr marL="0" lvl="0" indent="0" algn="ctr" rtl="0">
                        <a:spcBef>
                          <a:spcPts val="0"/>
                        </a:spcBef>
                        <a:spcAft>
                          <a:spcPts val="0"/>
                        </a:spcAft>
                        <a:buNone/>
                      </a:pPr>
                      <a:r>
                        <a:rPr lang="en" sz="1800" b="1" dirty="0">
                          <a:solidFill>
                            <a:schemeClr val="lt1"/>
                          </a:solidFill>
                        </a:rPr>
                        <a:t>CL</a:t>
                      </a:r>
                      <a:endParaRPr sz="1800" b="1" dirty="0">
                        <a:solidFill>
                          <a:schemeClr val="lt1"/>
                        </a:solidFill>
                      </a:endParaRPr>
                    </a:p>
                  </a:txBody>
                  <a:tcPr marL="91425" marR="91425" marT="91425" marB="91425">
                    <a:solidFill>
                      <a:srgbClr val="C00000"/>
                    </a:solidFill>
                  </a:tcPr>
                </a:tc>
                <a:extLst>
                  <a:ext uri="{0D108BD9-81ED-4DB2-BD59-A6C34878D82A}">
                    <a16:rowId xmlns:a16="http://schemas.microsoft.com/office/drawing/2014/main" val="10000"/>
                  </a:ext>
                </a:extLst>
              </a:tr>
              <a:tr h="381000">
                <a:tc>
                  <a:txBody>
                    <a:bodyPr/>
                    <a:lstStyle/>
                    <a:p>
                      <a:pPr marL="0" lvl="0" indent="0" algn="ctr" rtl="0">
                        <a:spcBef>
                          <a:spcPts val="0"/>
                        </a:spcBef>
                        <a:spcAft>
                          <a:spcPts val="0"/>
                        </a:spcAft>
                        <a:buNone/>
                      </a:pPr>
                      <a:r>
                        <a:rPr lang="en" sz="1800" b="1" dirty="0">
                          <a:solidFill>
                            <a:schemeClr val="lt1"/>
                          </a:solidFill>
                        </a:rPr>
                        <a:t>CH</a:t>
                      </a:r>
                      <a:endParaRPr sz="1800" b="1" dirty="0">
                        <a:solidFill>
                          <a:schemeClr val="lt1"/>
                        </a:solidFill>
                      </a:endParaRPr>
                    </a:p>
                  </a:txBody>
                  <a:tcPr marL="91425" marR="91425" marT="91425" marB="91425">
                    <a:solidFill>
                      <a:srgbClr val="C00000"/>
                    </a:solidFill>
                  </a:tcPr>
                </a:tc>
                <a:extLst>
                  <a:ext uri="{0D108BD9-81ED-4DB2-BD59-A6C34878D82A}">
                    <a16:rowId xmlns:a16="http://schemas.microsoft.com/office/drawing/2014/main" val="10001"/>
                  </a:ext>
                </a:extLst>
              </a:tr>
              <a:tr h="381000">
                <a:tc>
                  <a:txBody>
                    <a:bodyPr/>
                    <a:lstStyle/>
                    <a:p>
                      <a:pPr marL="0" lvl="0" indent="0" algn="ctr" rtl="0">
                        <a:spcBef>
                          <a:spcPts val="0"/>
                        </a:spcBef>
                        <a:spcAft>
                          <a:spcPts val="0"/>
                        </a:spcAft>
                        <a:buNone/>
                      </a:pPr>
                      <a:r>
                        <a:rPr lang="en" sz="1800" b="1">
                          <a:solidFill>
                            <a:schemeClr val="lt1"/>
                          </a:solidFill>
                        </a:rPr>
                        <a:t>BL</a:t>
                      </a:r>
                      <a:endParaRPr sz="1800" b="1">
                        <a:solidFill>
                          <a:schemeClr val="lt1"/>
                        </a:solidFill>
                      </a:endParaRPr>
                    </a:p>
                  </a:txBody>
                  <a:tcPr marL="91425" marR="91425" marT="91425" marB="91425">
                    <a:solidFill>
                      <a:srgbClr val="C00000"/>
                    </a:solidFill>
                  </a:tcPr>
                </a:tc>
                <a:extLst>
                  <a:ext uri="{0D108BD9-81ED-4DB2-BD59-A6C34878D82A}">
                    <a16:rowId xmlns:a16="http://schemas.microsoft.com/office/drawing/2014/main" val="10002"/>
                  </a:ext>
                </a:extLst>
              </a:tr>
              <a:tr h="381000">
                <a:tc>
                  <a:txBody>
                    <a:bodyPr/>
                    <a:lstStyle/>
                    <a:p>
                      <a:pPr marL="0" lvl="0" indent="0" algn="ctr" rtl="0">
                        <a:spcBef>
                          <a:spcPts val="0"/>
                        </a:spcBef>
                        <a:spcAft>
                          <a:spcPts val="0"/>
                        </a:spcAft>
                        <a:buNone/>
                      </a:pPr>
                      <a:r>
                        <a:rPr lang="en" sz="1800" b="1" dirty="0">
                          <a:solidFill>
                            <a:schemeClr val="lt1"/>
                          </a:solidFill>
                        </a:rPr>
                        <a:t>BH</a:t>
                      </a:r>
                      <a:endParaRPr sz="1800" b="1" dirty="0">
                        <a:solidFill>
                          <a:schemeClr val="lt1"/>
                        </a:solidFill>
                      </a:endParaRPr>
                    </a:p>
                  </a:txBody>
                  <a:tcPr marL="91425" marR="91425" marT="91425" marB="91425">
                    <a:solidFill>
                      <a:srgbClr val="C00000"/>
                    </a:solidFill>
                  </a:tcPr>
                </a:tc>
                <a:extLst>
                  <a:ext uri="{0D108BD9-81ED-4DB2-BD59-A6C34878D82A}">
                    <a16:rowId xmlns:a16="http://schemas.microsoft.com/office/drawing/2014/main" val="10003"/>
                  </a:ext>
                </a:extLst>
              </a:tr>
              <a:tr h="381000">
                <a:tc>
                  <a:txBody>
                    <a:bodyPr/>
                    <a:lstStyle/>
                    <a:p>
                      <a:pPr marL="0" lvl="0" indent="0" algn="ctr" rtl="0">
                        <a:spcBef>
                          <a:spcPts val="0"/>
                        </a:spcBef>
                        <a:spcAft>
                          <a:spcPts val="0"/>
                        </a:spcAft>
                        <a:buNone/>
                      </a:pPr>
                      <a:r>
                        <a:rPr lang="en" sz="1800" b="1">
                          <a:solidFill>
                            <a:schemeClr val="lt1"/>
                          </a:solidFill>
                        </a:rPr>
                        <a:t>AL</a:t>
                      </a:r>
                      <a:endParaRPr sz="1800" b="1">
                        <a:solidFill>
                          <a:schemeClr val="lt1"/>
                        </a:solidFill>
                      </a:endParaRPr>
                    </a:p>
                  </a:txBody>
                  <a:tcPr marL="91425" marR="91425" marT="91425" marB="91425">
                    <a:solidFill>
                      <a:srgbClr val="C00000"/>
                    </a:solidFill>
                  </a:tcPr>
                </a:tc>
                <a:extLst>
                  <a:ext uri="{0D108BD9-81ED-4DB2-BD59-A6C34878D82A}">
                    <a16:rowId xmlns:a16="http://schemas.microsoft.com/office/drawing/2014/main" val="10004"/>
                  </a:ext>
                </a:extLst>
              </a:tr>
              <a:tr h="381000">
                <a:tc>
                  <a:txBody>
                    <a:bodyPr/>
                    <a:lstStyle/>
                    <a:p>
                      <a:pPr marL="0" lvl="0" indent="0" algn="ctr" rtl="0">
                        <a:spcBef>
                          <a:spcPts val="0"/>
                        </a:spcBef>
                        <a:spcAft>
                          <a:spcPts val="0"/>
                        </a:spcAft>
                        <a:buNone/>
                      </a:pPr>
                      <a:r>
                        <a:rPr lang="en" sz="1800" b="1" dirty="0">
                          <a:solidFill>
                            <a:schemeClr val="lt1"/>
                          </a:solidFill>
                        </a:rPr>
                        <a:t>AH</a:t>
                      </a:r>
                      <a:endParaRPr sz="1800" b="1" dirty="0">
                        <a:solidFill>
                          <a:schemeClr val="lt1"/>
                        </a:solidFill>
                      </a:endParaRPr>
                    </a:p>
                  </a:txBody>
                  <a:tcPr marL="91425" marR="91425" marT="91425" marB="91425">
                    <a:solidFill>
                      <a:srgbClr val="C00000"/>
                    </a:solidFill>
                  </a:tcPr>
                </a:tc>
                <a:extLst>
                  <a:ext uri="{0D108BD9-81ED-4DB2-BD59-A6C34878D82A}">
                    <a16:rowId xmlns:a16="http://schemas.microsoft.com/office/drawing/2014/main" val="10005"/>
                  </a:ext>
                </a:extLst>
              </a:tr>
              <a:tr h="381000">
                <a:tc>
                  <a:txBody>
                    <a:bodyPr/>
                    <a:lstStyle/>
                    <a:p>
                      <a:pPr marL="0" lvl="0" indent="0" algn="ctr" rtl="0">
                        <a:spcBef>
                          <a:spcPts val="0"/>
                        </a:spcBef>
                        <a:spcAft>
                          <a:spcPts val="0"/>
                        </a:spcAft>
                        <a:buNone/>
                      </a:pPr>
                      <a:r>
                        <a:rPr lang="en" sz="1800" b="1" dirty="0">
                          <a:solidFill>
                            <a:schemeClr val="lt1"/>
                          </a:solidFill>
                        </a:rPr>
                        <a:t>53</a:t>
                      </a:r>
                      <a:endParaRPr sz="1800" b="1" dirty="0">
                        <a:solidFill>
                          <a:schemeClr val="lt1"/>
                        </a:solidFill>
                      </a:endParaRPr>
                    </a:p>
                  </a:txBody>
                  <a:tcPr marL="91425" marR="91425" marT="91425" marB="91425">
                    <a:solidFill>
                      <a:srgbClr val="C00000"/>
                    </a:solidFill>
                  </a:tcPr>
                </a:tc>
                <a:extLst>
                  <a:ext uri="{0D108BD9-81ED-4DB2-BD59-A6C34878D82A}">
                    <a16:rowId xmlns:a16="http://schemas.microsoft.com/office/drawing/2014/main" val="10006"/>
                  </a:ext>
                </a:extLst>
              </a:tr>
              <a:tr h="381000">
                <a:tc>
                  <a:txBody>
                    <a:bodyPr/>
                    <a:lstStyle/>
                    <a:p>
                      <a:pPr marL="0" lvl="0" indent="0" algn="ctr" rtl="0">
                        <a:spcBef>
                          <a:spcPts val="0"/>
                        </a:spcBef>
                        <a:spcAft>
                          <a:spcPts val="0"/>
                        </a:spcAft>
                        <a:buNone/>
                      </a:pPr>
                      <a:r>
                        <a:rPr lang="en" sz="1800" b="1" dirty="0">
                          <a:solidFill>
                            <a:schemeClr val="lt1"/>
                          </a:solidFill>
                        </a:rPr>
                        <a:t>04</a:t>
                      </a:r>
                      <a:endParaRPr sz="1800" b="1" dirty="0">
                        <a:solidFill>
                          <a:schemeClr val="lt1"/>
                        </a:solidFill>
                      </a:endParaRPr>
                    </a:p>
                  </a:txBody>
                  <a:tcPr marL="91425" marR="91425" marT="91425" marB="91425">
                    <a:solidFill>
                      <a:srgbClr val="C00000"/>
                    </a:solidFill>
                  </a:tcPr>
                </a:tc>
                <a:extLst>
                  <a:ext uri="{0D108BD9-81ED-4DB2-BD59-A6C34878D82A}">
                    <a16:rowId xmlns:a16="http://schemas.microsoft.com/office/drawing/2014/main" val="10007"/>
                  </a:ext>
                </a:extLst>
              </a:tr>
            </a:tbl>
          </a:graphicData>
        </a:graphic>
      </p:graphicFrame>
      <p:sp>
        <p:nvSpPr>
          <p:cNvPr id="1193" name="Google Shape;1193;g2950e80dcb7_0_80"/>
          <p:cNvSpPr txBox="1"/>
          <p:nvPr/>
        </p:nvSpPr>
        <p:spPr>
          <a:xfrm>
            <a:off x="8594850" y="1249850"/>
            <a:ext cx="1868400" cy="514500"/>
          </a:xfrm>
          <a:prstGeom prst="rect">
            <a:avLst/>
          </a:prstGeom>
          <a:noFill/>
          <a:ln>
            <a:noFill/>
          </a:ln>
        </p:spPr>
        <p:txBody>
          <a:bodyPr spcFirstLastPara="1" wrap="square" lIns="91425" tIns="91425" rIns="91425" bIns="91425" anchor="t" anchorCtr="0">
            <a:noAutofit/>
          </a:bodyPr>
          <a:lstStyle/>
          <a:p>
            <a:pPr algn="ctr"/>
            <a:r>
              <a:rPr lang="en" sz="1900">
                <a:solidFill>
                  <a:srgbClr val="00C3B1"/>
                </a:solidFill>
                <a:latin typeface="Didact Gothic"/>
                <a:ea typeface="Didact Gothic"/>
                <a:cs typeface="Didact Gothic"/>
                <a:sym typeface="Didact Gothic"/>
              </a:rPr>
              <a:t>Stack cont.</a:t>
            </a:r>
            <a:endParaRPr sz="1900">
              <a:solidFill>
                <a:srgbClr val="00C3B1"/>
              </a:solidFill>
              <a:latin typeface="Didact Gothic"/>
              <a:ea typeface="Didact Gothic"/>
              <a:cs typeface="Didact Gothic"/>
              <a:sym typeface="Didact Gothic"/>
            </a:endParaRPr>
          </a:p>
        </p:txBody>
      </p:sp>
      <p:graphicFrame>
        <p:nvGraphicFramePr>
          <p:cNvPr id="1194" name="Google Shape;1194;g2950e80dcb7_0_80"/>
          <p:cNvGraphicFramePr/>
          <p:nvPr>
            <p:extLst>
              <p:ext uri="{D42A27DB-BD31-4B8C-83A1-F6EECF244321}">
                <p14:modId xmlns:p14="http://schemas.microsoft.com/office/powerpoint/2010/main" val="2652604747"/>
              </p:ext>
            </p:extLst>
          </p:nvPr>
        </p:nvGraphicFramePr>
        <p:xfrm>
          <a:off x="9142600" y="1890138"/>
          <a:ext cx="917700" cy="3581190"/>
        </p:xfrm>
        <a:graphic>
          <a:graphicData uri="http://schemas.openxmlformats.org/drawingml/2006/table">
            <a:tbl>
              <a:tblPr>
                <a:noFill/>
              </a:tblPr>
              <a:tblGrid>
                <a:gridCol w="917700">
                  <a:extLst>
                    <a:ext uri="{9D8B030D-6E8A-4147-A177-3AD203B41FA5}">
                      <a16:colId xmlns:a16="http://schemas.microsoft.com/office/drawing/2014/main" val="20000"/>
                    </a:ext>
                  </a:extLst>
                </a:gridCol>
              </a:tblGrid>
              <a:tr h="381000">
                <a:tc>
                  <a:txBody>
                    <a:bodyPr/>
                    <a:lstStyle/>
                    <a:p>
                      <a:pPr marL="0" lvl="0" indent="0" algn="ctr" rtl="0">
                        <a:spcBef>
                          <a:spcPts val="0"/>
                        </a:spcBef>
                        <a:spcAft>
                          <a:spcPts val="0"/>
                        </a:spcAft>
                        <a:buNone/>
                      </a:pPr>
                      <a:endParaRPr sz="1800" b="1" dirty="0">
                        <a:solidFill>
                          <a:schemeClr val="lt1"/>
                        </a:solidFill>
                      </a:endParaRPr>
                    </a:p>
                  </a:txBody>
                  <a:tcPr marL="91425" marR="91425" marT="91425" marB="91425">
                    <a:solidFill>
                      <a:srgbClr val="C00000"/>
                    </a:solidFill>
                  </a:tcPr>
                </a:tc>
                <a:extLst>
                  <a:ext uri="{0D108BD9-81ED-4DB2-BD59-A6C34878D82A}">
                    <a16:rowId xmlns:a16="http://schemas.microsoft.com/office/drawing/2014/main" val="10000"/>
                  </a:ext>
                </a:extLst>
              </a:tr>
              <a:tr h="381000">
                <a:tc>
                  <a:txBody>
                    <a:bodyPr/>
                    <a:lstStyle/>
                    <a:p>
                      <a:pPr marL="0" lvl="0" indent="0" algn="ctr" rtl="0">
                        <a:spcBef>
                          <a:spcPts val="0"/>
                        </a:spcBef>
                        <a:spcAft>
                          <a:spcPts val="0"/>
                        </a:spcAft>
                        <a:buNone/>
                      </a:pPr>
                      <a:endParaRPr sz="1800" b="1" dirty="0">
                        <a:solidFill>
                          <a:schemeClr val="lt1"/>
                        </a:solidFill>
                      </a:endParaRPr>
                    </a:p>
                  </a:txBody>
                  <a:tcPr marL="91425" marR="91425" marT="91425" marB="91425">
                    <a:solidFill>
                      <a:srgbClr val="C00000"/>
                    </a:solidFill>
                  </a:tcPr>
                </a:tc>
                <a:extLst>
                  <a:ext uri="{0D108BD9-81ED-4DB2-BD59-A6C34878D82A}">
                    <a16:rowId xmlns:a16="http://schemas.microsoft.com/office/drawing/2014/main" val="10001"/>
                  </a:ext>
                </a:extLst>
              </a:tr>
              <a:tr h="381000">
                <a:tc>
                  <a:txBody>
                    <a:bodyPr/>
                    <a:lstStyle/>
                    <a:p>
                      <a:pPr marL="0" lvl="0" indent="0" algn="ctr" rtl="0">
                        <a:spcBef>
                          <a:spcPts val="0"/>
                        </a:spcBef>
                        <a:spcAft>
                          <a:spcPts val="0"/>
                        </a:spcAft>
                        <a:buNone/>
                      </a:pPr>
                      <a:endParaRPr sz="1800" b="1" dirty="0">
                        <a:solidFill>
                          <a:schemeClr val="lt1"/>
                        </a:solidFill>
                      </a:endParaRPr>
                    </a:p>
                  </a:txBody>
                  <a:tcPr marL="91425" marR="91425" marT="91425" marB="91425">
                    <a:solidFill>
                      <a:srgbClr val="C00000"/>
                    </a:solidFill>
                  </a:tcPr>
                </a:tc>
                <a:extLst>
                  <a:ext uri="{0D108BD9-81ED-4DB2-BD59-A6C34878D82A}">
                    <a16:rowId xmlns:a16="http://schemas.microsoft.com/office/drawing/2014/main" val="10002"/>
                  </a:ext>
                </a:extLst>
              </a:tr>
              <a:tr h="381000">
                <a:tc>
                  <a:txBody>
                    <a:bodyPr/>
                    <a:lstStyle/>
                    <a:p>
                      <a:pPr marL="0" lvl="0" indent="0" algn="ctr" rtl="0">
                        <a:spcBef>
                          <a:spcPts val="0"/>
                        </a:spcBef>
                        <a:spcAft>
                          <a:spcPts val="0"/>
                        </a:spcAft>
                        <a:buNone/>
                      </a:pPr>
                      <a:endParaRPr sz="1800" b="1">
                        <a:solidFill>
                          <a:schemeClr val="lt1"/>
                        </a:solidFill>
                      </a:endParaRPr>
                    </a:p>
                  </a:txBody>
                  <a:tcPr marL="91425" marR="91425" marT="91425" marB="91425">
                    <a:solidFill>
                      <a:srgbClr val="C00000"/>
                    </a:solidFill>
                  </a:tcPr>
                </a:tc>
                <a:extLst>
                  <a:ext uri="{0D108BD9-81ED-4DB2-BD59-A6C34878D82A}">
                    <a16:rowId xmlns:a16="http://schemas.microsoft.com/office/drawing/2014/main" val="10003"/>
                  </a:ext>
                </a:extLst>
              </a:tr>
              <a:tr h="381000">
                <a:tc>
                  <a:txBody>
                    <a:bodyPr/>
                    <a:lstStyle/>
                    <a:p>
                      <a:pPr marL="0" lvl="0" indent="0" algn="ctr" rtl="0">
                        <a:spcBef>
                          <a:spcPts val="0"/>
                        </a:spcBef>
                        <a:spcAft>
                          <a:spcPts val="0"/>
                        </a:spcAft>
                        <a:buNone/>
                      </a:pPr>
                      <a:endParaRPr sz="1800" b="1" dirty="0">
                        <a:solidFill>
                          <a:schemeClr val="dk1"/>
                        </a:solidFill>
                      </a:endParaRPr>
                    </a:p>
                  </a:txBody>
                  <a:tcPr marL="91425" marR="91425" marT="91425" marB="91425">
                    <a:solidFill>
                      <a:srgbClr val="C00000"/>
                    </a:solidFill>
                  </a:tcPr>
                </a:tc>
                <a:extLst>
                  <a:ext uri="{0D108BD9-81ED-4DB2-BD59-A6C34878D82A}">
                    <a16:rowId xmlns:a16="http://schemas.microsoft.com/office/drawing/2014/main" val="10004"/>
                  </a:ext>
                </a:extLst>
              </a:tr>
              <a:tr h="381000">
                <a:tc>
                  <a:txBody>
                    <a:bodyPr/>
                    <a:lstStyle/>
                    <a:p>
                      <a:pPr marL="0" lvl="0" indent="0" algn="ctr" rtl="0">
                        <a:spcBef>
                          <a:spcPts val="0"/>
                        </a:spcBef>
                        <a:spcAft>
                          <a:spcPts val="0"/>
                        </a:spcAft>
                        <a:buNone/>
                      </a:pPr>
                      <a:endParaRPr sz="700" dirty="0">
                        <a:solidFill>
                          <a:schemeClr val="dk1"/>
                        </a:solidFill>
                      </a:endParaRPr>
                    </a:p>
                  </a:txBody>
                  <a:tcPr marL="91425" marR="91425" marT="91425" marB="91425">
                    <a:solidFill>
                      <a:srgbClr val="C00000"/>
                    </a:solidFill>
                  </a:tcPr>
                </a:tc>
                <a:extLst>
                  <a:ext uri="{0D108BD9-81ED-4DB2-BD59-A6C34878D82A}">
                    <a16:rowId xmlns:a16="http://schemas.microsoft.com/office/drawing/2014/main" val="10005"/>
                  </a:ext>
                </a:extLst>
              </a:tr>
              <a:tr h="381000">
                <a:tc>
                  <a:txBody>
                    <a:bodyPr/>
                    <a:lstStyle/>
                    <a:p>
                      <a:pPr marL="0" lvl="0" indent="0" algn="ctr" rtl="0">
                        <a:spcBef>
                          <a:spcPts val="0"/>
                        </a:spcBef>
                        <a:spcAft>
                          <a:spcPts val="0"/>
                        </a:spcAft>
                        <a:buNone/>
                      </a:pPr>
                      <a:endParaRPr sz="1800" b="1" dirty="0">
                        <a:solidFill>
                          <a:schemeClr val="dk1"/>
                        </a:solidFill>
                      </a:endParaRPr>
                    </a:p>
                  </a:txBody>
                  <a:tcPr marL="91425" marR="91425" marT="91425" marB="91425">
                    <a:solidFill>
                      <a:srgbClr val="C00000"/>
                    </a:solidFill>
                  </a:tcPr>
                </a:tc>
                <a:extLst>
                  <a:ext uri="{0D108BD9-81ED-4DB2-BD59-A6C34878D82A}">
                    <a16:rowId xmlns:a16="http://schemas.microsoft.com/office/drawing/2014/main" val="10006"/>
                  </a:ext>
                </a:extLst>
              </a:tr>
              <a:tr h="381000">
                <a:tc>
                  <a:txBody>
                    <a:bodyPr/>
                    <a:lstStyle/>
                    <a:p>
                      <a:pPr marL="0" lvl="0" indent="0" algn="ctr" rtl="0">
                        <a:spcBef>
                          <a:spcPts val="0"/>
                        </a:spcBef>
                        <a:spcAft>
                          <a:spcPts val="0"/>
                        </a:spcAft>
                        <a:buNone/>
                      </a:pPr>
                      <a:endParaRPr sz="1800" b="1" dirty="0">
                        <a:solidFill>
                          <a:schemeClr val="dk1"/>
                        </a:solidFill>
                      </a:endParaRPr>
                    </a:p>
                  </a:txBody>
                  <a:tcPr marL="91425" marR="91425" marT="91425" marB="91425">
                    <a:solidFill>
                      <a:srgbClr val="C00000"/>
                    </a:solidFill>
                  </a:tcPr>
                </a:tc>
                <a:extLst>
                  <a:ext uri="{0D108BD9-81ED-4DB2-BD59-A6C34878D82A}">
                    <a16:rowId xmlns:a16="http://schemas.microsoft.com/office/drawing/2014/main" val="10007"/>
                  </a:ext>
                </a:extLst>
              </a:tr>
            </a:tbl>
          </a:graphicData>
        </a:graphic>
      </p:graphicFrame>
      <p:cxnSp>
        <p:nvCxnSpPr>
          <p:cNvPr id="1195" name="Google Shape;1195;g2950e80dcb7_0_80"/>
          <p:cNvCxnSpPr/>
          <p:nvPr/>
        </p:nvCxnSpPr>
        <p:spPr>
          <a:xfrm>
            <a:off x="2401800" y="4012012"/>
            <a:ext cx="661200" cy="0"/>
          </a:xfrm>
          <a:prstGeom prst="straightConnector1">
            <a:avLst/>
          </a:prstGeom>
          <a:noFill/>
          <a:ln w="28575" cap="flat" cmpd="sng">
            <a:solidFill>
              <a:srgbClr val="FF0000"/>
            </a:solidFill>
            <a:prstDash val="solid"/>
            <a:round/>
            <a:headEnd type="none" w="med" len="med"/>
            <a:tailEnd type="triangle" w="med" len="med"/>
          </a:ln>
        </p:spPr>
      </p:cxnSp>
      <p:sp>
        <p:nvSpPr>
          <p:cNvPr id="2" name="Title 1">
            <a:extLst>
              <a:ext uri="{FF2B5EF4-FFF2-40B4-BE49-F238E27FC236}">
                <a16:creationId xmlns:a16="http://schemas.microsoft.com/office/drawing/2014/main" id="{BEF1B67C-9FCE-873F-12A2-F557946B81D1}"/>
              </a:ext>
            </a:extLst>
          </p:cNvPr>
          <p:cNvSpPr txBox="1">
            <a:spLocks/>
          </p:cNvSpPr>
          <p:nvPr/>
        </p:nvSpPr>
        <p:spPr>
          <a:xfrm>
            <a:off x="646111" y="452718"/>
            <a:ext cx="9404723" cy="1400530"/>
          </a:xfrm>
          <a:prstGeom prst="rect">
            <a:avLst/>
          </a:prstGeom>
          <a:noFill/>
          <a:ln>
            <a:noFill/>
          </a:ln>
        </p:spPr>
        <p:txBody>
          <a:bodyPr spcFirstLastPara="1" vert="horz" wrap="square" lIns="91425" tIns="91425" rIns="91425" bIns="91425" rtlCol="0" anchor="ctr" anchorCtr="0">
            <a:noAutofit/>
          </a:bodyPr>
          <a:lstStyle>
            <a:lvl1pPr lvl="0" algn="l" defTabSz="457200" rtl="0" eaLnBrk="1" latinLnBrk="0" hangingPunct="1">
              <a:lnSpc>
                <a:spcPct val="100000"/>
              </a:lnSpc>
              <a:spcBef>
                <a:spcPts val="0"/>
              </a:spcBef>
              <a:spcAft>
                <a:spcPts val="0"/>
              </a:spcAft>
              <a:buSzPts val="3500"/>
              <a:buNone/>
              <a:defRPr sz="4200" b="0" i="0" kern="1200">
                <a:solidFill>
                  <a:schemeClr val="tx2"/>
                </a:solidFill>
                <a:latin typeface="+mj-lt"/>
                <a:ea typeface="+mj-ea"/>
                <a:cs typeface="+mj-cs"/>
              </a:defRPr>
            </a:lvl1pPr>
            <a:lvl2pPr lvl="1" algn="l" eaLnBrk="1" hangingPunct="1">
              <a:lnSpc>
                <a:spcPct val="100000"/>
              </a:lnSpc>
              <a:spcBef>
                <a:spcPts val="0"/>
              </a:spcBef>
              <a:spcAft>
                <a:spcPts val="0"/>
              </a:spcAft>
              <a:buSzPts val="3500"/>
              <a:buNone/>
              <a:defRPr>
                <a:solidFill>
                  <a:schemeClr val="tx2"/>
                </a:solidFill>
              </a:defRPr>
            </a:lvl2pPr>
            <a:lvl3pPr lvl="2" algn="l" eaLnBrk="1" hangingPunct="1">
              <a:lnSpc>
                <a:spcPct val="100000"/>
              </a:lnSpc>
              <a:spcBef>
                <a:spcPts val="0"/>
              </a:spcBef>
              <a:spcAft>
                <a:spcPts val="0"/>
              </a:spcAft>
              <a:buSzPts val="3500"/>
              <a:buNone/>
              <a:defRPr>
                <a:solidFill>
                  <a:schemeClr val="tx2"/>
                </a:solidFill>
              </a:defRPr>
            </a:lvl3pPr>
            <a:lvl4pPr lvl="3" algn="l" eaLnBrk="1" hangingPunct="1">
              <a:lnSpc>
                <a:spcPct val="100000"/>
              </a:lnSpc>
              <a:spcBef>
                <a:spcPts val="0"/>
              </a:spcBef>
              <a:spcAft>
                <a:spcPts val="0"/>
              </a:spcAft>
              <a:buSzPts val="3500"/>
              <a:buNone/>
              <a:defRPr>
                <a:solidFill>
                  <a:schemeClr val="tx2"/>
                </a:solidFill>
              </a:defRPr>
            </a:lvl4pPr>
            <a:lvl5pPr lvl="4" algn="l" eaLnBrk="1" hangingPunct="1">
              <a:lnSpc>
                <a:spcPct val="100000"/>
              </a:lnSpc>
              <a:spcBef>
                <a:spcPts val="0"/>
              </a:spcBef>
              <a:spcAft>
                <a:spcPts val="0"/>
              </a:spcAft>
              <a:buSzPts val="3500"/>
              <a:buNone/>
              <a:defRPr>
                <a:solidFill>
                  <a:schemeClr val="tx2"/>
                </a:solidFill>
              </a:defRPr>
            </a:lvl5pPr>
            <a:lvl6pPr lvl="5" algn="l" eaLnBrk="1" hangingPunct="1">
              <a:lnSpc>
                <a:spcPct val="100000"/>
              </a:lnSpc>
              <a:spcBef>
                <a:spcPts val="0"/>
              </a:spcBef>
              <a:spcAft>
                <a:spcPts val="0"/>
              </a:spcAft>
              <a:buSzPts val="3500"/>
              <a:buNone/>
              <a:defRPr>
                <a:solidFill>
                  <a:schemeClr val="tx2"/>
                </a:solidFill>
              </a:defRPr>
            </a:lvl6pPr>
            <a:lvl7pPr lvl="6" algn="l" eaLnBrk="1" hangingPunct="1">
              <a:lnSpc>
                <a:spcPct val="100000"/>
              </a:lnSpc>
              <a:spcBef>
                <a:spcPts val="0"/>
              </a:spcBef>
              <a:spcAft>
                <a:spcPts val="0"/>
              </a:spcAft>
              <a:buSzPts val="3500"/>
              <a:buNone/>
              <a:defRPr>
                <a:solidFill>
                  <a:schemeClr val="tx2"/>
                </a:solidFill>
              </a:defRPr>
            </a:lvl7pPr>
            <a:lvl8pPr lvl="7" algn="l" eaLnBrk="1" hangingPunct="1">
              <a:lnSpc>
                <a:spcPct val="100000"/>
              </a:lnSpc>
              <a:spcBef>
                <a:spcPts val="0"/>
              </a:spcBef>
              <a:spcAft>
                <a:spcPts val="0"/>
              </a:spcAft>
              <a:buSzPts val="3500"/>
              <a:buNone/>
              <a:defRPr>
                <a:solidFill>
                  <a:schemeClr val="tx2"/>
                </a:solidFill>
              </a:defRPr>
            </a:lvl8pPr>
            <a:lvl9pPr lvl="8" algn="l" eaLnBrk="1" hangingPunct="1">
              <a:lnSpc>
                <a:spcPct val="100000"/>
              </a:lnSpc>
              <a:spcBef>
                <a:spcPts val="0"/>
              </a:spcBef>
              <a:spcAft>
                <a:spcPts val="0"/>
              </a:spcAft>
              <a:buSzPts val="3500"/>
              <a:buNone/>
              <a:defRPr>
                <a:solidFill>
                  <a:schemeClr val="tx2"/>
                </a:solidFill>
              </a:defRPr>
            </a:lvl9pPr>
          </a:lstStyle>
          <a:p>
            <a:r>
              <a:rPr lang="en-US"/>
              <a:t>Problem 3</a:t>
            </a:r>
            <a:endParaRPr lang="en-US" dirty="0"/>
          </a:p>
        </p:txBody>
      </p:sp>
      <p:sp>
        <p:nvSpPr>
          <p:cNvPr id="3" name="Rectangle 2">
            <a:extLst>
              <a:ext uri="{FF2B5EF4-FFF2-40B4-BE49-F238E27FC236}">
                <a16:creationId xmlns:a16="http://schemas.microsoft.com/office/drawing/2014/main" id="{6748BA8E-AD50-38F1-4DAE-726332475828}"/>
              </a:ext>
            </a:extLst>
          </p:cNvPr>
          <p:cNvSpPr/>
          <p:nvPr/>
        </p:nvSpPr>
        <p:spPr>
          <a:xfrm>
            <a:off x="6165800" y="5723751"/>
            <a:ext cx="2325949" cy="331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Top of Memory</a:t>
            </a:r>
          </a:p>
        </p:txBody>
      </p:sp>
      <p:sp>
        <p:nvSpPr>
          <p:cNvPr id="4" name="Rectangle 3">
            <a:extLst>
              <a:ext uri="{FF2B5EF4-FFF2-40B4-BE49-F238E27FC236}">
                <a16:creationId xmlns:a16="http://schemas.microsoft.com/office/drawing/2014/main" id="{04A768C2-1445-0ACA-E464-9D7EB370AFCA}"/>
              </a:ext>
            </a:extLst>
          </p:cNvPr>
          <p:cNvSpPr/>
          <p:nvPr/>
        </p:nvSpPr>
        <p:spPr>
          <a:xfrm>
            <a:off x="7979625" y="830849"/>
            <a:ext cx="2325949" cy="331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Bottom of Memory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99"/>
        <p:cNvGrpSpPr/>
        <p:nvPr/>
      </p:nvGrpSpPr>
      <p:grpSpPr>
        <a:xfrm>
          <a:off x="0" y="0"/>
          <a:ext cx="0" cy="0"/>
          <a:chOff x="0" y="0"/>
          <a:chExt cx="0" cy="0"/>
        </a:xfrm>
      </p:grpSpPr>
      <p:pic>
        <p:nvPicPr>
          <p:cNvPr id="1201" name="Google Shape;1201;g2950e80dcb7_0_100"/>
          <p:cNvPicPr preferRelativeResize="0"/>
          <p:nvPr/>
        </p:nvPicPr>
        <p:blipFill>
          <a:blip r:embed="rId3">
            <a:alphaModFix/>
          </a:blip>
          <a:stretch>
            <a:fillRect/>
          </a:stretch>
        </p:blipFill>
        <p:spPr>
          <a:xfrm>
            <a:off x="2286002" y="2062352"/>
            <a:ext cx="2497975" cy="3312775"/>
          </a:xfrm>
          <a:prstGeom prst="rect">
            <a:avLst/>
          </a:prstGeom>
          <a:noFill/>
          <a:ln>
            <a:noFill/>
          </a:ln>
        </p:spPr>
      </p:pic>
      <p:sp>
        <p:nvSpPr>
          <p:cNvPr id="1202" name="Google Shape;1202;g2950e80dcb7_0_100"/>
          <p:cNvSpPr txBox="1"/>
          <p:nvPr/>
        </p:nvSpPr>
        <p:spPr>
          <a:xfrm>
            <a:off x="6313325" y="1249850"/>
            <a:ext cx="1868400" cy="514500"/>
          </a:xfrm>
          <a:prstGeom prst="rect">
            <a:avLst/>
          </a:prstGeom>
          <a:noFill/>
          <a:ln>
            <a:noFill/>
          </a:ln>
        </p:spPr>
        <p:txBody>
          <a:bodyPr spcFirstLastPara="1" wrap="square" lIns="91425" tIns="91425" rIns="91425" bIns="91425" anchor="t" anchorCtr="0">
            <a:noAutofit/>
          </a:bodyPr>
          <a:lstStyle/>
          <a:p>
            <a:pPr algn="ctr"/>
            <a:r>
              <a:rPr lang="en" sz="1900">
                <a:solidFill>
                  <a:srgbClr val="00C3B1"/>
                </a:solidFill>
                <a:latin typeface="Didact Gothic"/>
                <a:ea typeface="Didact Gothic"/>
                <a:cs typeface="Didact Gothic"/>
                <a:sym typeface="Didact Gothic"/>
              </a:rPr>
              <a:t>Stack</a:t>
            </a:r>
            <a:endParaRPr sz="1900">
              <a:solidFill>
                <a:srgbClr val="00C3B1"/>
              </a:solidFill>
              <a:latin typeface="Didact Gothic"/>
              <a:ea typeface="Didact Gothic"/>
              <a:cs typeface="Didact Gothic"/>
              <a:sym typeface="Didact Gothic"/>
            </a:endParaRPr>
          </a:p>
        </p:txBody>
      </p:sp>
      <p:sp>
        <p:nvSpPr>
          <p:cNvPr id="1203" name="Google Shape;1203;g2950e80dcb7_0_100"/>
          <p:cNvSpPr txBox="1"/>
          <p:nvPr/>
        </p:nvSpPr>
        <p:spPr>
          <a:xfrm>
            <a:off x="7748450" y="4219700"/>
            <a:ext cx="1280700" cy="378000"/>
          </a:xfrm>
          <a:prstGeom prst="rect">
            <a:avLst/>
          </a:prstGeom>
          <a:noFill/>
          <a:ln>
            <a:noFill/>
          </a:ln>
        </p:spPr>
        <p:txBody>
          <a:bodyPr spcFirstLastPara="1" wrap="square" lIns="91425" tIns="91425" rIns="91425" bIns="91425" anchor="t" anchorCtr="0">
            <a:noAutofit/>
          </a:bodyPr>
          <a:lstStyle/>
          <a:p>
            <a:r>
              <a:rPr lang="en">
                <a:solidFill>
                  <a:schemeClr val="lt1"/>
                </a:solidFill>
                <a:latin typeface="Didact Gothic"/>
                <a:ea typeface="Didact Gothic"/>
                <a:cs typeface="Didact Gothic"/>
                <a:sym typeface="Didact Gothic"/>
              </a:rPr>
              <a:t>SP = 127EH</a:t>
            </a:r>
            <a:endParaRPr>
              <a:solidFill>
                <a:schemeClr val="lt1"/>
              </a:solidFill>
              <a:latin typeface="Didact Gothic"/>
              <a:ea typeface="Didact Gothic"/>
              <a:cs typeface="Didact Gothic"/>
              <a:sym typeface="Didact Gothic"/>
            </a:endParaRPr>
          </a:p>
        </p:txBody>
      </p:sp>
      <p:cxnSp>
        <p:nvCxnSpPr>
          <p:cNvPr id="1204" name="Google Shape;1204;g2950e80dcb7_0_100"/>
          <p:cNvCxnSpPr/>
          <p:nvPr/>
        </p:nvCxnSpPr>
        <p:spPr>
          <a:xfrm>
            <a:off x="7779950" y="4618575"/>
            <a:ext cx="1343700" cy="10500"/>
          </a:xfrm>
          <a:prstGeom prst="straightConnector1">
            <a:avLst/>
          </a:prstGeom>
          <a:noFill/>
          <a:ln w="19050" cap="flat" cmpd="sng">
            <a:solidFill>
              <a:srgbClr val="FF0000"/>
            </a:solidFill>
            <a:prstDash val="solid"/>
            <a:round/>
            <a:headEnd type="none" w="med" len="med"/>
            <a:tailEnd type="triangle" w="med" len="med"/>
          </a:ln>
        </p:spPr>
      </p:cxnSp>
      <p:graphicFrame>
        <p:nvGraphicFramePr>
          <p:cNvPr id="1205" name="Google Shape;1205;g2950e80dcb7_0_100"/>
          <p:cNvGraphicFramePr/>
          <p:nvPr>
            <p:extLst>
              <p:ext uri="{D42A27DB-BD31-4B8C-83A1-F6EECF244321}">
                <p14:modId xmlns:p14="http://schemas.microsoft.com/office/powerpoint/2010/main" val="2093799460"/>
              </p:ext>
            </p:extLst>
          </p:nvPr>
        </p:nvGraphicFramePr>
        <p:xfrm>
          <a:off x="6861075" y="1890125"/>
          <a:ext cx="772900" cy="3657360"/>
        </p:xfrm>
        <a:graphic>
          <a:graphicData uri="http://schemas.openxmlformats.org/drawingml/2006/table">
            <a:tbl>
              <a:tblPr>
                <a:noFill/>
              </a:tblPr>
              <a:tblGrid>
                <a:gridCol w="772900">
                  <a:extLst>
                    <a:ext uri="{9D8B030D-6E8A-4147-A177-3AD203B41FA5}">
                      <a16:colId xmlns:a16="http://schemas.microsoft.com/office/drawing/2014/main" val="20000"/>
                    </a:ext>
                  </a:extLst>
                </a:gridCol>
              </a:tblGrid>
              <a:tr h="381000">
                <a:tc>
                  <a:txBody>
                    <a:bodyPr/>
                    <a:lstStyle/>
                    <a:p>
                      <a:pPr marL="0" lvl="0" indent="0" algn="ctr" rtl="0">
                        <a:spcBef>
                          <a:spcPts val="0"/>
                        </a:spcBef>
                        <a:spcAft>
                          <a:spcPts val="0"/>
                        </a:spcAft>
                        <a:buNone/>
                      </a:pPr>
                      <a:r>
                        <a:rPr lang="en" sz="1800" b="1" dirty="0">
                          <a:solidFill>
                            <a:schemeClr val="lt1"/>
                          </a:solidFill>
                        </a:rPr>
                        <a:t>CL</a:t>
                      </a:r>
                      <a:endParaRPr sz="1800" b="1" dirty="0">
                        <a:solidFill>
                          <a:schemeClr val="lt1"/>
                        </a:solidFill>
                      </a:endParaRPr>
                    </a:p>
                  </a:txBody>
                  <a:tcPr marL="91425" marR="91425" marT="91425" marB="91425">
                    <a:solidFill>
                      <a:srgbClr val="C00000"/>
                    </a:solidFill>
                  </a:tcPr>
                </a:tc>
                <a:extLst>
                  <a:ext uri="{0D108BD9-81ED-4DB2-BD59-A6C34878D82A}">
                    <a16:rowId xmlns:a16="http://schemas.microsoft.com/office/drawing/2014/main" val="10000"/>
                  </a:ext>
                </a:extLst>
              </a:tr>
              <a:tr h="381000">
                <a:tc>
                  <a:txBody>
                    <a:bodyPr/>
                    <a:lstStyle/>
                    <a:p>
                      <a:pPr marL="0" lvl="0" indent="0" algn="ctr" rtl="0">
                        <a:spcBef>
                          <a:spcPts val="0"/>
                        </a:spcBef>
                        <a:spcAft>
                          <a:spcPts val="0"/>
                        </a:spcAft>
                        <a:buNone/>
                      </a:pPr>
                      <a:r>
                        <a:rPr lang="en" sz="1800" b="1" dirty="0">
                          <a:solidFill>
                            <a:schemeClr val="lt1"/>
                          </a:solidFill>
                        </a:rPr>
                        <a:t>CH</a:t>
                      </a:r>
                      <a:endParaRPr sz="1800" b="1" dirty="0">
                        <a:solidFill>
                          <a:schemeClr val="lt1"/>
                        </a:solidFill>
                      </a:endParaRPr>
                    </a:p>
                  </a:txBody>
                  <a:tcPr marL="91425" marR="91425" marT="91425" marB="91425">
                    <a:solidFill>
                      <a:srgbClr val="C00000"/>
                    </a:solidFill>
                  </a:tcPr>
                </a:tc>
                <a:extLst>
                  <a:ext uri="{0D108BD9-81ED-4DB2-BD59-A6C34878D82A}">
                    <a16:rowId xmlns:a16="http://schemas.microsoft.com/office/drawing/2014/main" val="10001"/>
                  </a:ext>
                </a:extLst>
              </a:tr>
              <a:tr h="381000">
                <a:tc>
                  <a:txBody>
                    <a:bodyPr/>
                    <a:lstStyle/>
                    <a:p>
                      <a:pPr marL="0" lvl="0" indent="0" algn="ctr" rtl="0">
                        <a:spcBef>
                          <a:spcPts val="0"/>
                        </a:spcBef>
                        <a:spcAft>
                          <a:spcPts val="0"/>
                        </a:spcAft>
                        <a:buNone/>
                      </a:pPr>
                      <a:r>
                        <a:rPr lang="en" sz="1800" b="1">
                          <a:solidFill>
                            <a:schemeClr val="lt1"/>
                          </a:solidFill>
                        </a:rPr>
                        <a:t>BL</a:t>
                      </a:r>
                      <a:endParaRPr sz="1800" b="1">
                        <a:solidFill>
                          <a:schemeClr val="lt1"/>
                        </a:solidFill>
                      </a:endParaRPr>
                    </a:p>
                  </a:txBody>
                  <a:tcPr marL="91425" marR="91425" marT="91425" marB="91425">
                    <a:solidFill>
                      <a:srgbClr val="C00000"/>
                    </a:solidFill>
                  </a:tcPr>
                </a:tc>
                <a:extLst>
                  <a:ext uri="{0D108BD9-81ED-4DB2-BD59-A6C34878D82A}">
                    <a16:rowId xmlns:a16="http://schemas.microsoft.com/office/drawing/2014/main" val="10002"/>
                  </a:ext>
                </a:extLst>
              </a:tr>
              <a:tr h="381000">
                <a:tc>
                  <a:txBody>
                    <a:bodyPr/>
                    <a:lstStyle/>
                    <a:p>
                      <a:pPr marL="0" lvl="0" indent="0" algn="ctr" rtl="0">
                        <a:spcBef>
                          <a:spcPts val="0"/>
                        </a:spcBef>
                        <a:spcAft>
                          <a:spcPts val="0"/>
                        </a:spcAft>
                        <a:buNone/>
                      </a:pPr>
                      <a:r>
                        <a:rPr lang="en" sz="1800" b="1" dirty="0">
                          <a:solidFill>
                            <a:schemeClr val="lt1"/>
                          </a:solidFill>
                        </a:rPr>
                        <a:t>BH</a:t>
                      </a:r>
                      <a:endParaRPr sz="1800" b="1" dirty="0">
                        <a:solidFill>
                          <a:schemeClr val="lt1"/>
                        </a:solidFill>
                      </a:endParaRPr>
                    </a:p>
                  </a:txBody>
                  <a:tcPr marL="91425" marR="91425" marT="91425" marB="91425">
                    <a:solidFill>
                      <a:srgbClr val="C00000"/>
                    </a:solidFill>
                  </a:tcPr>
                </a:tc>
                <a:extLst>
                  <a:ext uri="{0D108BD9-81ED-4DB2-BD59-A6C34878D82A}">
                    <a16:rowId xmlns:a16="http://schemas.microsoft.com/office/drawing/2014/main" val="10003"/>
                  </a:ext>
                </a:extLst>
              </a:tr>
              <a:tr h="381000">
                <a:tc>
                  <a:txBody>
                    <a:bodyPr/>
                    <a:lstStyle/>
                    <a:p>
                      <a:pPr marL="0" lvl="0" indent="0" algn="ctr" rtl="0">
                        <a:spcBef>
                          <a:spcPts val="0"/>
                        </a:spcBef>
                        <a:spcAft>
                          <a:spcPts val="0"/>
                        </a:spcAft>
                        <a:buNone/>
                      </a:pPr>
                      <a:r>
                        <a:rPr lang="en" sz="1800" b="1">
                          <a:solidFill>
                            <a:schemeClr val="lt1"/>
                          </a:solidFill>
                        </a:rPr>
                        <a:t>AL</a:t>
                      </a:r>
                      <a:endParaRPr sz="1800" b="1">
                        <a:solidFill>
                          <a:schemeClr val="lt1"/>
                        </a:solidFill>
                      </a:endParaRPr>
                    </a:p>
                  </a:txBody>
                  <a:tcPr marL="91425" marR="91425" marT="91425" marB="91425">
                    <a:solidFill>
                      <a:srgbClr val="C00000"/>
                    </a:solidFill>
                  </a:tcPr>
                </a:tc>
                <a:extLst>
                  <a:ext uri="{0D108BD9-81ED-4DB2-BD59-A6C34878D82A}">
                    <a16:rowId xmlns:a16="http://schemas.microsoft.com/office/drawing/2014/main" val="10004"/>
                  </a:ext>
                </a:extLst>
              </a:tr>
              <a:tr h="381000">
                <a:tc>
                  <a:txBody>
                    <a:bodyPr/>
                    <a:lstStyle/>
                    <a:p>
                      <a:pPr marL="0" lvl="0" indent="0" algn="ctr" rtl="0">
                        <a:spcBef>
                          <a:spcPts val="0"/>
                        </a:spcBef>
                        <a:spcAft>
                          <a:spcPts val="0"/>
                        </a:spcAft>
                        <a:buNone/>
                      </a:pPr>
                      <a:r>
                        <a:rPr lang="en" sz="1800" b="1" dirty="0">
                          <a:solidFill>
                            <a:schemeClr val="lt1"/>
                          </a:solidFill>
                        </a:rPr>
                        <a:t>AH</a:t>
                      </a:r>
                      <a:endParaRPr sz="1800" b="1" dirty="0">
                        <a:solidFill>
                          <a:schemeClr val="lt1"/>
                        </a:solidFill>
                      </a:endParaRPr>
                    </a:p>
                  </a:txBody>
                  <a:tcPr marL="91425" marR="91425" marT="91425" marB="91425">
                    <a:solidFill>
                      <a:srgbClr val="C00000"/>
                    </a:solidFill>
                  </a:tcPr>
                </a:tc>
                <a:extLst>
                  <a:ext uri="{0D108BD9-81ED-4DB2-BD59-A6C34878D82A}">
                    <a16:rowId xmlns:a16="http://schemas.microsoft.com/office/drawing/2014/main" val="10005"/>
                  </a:ext>
                </a:extLst>
              </a:tr>
              <a:tr h="381000">
                <a:tc>
                  <a:txBody>
                    <a:bodyPr/>
                    <a:lstStyle/>
                    <a:p>
                      <a:pPr marL="0" lvl="0" indent="0" algn="ctr" rtl="0">
                        <a:spcBef>
                          <a:spcPts val="0"/>
                        </a:spcBef>
                        <a:spcAft>
                          <a:spcPts val="0"/>
                        </a:spcAft>
                        <a:buNone/>
                      </a:pPr>
                      <a:r>
                        <a:rPr lang="en" sz="1800" b="1" dirty="0">
                          <a:solidFill>
                            <a:schemeClr val="lt1"/>
                          </a:solidFill>
                        </a:rPr>
                        <a:t>53</a:t>
                      </a:r>
                      <a:endParaRPr sz="1800" b="1" dirty="0">
                        <a:solidFill>
                          <a:schemeClr val="lt1"/>
                        </a:solidFill>
                      </a:endParaRPr>
                    </a:p>
                  </a:txBody>
                  <a:tcPr marL="91425" marR="91425" marT="91425" marB="91425">
                    <a:solidFill>
                      <a:srgbClr val="C00000"/>
                    </a:solidFill>
                  </a:tcPr>
                </a:tc>
                <a:extLst>
                  <a:ext uri="{0D108BD9-81ED-4DB2-BD59-A6C34878D82A}">
                    <a16:rowId xmlns:a16="http://schemas.microsoft.com/office/drawing/2014/main" val="10006"/>
                  </a:ext>
                </a:extLst>
              </a:tr>
              <a:tr h="381000">
                <a:tc>
                  <a:txBody>
                    <a:bodyPr/>
                    <a:lstStyle/>
                    <a:p>
                      <a:pPr marL="0" lvl="0" indent="0" algn="ctr" rtl="0">
                        <a:spcBef>
                          <a:spcPts val="0"/>
                        </a:spcBef>
                        <a:spcAft>
                          <a:spcPts val="0"/>
                        </a:spcAft>
                        <a:buNone/>
                      </a:pPr>
                      <a:r>
                        <a:rPr lang="en" sz="1800" b="1" dirty="0">
                          <a:solidFill>
                            <a:schemeClr val="lt1"/>
                          </a:solidFill>
                        </a:rPr>
                        <a:t>04</a:t>
                      </a:r>
                      <a:endParaRPr sz="1800" b="1" dirty="0">
                        <a:solidFill>
                          <a:schemeClr val="lt1"/>
                        </a:solidFill>
                      </a:endParaRPr>
                    </a:p>
                  </a:txBody>
                  <a:tcPr marL="91425" marR="91425" marT="91425" marB="91425">
                    <a:solidFill>
                      <a:srgbClr val="C00000"/>
                    </a:solidFill>
                  </a:tcPr>
                </a:tc>
                <a:extLst>
                  <a:ext uri="{0D108BD9-81ED-4DB2-BD59-A6C34878D82A}">
                    <a16:rowId xmlns:a16="http://schemas.microsoft.com/office/drawing/2014/main" val="10007"/>
                  </a:ext>
                </a:extLst>
              </a:tr>
            </a:tbl>
          </a:graphicData>
        </a:graphic>
      </p:graphicFrame>
      <p:sp>
        <p:nvSpPr>
          <p:cNvPr id="1206" name="Google Shape;1206;g2950e80dcb7_0_100"/>
          <p:cNvSpPr txBox="1"/>
          <p:nvPr/>
        </p:nvSpPr>
        <p:spPr>
          <a:xfrm>
            <a:off x="8594850" y="1249850"/>
            <a:ext cx="1868400" cy="514500"/>
          </a:xfrm>
          <a:prstGeom prst="rect">
            <a:avLst/>
          </a:prstGeom>
          <a:noFill/>
          <a:ln>
            <a:noFill/>
          </a:ln>
        </p:spPr>
        <p:txBody>
          <a:bodyPr spcFirstLastPara="1" wrap="square" lIns="91425" tIns="91425" rIns="91425" bIns="91425" anchor="t" anchorCtr="0">
            <a:noAutofit/>
          </a:bodyPr>
          <a:lstStyle/>
          <a:p>
            <a:pPr algn="ctr"/>
            <a:r>
              <a:rPr lang="en" sz="1900">
                <a:solidFill>
                  <a:srgbClr val="00C3B1"/>
                </a:solidFill>
                <a:latin typeface="Didact Gothic"/>
                <a:ea typeface="Didact Gothic"/>
                <a:cs typeface="Didact Gothic"/>
                <a:sym typeface="Didact Gothic"/>
              </a:rPr>
              <a:t>Stack cont.</a:t>
            </a:r>
            <a:endParaRPr sz="1900">
              <a:solidFill>
                <a:srgbClr val="00C3B1"/>
              </a:solidFill>
              <a:latin typeface="Didact Gothic"/>
              <a:ea typeface="Didact Gothic"/>
              <a:cs typeface="Didact Gothic"/>
              <a:sym typeface="Didact Gothic"/>
            </a:endParaRPr>
          </a:p>
        </p:txBody>
      </p:sp>
      <p:graphicFrame>
        <p:nvGraphicFramePr>
          <p:cNvPr id="1207" name="Google Shape;1207;g2950e80dcb7_0_100"/>
          <p:cNvGraphicFramePr/>
          <p:nvPr>
            <p:extLst>
              <p:ext uri="{D42A27DB-BD31-4B8C-83A1-F6EECF244321}">
                <p14:modId xmlns:p14="http://schemas.microsoft.com/office/powerpoint/2010/main" val="382070028"/>
              </p:ext>
            </p:extLst>
          </p:nvPr>
        </p:nvGraphicFramePr>
        <p:xfrm>
          <a:off x="9142600" y="1890138"/>
          <a:ext cx="917700" cy="3581190"/>
        </p:xfrm>
        <a:graphic>
          <a:graphicData uri="http://schemas.openxmlformats.org/drawingml/2006/table">
            <a:tbl>
              <a:tblPr>
                <a:noFill/>
              </a:tblPr>
              <a:tblGrid>
                <a:gridCol w="917700">
                  <a:extLst>
                    <a:ext uri="{9D8B030D-6E8A-4147-A177-3AD203B41FA5}">
                      <a16:colId xmlns:a16="http://schemas.microsoft.com/office/drawing/2014/main" val="20000"/>
                    </a:ext>
                  </a:extLst>
                </a:gridCol>
              </a:tblGrid>
              <a:tr h="381000">
                <a:tc>
                  <a:txBody>
                    <a:bodyPr/>
                    <a:lstStyle/>
                    <a:p>
                      <a:pPr marL="0" lvl="0" indent="0" algn="ctr" rtl="0">
                        <a:spcBef>
                          <a:spcPts val="0"/>
                        </a:spcBef>
                        <a:spcAft>
                          <a:spcPts val="0"/>
                        </a:spcAft>
                        <a:buNone/>
                      </a:pPr>
                      <a:endParaRPr sz="1800" b="1" dirty="0">
                        <a:solidFill>
                          <a:schemeClr val="dk1"/>
                        </a:solidFill>
                      </a:endParaRPr>
                    </a:p>
                  </a:txBody>
                  <a:tcPr marL="91425" marR="91425" marT="91425" marB="91425">
                    <a:solidFill>
                      <a:srgbClr val="C00000"/>
                    </a:solidFill>
                  </a:tcPr>
                </a:tc>
                <a:extLst>
                  <a:ext uri="{0D108BD9-81ED-4DB2-BD59-A6C34878D82A}">
                    <a16:rowId xmlns:a16="http://schemas.microsoft.com/office/drawing/2014/main" val="10000"/>
                  </a:ext>
                </a:extLst>
              </a:tr>
              <a:tr h="381000">
                <a:tc>
                  <a:txBody>
                    <a:bodyPr/>
                    <a:lstStyle/>
                    <a:p>
                      <a:pPr marL="0" lvl="0" indent="0" algn="ctr" rtl="0">
                        <a:spcBef>
                          <a:spcPts val="0"/>
                        </a:spcBef>
                        <a:spcAft>
                          <a:spcPts val="0"/>
                        </a:spcAft>
                        <a:buNone/>
                      </a:pPr>
                      <a:endParaRPr sz="1800" b="1" dirty="0">
                        <a:solidFill>
                          <a:schemeClr val="dk1"/>
                        </a:solidFill>
                      </a:endParaRPr>
                    </a:p>
                  </a:txBody>
                  <a:tcPr marL="91425" marR="91425" marT="91425" marB="91425">
                    <a:solidFill>
                      <a:srgbClr val="C00000"/>
                    </a:solidFill>
                  </a:tcPr>
                </a:tc>
                <a:extLst>
                  <a:ext uri="{0D108BD9-81ED-4DB2-BD59-A6C34878D82A}">
                    <a16:rowId xmlns:a16="http://schemas.microsoft.com/office/drawing/2014/main" val="10001"/>
                  </a:ext>
                </a:extLst>
              </a:tr>
              <a:tr h="381000">
                <a:tc>
                  <a:txBody>
                    <a:bodyPr/>
                    <a:lstStyle/>
                    <a:p>
                      <a:pPr marL="0" lvl="0" indent="0" algn="ctr" rtl="0">
                        <a:spcBef>
                          <a:spcPts val="0"/>
                        </a:spcBef>
                        <a:spcAft>
                          <a:spcPts val="0"/>
                        </a:spcAft>
                        <a:buNone/>
                      </a:pPr>
                      <a:endParaRPr sz="1800" b="1">
                        <a:solidFill>
                          <a:schemeClr val="dk1"/>
                        </a:solidFill>
                      </a:endParaRPr>
                    </a:p>
                  </a:txBody>
                  <a:tcPr marL="91425" marR="91425" marT="91425" marB="91425">
                    <a:solidFill>
                      <a:srgbClr val="C00000"/>
                    </a:solidFill>
                  </a:tcPr>
                </a:tc>
                <a:extLst>
                  <a:ext uri="{0D108BD9-81ED-4DB2-BD59-A6C34878D82A}">
                    <a16:rowId xmlns:a16="http://schemas.microsoft.com/office/drawing/2014/main" val="10002"/>
                  </a:ext>
                </a:extLst>
              </a:tr>
              <a:tr h="381000">
                <a:tc>
                  <a:txBody>
                    <a:bodyPr/>
                    <a:lstStyle/>
                    <a:p>
                      <a:pPr marL="0" lvl="0" indent="0" algn="ctr" rtl="0">
                        <a:spcBef>
                          <a:spcPts val="0"/>
                        </a:spcBef>
                        <a:spcAft>
                          <a:spcPts val="0"/>
                        </a:spcAft>
                        <a:buNone/>
                      </a:pPr>
                      <a:endParaRPr sz="1800" b="1" dirty="0">
                        <a:solidFill>
                          <a:schemeClr val="dk1"/>
                        </a:solidFill>
                      </a:endParaRPr>
                    </a:p>
                  </a:txBody>
                  <a:tcPr marL="91425" marR="91425" marT="91425" marB="91425">
                    <a:solidFill>
                      <a:srgbClr val="C00000"/>
                    </a:solidFill>
                  </a:tcPr>
                </a:tc>
                <a:extLst>
                  <a:ext uri="{0D108BD9-81ED-4DB2-BD59-A6C34878D82A}">
                    <a16:rowId xmlns:a16="http://schemas.microsoft.com/office/drawing/2014/main" val="10003"/>
                  </a:ext>
                </a:extLst>
              </a:tr>
              <a:tr h="381000">
                <a:tc>
                  <a:txBody>
                    <a:bodyPr/>
                    <a:lstStyle/>
                    <a:p>
                      <a:pPr marL="0" lvl="0" indent="0" algn="ctr" rtl="0">
                        <a:spcBef>
                          <a:spcPts val="0"/>
                        </a:spcBef>
                        <a:spcAft>
                          <a:spcPts val="0"/>
                        </a:spcAft>
                        <a:buNone/>
                      </a:pPr>
                      <a:endParaRPr sz="1800" b="1" dirty="0">
                        <a:solidFill>
                          <a:schemeClr val="dk1"/>
                        </a:solidFill>
                      </a:endParaRPr>
                    </a:p>
                  </a:txBody>
                  <a:tcPr marL="91425" marR="91425" marT="91425" marB="91425">
                    <a:solidFill>
                      <a:srgbClr val="C00000"/>
                    </a:solidFill>
                  </a:tcPr>
                </a:tc>
                <a:extLst>
                  <a:ext uri="{0D108BD9-81ED-4DB2-BD59-A6C34878D82A}">
                    <a16:rowId xmlns:a16="http://schemas.microsoft.com/office/drawing/2014/main" val="10004"/>
                  </a:ext>
                </a:extLst>
              </a:tr>
              <a:tr h="381000">
                <a:tc>
                  <a:txBody>
                    <a:bodyPr/>
                    <a:lstStyle/>
                    <a:p>
                      <a:pPr marL="0" lvl="0" indent="0" algn="ctr" rtl="0">
                        <a:spcBef>
                          <a:spcPts val="0"/>
                        </a:spcBef>
                        <a:spcAft>
                          <a:spcPts val="0"/>
                        </a:spcAft>
                        <a:buNone/>
                      </a:pPr>
                      <a:endParaRPr sz="700" dirty="0">
                        <a:solidFill>
                          <a:schemeClr val="dk1"/>
                        </a:solidFill>
                      </a:endParaRPr>
                    </a:p>
                  </a:txBody>
                  <a:tcPr marL="91425" marR="91425" marT="91425" marB="91425">
                    <a:solidFill>
                      <a:srgbClr val="C00000"/>
                    </a:solidFill>
                  </a:tcPr>
                </a:tc>
                <a:extLst>
                  <a:ext uri="{0D108BD9-81ED-4DB2-BD59-A6C34878D82A}">
                    <a16:rowId xmlns:a16="http://schemas.microsoft.com/office/drawing/2014/main" val="10005"/>
                  </a:ext>
                </a:extLst>
              </a:tr>
              <a:tr h="381000">
                <a:tc>
                  <a:txBody>
                    <a:bodyPr/>
                    <a:lstStyle/>
                    <a:p>
                      <a:pPr marL="0" lvl="0" indent="0" algn="ctr" rtl="0">
                        <a:spcBef>
                          <a:spcPts val="0"/>
                        </a:spcBef>
                        <a:spcAft>
                          <a:spcPts val="0"/>
                        </a:spcAft>
                        <a:buNone/>
                      </a:pPr>
                      <a:r>
                        <a:rPr lang="en" sz="1800" b="1" dirty="0">
                          <a:solidFill>
                            <a:schemeClr val="lt1"/>
                          </a:solidFill>
                        </a:rPr>
                        <a:t>DL</a:t>
                      </a:r>
                      <a:endParaRPr sz="1800" b="1" dirty="0">
                        <a:solidFill>
                          <a:schemeClr val="lt1"/>
                        </a:solidFill>
                      </a:endParaRPr>
                    </a:p>
                  </a:txBody>
                  <a:tcPr marL="91425" marR="91425" marT="91425" marB="91425">
                    <a:solidFill>
                      <a:srgbClr val="C00000"/>
                    </a:solidFill>
                  </a:tcPr>
                </a:tc>
                <a:extLst>
                  <a:ext uri="{0D108BD9-81ED-4DB2-BD59-A6C34878D82A}">
                    <a16:rowId xmlns:a16="http://schemas.microsoft.com/office/drawing/2014/main" val="10006"/>
                  </a:ext>
                </a:extLst>
              </a:tr>
              <a:tr h="381000">
                <a:tc>
                  <a:txBody>
                    <a:bodyPr/>
                    <a:lstStyle/>
                    <a:p>
                      <a:pPr marL="0" lvl="0" indent="0" algn="ctr" rtl="0">
                        <a:spcBef>
                          <a:spcPts val="0"/>
                        </a:spcBef>
                        <a:spcAft>
                          <a:spcPts val="0"/>
                        </a:spcAft>
                        <a:buNone/>
                      </a:pPr>
                      <a:r>
                        <a:rPr lang="en" sz="1800" b="1" dirty="0">
                          <a:solidFill>
                            <a:schemeClr val="lt1"/>
                          </a:solidFill>
                        </a:rPr>
                        <a:t>DH</a:t>
                      </a:r>
                      <a:endParaRPr sz="1800" b="1" dirty="0">
                        <a:solidFill>
                          <a:schemeClr val="lt1"/>
                        </a:solidFill>
                      </a:endParaRPr>
                    </a:p>
                  </a:txBody>
                  <a:tcPr marL="91425" marR="91425" marT="91425" marB="91425">
                    <a:solidFill>
                      <a:srgbClr val="C00000"/>
                    </a:solidFill>
                  </a:tcPr>
                </a:tc>
                <a:extLst>
                  <a:ext uri="{0D108BD9-81ED-4DB2-BD59-A6C34878D82A}">
                    <a16:rowId xmlns:a16="http://schemas.microsoft.com/office/drawing/2014/main" val="10007"/>
                  </a:ext>
                </a:extLst>
              </a:tr>
            </a:tbl>
          </a:graphicData>
        </a:graphic>
      </p:graphicFrame>
      <p:cxnSp>
        <p:nvCxnSpPr>
          <p:cNvPr id="1208" name="Google Shape;1208;g2950e80dcb7_0_100"/>
          <p:cNvCxnSpPr/>
          <p:nvPr/>
        </p:nvCxnSpPr>
        <p:spPr>
          <a:xfrm>
            <a:off x="2401800" y="4258541"/>
            <a:ext cx="661200" cy="0"/>
          </a:xfrm>
          <a:prstGeom prst="straightConnector1">
            <a:avLst/>
          </a:prstGeom>
          <a:noFill/>
          <a:ln w="28575" cap="flat" cmpd="sng">
            <a:solidFill>
              <a:srgbClr val="FF0000"/>
            </a:solidFill>
            <a:prstDash val="solid"/>
            <a:round/>
            <a:headEnd type="none" w="med" len="med"/>
            <a:tailEnd type="triangle" w="med" len="med"/>
          </a:ln>
        </p:spPr>
      </p:cxnSp>
      <p:sp>
        <p:nvSpPr>
          <p:cNvPr id="2" name="Title 1">
            <a:extLst>
              <a:ext uri="{FF2B5EF4-FFF2-40B4-BE49-F238E27FC236}">
                <a16:creationId xmlns:a16="http://schemas.microsoft.com/office/drawing/2014/main" id="{81E12D02-694E-6432-704F-D64781CF25AC}"/>
              </a:ext>
            </a:extLst>
          </p:cNvPr>
          <p:cNvSpPr txBox="1">
            <a:spLocks/>
          </p:cNvSpPr>
          <p:nvPr/>
        </p:nvSpPr>
        <p:spPr>
          <a:xfrm>
            <a:off x="646111" y="452718"/>
            <a:ext cx="9404723" cy="1400530"/>
          </a:xfrm>
          <a:prstGeom prst="rect">
            <a:avLst/>
          </a:prstGeom>
          <a:noFill/>
          <a:ln>
            <a:noFill/>
          </a:ln>
        </p:spPr>
        <p:txBody>
          <a:bodyPr spcFirstLastPara="1" vert="horz" wrap="square" lIns="91425" tIns="91425" rIns="91425" bIns="91425" rtlCol="0" anchor="ctr" anchorCtr="0">
            <a:noAutofit/>
          </a:bodyPr>
          <a:lstStyle>
            <a:lvl1pPr lvl="0" algn="l" defTabSz="457200" rtl="0" eaLnBrk="1" latinLnBrk="0" hangingPunct="1">
              <a:lnSpc>
                <a:spcPct val="100000"/>
              </a:lnSpc>
              <a:spcBef>
                <a:spcPts val="0"/>
              </a:spcBef>
              <a:spcAft>
                <a:spcPts val="0"/>
              </a:spcAft>
              <a:buSzPts val="3500"/>
              <a:buNone/>
              <a:defRPr sz="4200" b="0" i="0" kern="1200">
                <a:solidFill>
                  <a:schemeClr val="tx2"/>
                </a:solidFill>
                <a:latin typeface="+mj-lt"/>
                <a:ea typeface="+mj-ea"/>
                <a:cs typeface="+mj-cs"/>
              </a:defRPr>
            </a:lvl1pPr>
            <a:lvl2pPr lvl="1" algn="l" eaLnBrk="1" hangingPunct="1">
              <a:lnSpc>
                <a:spcPct val="100000"/>
              </a:lnSpc>
              <a:spcBef>
                <a:spcPts val="0"/>
              </a:spcBef>
              <a:spcAft>
                <a:spcPts val="0"/>
              </a:spcAft>
              <a:buSzPts val="3500"/>
              <a:buNone/>
              <a:defRPr>
                <a:solidFill>
                  <a:schemeClr val="tx2"/>
                </a:solidFill>
              </a:defRPr>
            </a:lvl2pPr>
            <a:lvl3pPr lvl="2" algn="l" eaLnBrk="1" hangingPunct="1">
              <a:lnSpc>
                <a:spcPct val="100000"/>
              </a:lnSpc>
              <a:spcBef>
                <a:spcPts val="0"/>
              </a:spcBef>
              <a:spcAft>
                <a:spcPts val="0"/>
              </a:spcAft>
              <a:buSzPts val="3500"/>
              <a:buNone/>
              <a:defRPr>
                <a:solidFill>
                  <a:schemeClr val="tx2"/>
                </a:solidFill>
              </a:defRPr>
            </a:lvl3pPr>
            <a:lvl4pPr lvl="3" algn="l" eaLnBrk="1" hangingPunct="1">
              <a:lnSpc>
                <a:spcPct val="100000"/>
              </a:lnSpc>
              <a:spcBef>
                <a:spcPts val="0"/>
              </a:spcBef>
              <a:spcAft>
                <a:spcPts val="0"/>
              </a:spcAft>
              <a:buSzPts val="3500"/>
              <a:buNone/>
              <a:defRPr>
                <a:solidFill>
                  <a:schemeClr val="tx2"/>
                </a:solidFill>
              </a:defRPr>
            </a:lvl4pPr>
            <a:lvl5pPr lvl="4" algn="l" eaLnBrk="1" hangingPunct="1">
              <a:lnSpc>
                <a:spcPct val="100000"/>
              </a:lnSpc>
              <a:spcBef>
                <a:spcPts val="0"/>
              </a:spcBef>
              <a:spcAft>
                <a:spcPts val="0"/>
              </a:spcAft>
              <a:buSzPts val="3500"/>
              <a:buNone/>
              <a:defRPr>
                <a:solidFill>
                  <a:schemeClr val="tx2"/>
                </a:solidFill>
              </a:defRPr>
            </a:lvl5pPr>
            <a:lvl6pPr lvl="5" algn="l" eaLnBrk="1" hangingPunct="1">
              <a:lnSpc>
                <a:spcPct val="100000"/>
              </a:lnSpc>
              <a:spcBef>
                <a:spcPts val="0"/>
              </a:spcBef>
              <a:spcAft>
                <a:spcPts val="0"/>
              </a:spcAft>
              <a:buSzPts val="3500"/>
              <a:buNone/>
              <a:defRPr>
                <a:solidFill>
                  <a:schemeClr val="tx2"/>
                </a:solidFill>
              </a:defRPr>
            </a:lvl6pPr>
            <a:lvl7pPr lvl="6" algn="l" eaLnBrk="1" hangingPunct="1">
              <a:lnSpc>
                <a:spcPct val="100000"/>
              </a:lnSpc>
              <a:spcBef>
                <a:spcPts val="0"/>
              </a:spcBef>
              <a:spcAft>
                <a:spcPts val="0"/>
              </a:spcAft>
              <a:buSzPts val="3500"/>
              <a:buNone/>
              <a:defRPr>
                <a:solidFill>
                  <a:schemeClr val="tx2"/>
                </a:solidFill>
              </a:defRPr>
            </a:lvl7pPr>
            <a:lvl8pPr lvl="7" algn="l" eaLnBrk="1" hangingPunct="1">
              <a:lnSpc>
                <a:spcPct val="100000"/>
              </a:lnSpc>
              <a:spcBef>
                <a:spcPts val="0"/>
              </a:spcBef>
              <a:spcAft>
                <a:spcPts val="0"/>
              </a:spcAft>
              <a:buSzPts val="3500"/>
              <a:buNone/>
              <a:defRPr>
                <a:solidFill>
                  <a:schemeClr val="tx2"/>
                </a:solidFill>
              </a:defRPr>
            </a:lvl8pPr>
            <a:lvl9pPr lvl="8" algn="l" eaLnBrk="1" hangingPunct="1">
              <a:lnSpc>
                <a:spcPct val="100000"/>
              </a:lnSpc>
              <a:spcBef>
                <a:spcPts val="0"/>
              </a:spcBef>
              <a:spcAft>
                <a:spcPts val="0"/>
              </a:spcAft>
              <a:buSzPts val="3500"/>
              <a:buNone/>
              <a:defRPr>
                <a:solidFill>
                  <a:schemeClr val="tx2"/>
                </a:solidFill>
              </a:defRPr>
            </a:lvl9pPr>
          </a:lstStyle>
          <a:p>
            <a:r>
              <a:rPr lang="en-US"/>
              <a:t>Problem 3</a:t>
            </a:r>
            <a:endParaRPr lang="en-US" dirty="0"/>
          </a:p>
        </p:txBody>
      </p:sp>
      <p:sp>
        <p:nvSpPr>
          <p:cNvPr id="3" name="Rectangle 2">
            <a:extLst>
              <a:ext uri="{FF2B5EF4-FFF2-40B4-BE49-F238E27FC236}">
                <a16:creationId xmlns:a16="http://schemas.microsoft.com/office/drawing/2014/main" id="{4C9325DA-75BA-2264-AE61-5C05560DF773}"/>
              </a:ext>
            </a:extLst>
          </p:cNvPr>
          <p:cNvSpPr/>
          <p:nvPr/>
        </p:nvSpPr>
        <p:spPr>
          <a:xfrm>
            <a:off x="6165800" y="5723751"/>
            <a:ext cx="2325949" cy="331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Top of Memory</a:t>
            </a:r>
          </a:p>
        </p:txBody>
      </p:sp>
      <p:sp>
        <p:nvSpPr>
          <p:cNvPr id="4" name="Rectangle 3">
            <a:extLst>
              <a:ext uri="{FF2B5EF4-FFF2-40B4-BE49-F238E27FC236}">
                <a16:creationId xmlns:a16="http://schemas.microsoft.com/office/drawing/2014/main" id="{06355969-1796-B27E-69C4-BCF4DAB557F1}"/>
              </a:ext>
            </a:extLst>
          </p:cNvPr>
          <p:cNvSpPr/>
          <p:nvPr/>
        </p:nvSpPr>
        <p:spPr>
          <a:xfrm>
            <a:off x="7979625" y="830849"/>
            <a:ext cx="2325949" cy="331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Bottom of Memory</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212"/>
        <p:cNvGrpSpPr/>
        <p:nvPr/>
      </p:nvGrpSpPr>
      <p:grpSpPr>
        <a:xfrm>
          <a:off x="0" y="0"/>
          <a:ext cx="0" cy="0"/>
          <a:chOff x="0" y="0"/>
          <a:chExt cx="0" cy="0"/>
        </a:xfrm>
      </p:grpSpPr>
      <p:pic>
        <p:nvPicPr>
          <p:cNvPr id="1214" name="Google Shape;1214;g2950e80dcb7_0_112"/>
          <p:cNvPicPr preferRelativeResize="0"/>
          <p:nvPr/>
        </p:nvPicPr>
        <p:blipFill>
          <a:blip r:embed="rId3">
            <a:alphaModFix/>
          </a:blip>
          <a:stretch>
            <a:fillRect/>
          </a:stretch>
        </p:blipFill>
        <p:spPr>
          <a:xfrm>
            <a:off x="2286002" y="2062352"/>
            <a:ext cx="2497975" cy="3312775"/>
          </a:xfrm>
          <a:prstGeom prst="rect">
            <a:avLst/>
          </a:prstGeom>
          <a:noFill/>
          <a:ln>
            <a:noFill/>
          </a:ln>
        </p:spPr>
      </p:pic>
      <p:sp>
        <p:nvSpPr>
          <p:cNvPr id="1215" name="Google Shape;1215;g2950e80dcb7_0_112"/>
          <p:cNvSpPr txBox="1"/>
          <p:nvPr/>
        </p:nvSpPr>
        <p:spPr>
          <a:xfrm>
            <a:off x="6313325" y="1249850"/>
            <a:ext cx="1868400" cy="514500"/>
          </a:xfrm>
          <a:prstGeom prst="rect">
            <a:avLst/>
          </a:prstGeom>
          <a:noFill/>
          <a:ln>
            <a:noFill/>
          </a:ln>
        </p:spPr>
        <p:txBody>
          <a:bodyPr spcFirstLastPara="1" wrap="square" lIns="91425" tIns="91425" rIns="91425" bIns="91425" anchor="t" anchorCtr="0">
            <a:noAutofit/>
          </a:bodyPr>
          <a:lstStyle/>
          <a:p>
            <a:pPr algn="ctr"/>
            <a:r>
              <a:rPr lang="en" sz="1900">
                <a:solidFill>
                  <a:srgbClr val="00C3B1"/>
                </a:solidFill>
                <a:latin typeface="Didact Gothic"/>
                <a:ea typeface="Didact Gothic"/>
                <a:cs typeface="Didact Gothic"/>
                <a:sym typeface="Didact Gothic"/>
              </a:rPr>
              <a:t>Stack</a:t>
            </a:r>
            <a:endParaRPr sz="1900">
              <a:solidFill>
                <a:srgbClr val="00C3B1"/>
              </a:solidFill>
              <a:latin typeface="Didact Gothic"/>
              <a:ea typeface="Didact Gothic"/>
              <a:cs typeface="Didact Gothic"/>
              <a:sym typeface="Didact Gothic"/>
            </a:endParaRPr>
          </a:p>
        </p:txBody>
      </p:sp>
      <p:sp>
        <p:nvSpPr>
          <p:cNvPr id="1216" name="Google Shape;1216;g2950e80dcb7_0_112"/>
          <p:cNvSpPr txBox="1"/>
          <p:nvPr/>
        </p:nvSpPr>
        <p:spPr>
          <a:xfrm>
            <a:off x="7748450" y="3305300"/>
            <a:ext cx="1280700" cy="378000"/>
          </a:xfrm>
          <a:prstGeom prst="rect">
            <a:avLst/>
          </a:prstGeom>
          <a:noFill/>
          <a:ln>
            <a:noFill/>
          </a:ln>
        </p:spPr>
        <p:txBody>
          <a:bodyPr spcFirstLastPara="1" wrap="square" lIns="91425" tIns="91425" rIns="91425" bIns="91425" anchor="t" anchorCtr="0">
            <a:noAutofit/>
          </a:bodyPr>
          <a:lstStyle/>
          <a:p>
            <a:r>
              <a:rPr lang="en">
                <a:solidFill>
                  <a:schemeClr val="lt1"/>
                </a:solidFill>
                <a:latin typeface="Didact Gothic"/>
                <a:ea typeface="Didact Gothic"/>
                <a:cs typeface="Didact Gothic"/>
                <a:sym typeface="Didact Gothic"/>
              </a:rPr>
              <a:t>SP = 127CH</a:t>
            </a:r>
            <a:endParaRPr>
              <a:solidFill>
                <a:schemeClr val="lt1"/>
              </a:solidFill>
              <a:latin typeface="Didact Gothic"/>
              <a:ea typeface="Didact Gothic"/>
              <a:cs typeface="Didact Gothic"/>
              <a:sym typeface="Didact Gothic"/>
            </a:endParaRPr>
          </a:p>
        </p:txBody>
      </p:sp>
      <p:cxnSp>
        <p:nvCxnSpPr>
          <p:cNvPr id="1217" name="Google Shape;1217;g2950e80dcb7_0_112"/>
          <p:cNvCxnSpPr/>
          <p:nvPr/>
        </p:nvCxnSpPr>
        <p:spPr>
          <a:xfrm>
            <a:off x="7779950" y="3704175"/>
            <a:ext cx="1343700" cy="10500"/>
          </a:xfrm>
          <a:prstGeom prst="straightConnector1">
            <a:avLst/>
          </a:prstGeom>
          <a:noFill/>
          <a:ln w="19050" cap="flat" cmpd="sng">
            <a:solidFill>
              <a:srgbClr val="FF0000"/>
            </a:solidFill>
            <a:prstDash val="solid"/>
            <a:round/>
            <a:headEnd type="none" w="med" len="med"/>
            <a:tailEnd type="triangle" w="med" len="med"/>
          </a:ln>
        </p:spPr>
      </p:cxnSp>
      <p:graphicFrame>
        <p:nvGraphicFramePr>
          <p:cNvPr id="1218" name="Google Shape;1218;g2950e80dcb7_0_112"/>
          <p:cNvGraphicFramePr/>
          <p:nvPr>
            <p:extLst>
              <p:ext uri="{D42A27DB-BD31-4B8C-83A1-F6EECF244321}">
                <p14:modId xmlns:p14="http://schemas.microsoft.com/office/powerpoint/2010/main" val="2066925211"/>
              </p:ext>
            </p:extLst>
          </p:nvPr>
        </p:nvGraphicFramePr>
        <p:xfrm>
          <a:off x="6861075" y="1890125"/>
          <a:ext cx="772900" cy="3657360"/>
        </p:xfrm>
        <a:graphic>
          <a:graphicData uri="http://schemas.openxmlformats.org/drawingml/2006/table">
            <a:tbl>
              <a:tblPr>
                <a:noFill/>
              </a:tblPr>
              <a:tblGrid>
                <a:gridCol w="772900">
                  <a:extLst>
                    <a:ext uri="{9D8B030D-6E8A-4147-A177-3AD203B41FA5}">
                      <a16:colId xmlns:a16="http://schemas.microsoft.com/office/drawing/2014/main" val="20000"/>
                    </a:ext>
                  </a:extLst>
                </a:gridCol>
              </a:tblGrid>
              <a:tr h="381000">
                <a:tc>
                  <a:txBody>
                    <a:bodyPr/>
                    <a:lstStyle/>
                    <a:p>
                      <a:pPr marL="0" lvl="0" indent="0" algn="ctr" rtl="0">
                        <a:spcBef>
                          <a:spcPts val="0"/>
                        </a:spcBef>
                        <a:spcAft>
                          <a:spcPts val="0"/>
                        </a:spcAft>
                        <a:buNone/>
                      </a:pPr>
                      <a:r>
                        <a:rPr lang="en" sz="1800" b="1" dirty="0">
                          <a:solidFill>
                            <a:schemeClr val="lt1"/>
                          </a:solidFill>
                        </a:rPr>
                        <a:t>CL</a:t>
                      </a:r>
                      <a:endParaRPr sz="1800" b="1" dirty="0">
                        <a:solidFill>
                          <a:schemeClr val="lt1"/>
                        </a:solidFill>
                      </a:endParaRPr>
                    </a:p>
                  </a:txBody>
                  <a:tcPr marL="91425" marR="91425" marT="91425" marB="91425">
                    <a:solidFill>
                      <a:srgbClr val="C00000"/>
                    </a:solidFill>
                  </a:tcPr>
                </a:tc>
                <a:extLst>
                  <a:ext uri="{0D108BD9-81ED-4DB2-BD59-A6C34878D82A}">
                    <a16:rowId xmlns:a16="http://schemas.microsoft.com/office/drawing/2014/main" val="10000"/>
                  </a:ext>
                </a:extLst>
              </a:tr>
              <a:tr h="381000">
                <a:tc>
                  <a:txBody>
                    <a:bodyPr/>
                    <a:lstStyle/>
                    <a:p>
                      <a:pPr marL="0" lvl="0" indent="0" algn="ctr" rtl="0">
                        <a:spcBef>
                          <a:spcPts val="0"/>
                        </a:spcBef>
                        <a:spcAft>
                          <a:spcPts val="0"/>
                        </a:spcAft>
                        <a:buNone/>
                      </a:pPr>
                      <a:r>
                        <a:rPr lang="en" sz="1800" b="1" dirty="0">
                          <a:solidFill>
                            <a:schemeClr val="lt1"/>
                          </a:solidFill>
                        </a:rPr>
                        <a:t>CH</a:t>
                      </a:r>
                      <a:endParaRPr sz="1800" b="1" dirty="0">
                        <a:solidFill>
                          <a:schemeClr val="lt1"/>
                        </a:solidFill>
                      </a:endParaRPr>
                    </a:p>
                  </a:txBody>
                  <a:tcPr marL="91425" marR="91425" marT="91425" marB="91425">
                    <a:solidFill>
                      <a:srgbClr val="C00000"/>
                    </a:solidFill>
                  </a:tcPr>
                </a:tc>
                <a:extLst>
                  <a:ext uri="{0D108BD9-81ED-4DB2-BD59-A6C34878D82A}">
                    <a16:rowId xmlns:a16="http://schemas.microsoft.com/office/drawing/2014/main" val="10001"/>
                  </a:ext>
                </a:extLst>
              </a:tr>
              <a:tr h="381000">
                <a:tc>
                  <a:txBody>
                    <a:bodyPr/>
                    <a:lstStyle/>
                    <a:p>
                      <a:pPr marL="0" lvl="0" indent="0" algn="ctr" rtl="0">
                        <a:spcBef>
                          <a:spcPts val="0"/>
                        </a:spcBef>
                        <a:spcAft>
                          <a:spcPts val="0"/>
                        </a:spcAft>
                        <a:buNone/>
                      </a:pPr>
                      <a:r>
                        <a:rPr lang="en" sz="1800" b="1">
                          <a:solidFill>
                            <a:schemeClr val="lt1"/>
                          </a:solidFill>
                        </a:rPr>
                        <a:t>BL</a:t>
                      </a:r>
                      <a:endParaRPr sz="1800" b="1">
                        <a:solidFill>
                          <a:schemeClr val="lt1"/>
                        </a:solidFill>
                      </a:endParaRPr>
                    </a:p>
                  </a:txBody>
                  <a:tcPr marL="91425" marR="91425" marT="91425" marB="91425">
                    <a:solidFill>
                      <a:srgbClr val="C00000"/>
                    </a:solidFill>
                  </a:tcPr>
                </a:tc>
                <a:extLst>
                  <a:ext uri="{0D108BD9-81ED-4DB2-BD59-A6C34878D82A}">
                    <a16:rowId xmlns:a16="http://schemas.microsoft.com/office/drawing/2014/main" val="10002"/>
                  </a:ext>
                </a:extLst>
              </a:tr>
              <a:tr h="381000">
                <a:tc>
                  <a:txBody>
                    <a:bodyPr/>
                    <a:lstStyle/>
                    <a:p>
                      <a:pPr marL="0" lvl="0" indent="0" algn="ctr" rtl="0">
                        <a:spcBef>
                          <a:spcPts val="0"/>
                        </a:spcBef>
                        <a:spcAft>
                          <a:spcPts val="0"/>
                        </a:spcAft>
                        <a:buNone/>
                      </a:pPr>
                      <a:r>
                        <a:rPr lang="en" sz="1800" b="1" dirty="0">
                          <a:solidFill>
                            <a:schemeClr val="lt1"/>
                          </a:solidFill>
                        </a:rPr>
                        <a:t>BH</a:t>
                      </a:r>
                      <a:endParaRPr sz="1800" b="1" dirty="0">
                        <a:solidFill>
                          <a:schemeClr val="lt1"/>
                        </a:solidFill>
                      </a:endParaRPr>
                    </a:p>
                  </a:txBody>
                  <a:tcPr marL="91425" marR="91425" marT="91425" marB="91425">
                    <a:solidFill>
                      <a:srgbClr val="C00000"/>
                    </a:solidFill>
                  </a:tcPr>
                </a:tc>
                <a:extLst>
                  <a:ext uri="{0D108BD9-81ED-4DB2-BD59-A6C34878D82A}">
                    <a16:rowId xmlns:a16="http://schemas.microsoft.com/office/drawing/2014/main" val="10003"/>
                  </a:ext>
                </a:extLst>
              </a:tr>
              <a:tr h="381000">
                <a:tc>
                  <a:txBody>
                    <a:bodyPr/>
                    <a:lstStyle/>
                    <a:p>
                      <a:pPr marL="0" lvl="0" indent="0" algn="ctr" rtl="0">
                        <a:spcBef>
                          <a:spcPts val="0"/>
                        </a:spcBef>
                        <a:spcAft>
                          <a:spcPts val="0"/>
                        </a:spcAft>
                        <a:buNone/>
                      </a:pPr>
                      <a:r>
                        <a:rPr lang="en" sz="1800" b="1" dirty="0">
                          <a:solidFill>
                            <a:schemeClr val="lt1"/>
                          </a:solidFill>
                        </a:rPr>
                        <a:t>AL</a:t>
                      </a:r>
                      <a:endParaRPr sz="1800" b="1" dirty="0">
                        <a:solidFill>
                          <a:schemeClr val="lt1"/>
                        </a:solidFill>
                      </a:endParaRPr>
                    </a:p>
                  </a:txBody>
                  <a:tcPr marL="91425" marR="91425" marT="91425" marB="91425">
                    <a:solidFill>
                      <a:srgbClr val="C00000"/>
                    </a:solidFill>
                  </a:tcPr>
                </a:tc>
                <a:extLst>
                  <a:ext uri="{0D108BD9-81ED-4DB2-BD59-A6C34878D82A}">
                    <a16:rowId xmlns:a16="http://schemas.microsoft.com/office/drawing/2014/main" val="10004"/>
                  </a:ext>
                </a:extLst>
              </a:tr>
              <a:tr h="381000">
                <a:tc>
                  <a:txBody>
                    <a:bodyPr/>
                    <a:lstStyle/>
                    <a:p>
                      <a:pPr marL="0" lvl="0" indent="0" algn="ctr" rtl="0">
                        <a:spcBef>
                          <a:spcPts val="0"/>
                        </a:spcBef>
                        <a:spcAft>
                          <a:spcPts val="0"/>
                        </a:spcAft>
                        <a:buNone/>
                      </a:pPr>
                      <a:r>
                        <a:rPr lang="en" sz="1800" b="1" dirty="0">
                          <a:solidFill>
                            <a:schemeClr val="lt1"/>
                          </a:solidFill>
                        </a:rPr>
                        <a:t>AH</a:t>
                      </a:r>
                      <a:endParaRPr sz="1800" b="1" dirty="0">
                        <a:solidFill>
                          <a:schemeClr val="lt1"/>
                        </a:solidFill>
                      </a:endParaRPr>
                    </a:p>
                  </a:txBody>
                  <a:tcPr marL="91425" marR="91425" marT="91425" marB="91425">
                    <a:solidFill>
                      <a:srgbClr val="C00000"/>
                    </a:solidFill>
                  </a:tcPr>
                </a:tc>
                <a:extLst>
                  <a:ext uri="{0D108BD9-81ED-4DB2-BD59-A6C34878D82A}">
                    <a16:rowId xmlns:a16="http://schemas.microsoft.com/office/drawing/2014/main" val="10005"/>
                  </a:ext>
                </a:extLst>
              </a:tr>
              <a:tr h="381000">
                <a:tc>
                  <a:txBody>
                    <a:bodyPr/>
                    <a:lstStyle/>
                    <a:p>
                      <a:pPr marL="0" lvl="0" indent="0" algn="ctr" rtl="0">
                        <a:spcBef>
                          <a:spcPts val="0"/>
                        </a:spcBef>
                        <a:spcAft>
                          <a:spcPts val="0"/>
                        </a:spcAft>
                        <a:buNone/>
                      </a:pPr>
                      <a:r>
                        <a:rPr lang="en" sz="1800" b="1" dirty="0">
                          <a:solidFill>
                            <a:schemeClr val="lt1"/>
                          </a:solidFill>
                        </a:rPr>
                        <a:t>53</a:t>
                      </a:r>
                      <a:endParaRPr sz="1800" b="1" dirty="0">
                        <a:solidFill>
                          <a:schemeClr val="lt1"/>
                        </a:solidFill>
                      </a:endParaRPr>
                    </a:p>
                  </a:txBody>
                  <a:tcPr marL="91425" marR="91425" marT="91425" marB="91425">
                    <a:solidFill>
                      <a:srgbClr val="C00000"/>
                    </a:solidFill>
                  </a:tcPr>
                </a:tc>
                <a:extLst>
                  <a:ext uri="{0D108BD9-81ED-4DB2-BD59-A6C34878D82A}">
                    <a16:rowId xmlns:a16="http://schemas.microsoft.com/office/drawing/2014/main" val="10006"/>
                  </a:ext>
                </a:extLst>
              </a:tr>
              <a:tr h="381000">
                <a:tc>
                  <a:txBody>
                    <a:bodyPr/>
                    <a:lstStyle/>
                    <a:p>
                      <a:pPr marL="0" lvl="0" indent="0" algn="ctr" rtl="0">
                        <a:spcBef>
                          <a:spcPts val="0"/>
                        </a:spcBef>
                        <a:spcAft>
                          <a:spcPts val="0"/>
                        </a:spcAft>
                        <a:buNone/>
                      </a:pPr>
                      <a:r>
                        <a:rPr lang="en" sz="1800" b="1" dirty="0">
                          <a:solidFill>
                            <a:schemeClr val="lt1"/>
                          </a:solidFill>
                        </a:rPr>
                        <a:t>04</a:t>
                      </a:r>
                      <a:endParaRPr sz="1800" b="1" dirty="0">
                        <a:solidFill>
                          <a:schemeClr val="lt1"/>
                        </a:solidFill>
                      </a:endParaRPr>
                    </a:p>
                  </a:txBody>
                  <a:tcPr marL="91425" marR="91425" marT="91425" marB="91425">
                    <a:solidFill>
                      <a:srgbClr val="C00000"/>
                    </a:solidFill>
                  </a:tcPr>
                </a:tc>
                <a:extLst>
                  <a:ext uri="{0D108BD9-81ED-4DB2-BD59-A6C34878D82A}">
                    <a16:rowId xmlns:a16="http://schemas.microsoft.com/office/drawing/2014/main" val="10007"/>
                  </a:ext>
                </a:extLst>
              </a:tr>
            </a:tbl>
          </a:graphicData>
        </a:graphic>
      </p:graphicFrame>
      <p:graphicFrame>
        <p:nvGraphicFramePr>
          <p:cNvPr id="1219" name="Google Shape;1219;g2950e80dcb7_0_112"/>
          <p:cNvGraphicFramePr/>
          <p:nvPr>
            <p:extLst>
              <p:ext uri="{D42A27DB-BD31-4B8C-83A1-F6EECF244321}">
                <p14:modId xmlns:p14="http://schemas.microsoft.com/office/powerpoint/2010/main" val="414454929"/>
              </p:ext>
            </p:extLst>
          </p:nvPr>
        </p:nvGraphicFramePr>
        <p:xfrm>
          <a:off x="9142600" y="1890138"/>
          <a:ext cx="917700" cy="3657360"/>
        </p:xfrm>
        <a:graphic>
          <a:graphicData uri="http://schemas.openxmlformats.org/drawingml/2006/table">
            <a:tbl>
              <a:tblPr>
                <a:noFill/>
              </a:tblPr>
              <a:tblGrid>
                <a:gridCol w="917700">
                  <a:extLst>
                    <a:ext uri="{9D8B030D-6E8A-4147-A177-3AD203B41FA5}">
                      <a16:colId xmlns:a16="http://schemas.microsoft.com/office/drawing/2014/main" val="20000"/>
                    </a:ext>
                  </a:extLst>
                </a:gridCol>
              </a:tblGrid>
              <a:tr h="381000">
                <a:tc>
                  <a:txBody>
                    <a:bodyPr/>
                    <a:lstStyle/>
                    <a:p>
                      <a:pPr marL="0" lvl="0" indent="0" algn="ctr" rtl="0">
                        <a:spcBef>
                          <a:spcPts val="0"/>
                        </a:spcBef>
                        <a:spcAft>
                          <a:spcPts val="0"/>
                        </a:spcAft>
                        <a:buNone/>
                      </a:pPr>
                      <a:endParaRPr sz="1800" b="1" dirty="0">
                        <a:solidFill>
                          <a:schemeClr val="lt1"/>
                        </a:solidFill>
                      </a:endParaRPr>
                    </a:p>
                  </a:txBody>
                  <a:tcPr marL="91425" marR="91425" marT="91425" marB="91425">
                    <a:solidFill>
                      <a:srgbClr val="C00000"/>
                    </a:solidFill>
                  </a:tcPr>
                </a:tc>
                <a:extLst>
                  <a:ext uri="{0D108BD9-81ED-4DB2-BD59-A6C34878D82A}">
                    <a16:rowId xmlns:a16="http://schemas.microsoft.com/office/drawing/2014/main" val="10000"/>
                  </a:ext>
                </a:extLst>
              </a:tr>
              <a:tr h="381000">
                <a:tc>
                  <a:txBody>
                    <a:bodyPr/>
                    <a:lstStyle/>
                    <a:p>
                      <a:pPr marL="0" lvl="0" indent="0" algn="ctr" rtl="0">
                        <a:spcBef>
                          <a:spcPts val="0"/>
                        </a:spcBef>
                        <a:spcAft>
                          <a:spcPts val="0"/>
                        </a:spcAft>
                        <a:buNone/>
                      </a:pPr>
                      <a:endParaRPr sz="1800" b="1" dirty="0">
                        <a:solidFill>
                          <a:schemeClr val="lt1"/>
                        </a:solidFill>
                      </a:endParaRPr>
                    </a:p>
                  </a:txBody>
                  <a:tcPr marL="91425" marR="91425" marT="91425" marB="91425">
                    <a:solidFill>
                      <a:srgbClr val="C00000"/>
                    </a:solidFill>
                  </a:tcPr>
                </a:tc>
                <a:extLst>
                  <a:ext uri="{0D108BD9-81ED-4DB2-BD59-A6C34878D82A}">
                    <a16:rowId xmlns:a16="http://schemas.microsoft.com/office/drawing/2014/main" val="10001"/>
                  </a:ext>
                </a:extLst>
              </a:tr>
              <a:tr h="381000">
                <a:tc>
                  <a:txBody>
                    <a:bodyPr/>
                    <a:lstStyle/>
                    <a:p>
                      <a:pPr marL="0" lvl="0" indent="0" algn="ctr" rtl="0">
                        <a:spcBef>
                          <a:spcPts val="0"/>
                        </a:spcBef>
                        <a:spcAft>
                          <a:spcPts val="0"/>
                        </a:spcAft>
                        <a:buNone/>
                      </a:pPr>
                      <a:endParaRPr sz="1800" b="1" dirty="0">
                        <a:solidFill>
                          <a:schemeClr val="lt1"/>
                        </a:solidFill>
                      </a:endParaRPr>
                    </a:p>
                  </a:txBody>
                  <a:tcPr marL="91425" marR="91425" marT="91425" marB="91425">
                    <a:solidFill>
                      <a:srgbClr val="C00000"/>
                    </a:solidFill>
                  </a:tcPr>
                </a:tc>
                <a:extLst>
                  <a:ext uri="{0D108BD9-81ED-4DB2-BD59-A6C34878D82A}">
                    <a16:rowId xmlns:a16="http://schemas.microsoft.com/office/drawing/2014/main" val="10002"/>
                  </a:ext>
                </a:extLst>
              </a:tr>
              <a:tr h="381000">
                <a:tc>
                  <a:txBody>
                    <a:bodyPr/>
                    <a:lstStyle/>
                    <a:p>
                      <a:pPr marL="0" lvl="0" indent="0" algn="ctr" rtl="0">
                        <a:spcBef>
                          <a:spcPts val="0"/>
                        </a:spcBef>
                        <a:spcAft>
                          <a:spcPts val="0"/>
                        </a:spcAft>
                        <a:buNone/>
                      </a:pPr>
                      <a:endParaRPr sz="1800" b="1">
                        <a:solidFill>
                          <a:schemeClr val="lt1"/>
                        </a:solidFill>
                      </a:endParaRPr>
                    </a:p>
                  </a:txBody>
                  <a:tcPr marL="91425" marR="91425" marT="91425" marB="91425">
                    <a:solidFill>
                      <a:srgbClr val="C00000"/>
                    </a:solidFill>
                  </a:tcPr>
                </a:tc>
                <a:extLst>
                  <a:ext uri="{0D108BD9-81ED-4DB2-BD59-A6C34878D82A}">
                    <a16:rowId xmlns:a16="http://schemas.microsoft.com/office/drawing/2014/main" val="10003"/>
                  </a:ext>
                </a:extLst>
              </a:tr>
              <a:tr h="381000">
                <a:tc>
                  <a:txBody>
                    <a:bodyPr/>
                    <a:lstStyle/>
                    <a:p>
                      <a:pPr marL="0" lvl="0" indent="0" algn="ctr" rtl="0">
                        <a:spcBef>
                          <a:spcPts val="0"/>
                        </a:spcBef>
                        <a:spcAft>
                          <a:spcPts val="0"/>
                        </a:spcAft>
                        <a:buNone/>
                      </a:pPr>
                      <a:r>
                        <a:rPr lang="en" sz="1800" b="1" dirty="0">
                          <a:solidFill>
                            <a:schemeClr val="lt1"/>
                          </a:solidFill>
                        </a:rPr>
                        <a:t>SI </a:t>
                      </a:r>
                      <a:r>
                        <a:rPr lang="en" sz="700" dirty="0">
                          <a:solidFill>
                            <a:schemeClr val="lt1"/>
                          </a:solidFill>
                        </a:rPr>
                        <a:t>(Lower)</a:t>
                      </a:r>
                      <a:endParaRPr sz="1800" b="1" dirty="0">
                        <a:solidFill>
                          <a:schemeClr val="lt1"/>
                        </a:solidFill>
                      </a:endParaRPr>
                    </a:p>
                  </a:txBody>
                  <a:tcPr marL="91425" marR="91425" marT="91425" marB="91425">
                    <a:solidFill>
                      <a:srgbClr val="C00000"/>
                    </a:solidFill>
                  </a:tcPr>
                </a:tc>
                <a:extLst>
                  <a:ext uri="{0D108BD9-81ED-4DB2-BD59-A6C34878D82A}">
                    <a16:rowId xmlns:a16="http://schemas.microsoft.com/office/drawing/2014/main" val="10004"/>
                  </a:ext>
                </a:extLst>
              </a:tr>
              <a:tr h="381000">
                <a:tc>
                  <a:txBody>
                    <a:bodyPr/>
                    <a:lstStyle/>
                    <a:p>
                      <a:pPr marL="0" lvl="0" indent="0" algn="ctr" rtl="0">
                        <a:spcBef>
                          <a:spcPts val="0"/>
                        </a:spcBef>
                        <a:spcAft>
                          <a:spcPts val="0"/>
                        </a:spcAft>
                        <a:buNone/>
                      </a:pPr>
                      <a:r>
                        <a:rPr lang="en" sz="1800" b="1" dirty="0">
                          <a:solidFill>
                            <a:schemeClr val="lt1"/>
                          </a:solidFill>
                        </a:rPr>
                        <a:t>SI </a:t>
                      </a:r>
                      <a:r>
                        <a:rPr lang="en" sz="700" dirty="0">
                          <a:solidFill>
                            <a:schemeClr val="lt1"/>
                          </a:solidFill>
                        </a:rPr>
                        <a:t>(Higher)</a:t>
                      </a:r>
                      <a:endParaRPr sz="700" dirty="0">
                        <a:solidFill>
                          <a:schemeClr val="lt1"/>
                        </a:solidFill>
                      </a:endParaRPr>
                    </a:p>
                  </a:txBody>
                  <a:tcPr marL="91425" marR="91425" marT="91425" marB="91425">
                    <a:solidFill>
                      <a:srgbClr val="C00000"/>
                    </a:solidFill>
                  </a:tcPr>
                </a:tc>
                <a:extLst>
                  <a:ext uri="{0D108BD9-81ED-4DB2-BD59-A6C34878D82A}">
                    <a16:rowId xmlns:a16="http://schemas.microsoft.com/office/drawing/2014/main" val="10005"/>
                  </a:ext>
                </a:extLst>
              </a:tr>
              <a:tr h="381000">
                <a:tc>
                  <a:txBody>
                    <a:bodyPr/>
                    <a:lstStyle/>
                    <a:p>
                      <a:pPr marL="0" lvl="0" indent="0" algn="ctr" rtl="0">
                        <a:spcBef>
                          <a:spcPts val="0"/>
                        </a:spcBef>
                        <a:spcAft>
                          <a:spcPts val="0"/>
                        </a:spcAft>
                        <a:buNone/>
                      </a:pPr>
                      <a:r>
                        <a:rPr lang="en" sz="1800" b="1" dirty="0">
                          <a:solidFill>
                            <a:schemeClr val="lt1"/>
                          </a:solidFill>
                        </a:rPr>
                        <a:t>DL</a:t>
                      </a:r>
                      <a:endParaRPr sz="1800" b="1" dirty="0">
                        <a:solidFill>
                          <a:schemeClr val="lt1"/>
                        </a:solidFill>
                      </a:endParaRPr>
                    </a:p>
                  </a:txBody>
                  <a:tcPr marL="91425" marR="91425" marT="91425" marB="91425">
                    <a:solidFill>
                      <a:srgbClr val="C00000"/>
                    </a:solidFill>
                  </a:tcPr>
                </a:tc>
                <a:extLst>
                  <a:ext uri="{0D108BD9-81ED-4DB2-BD59-A6C34878D82A}">
                    <a16:rowId xmlns:a16="http://schemas.microsoft.com/office/drawing/2014/main" val="10006"/>
                  </a:ext>
                </a:extLst>
              </a:tr>
              <a:tr h="381000">
                <a:tc>
                  <a:txBody>
                    <a:bodyPr/>
                    <a:lstStyle/>
                    <a:p>
                      <a:pPr marL="0" lvl="0" indent="0" algn="ctr" rtl="0">
                        <a:spcBef>
                          <a:spcPts val="0"/>
                        </a:spcBef>
                        <a:spcAft>
                          <a:spcPts val="0"/>
                        </a:spcAft>
                        <a:buNone/>
                      </a:pPr>
                      <a:r>
                        <a:rPr lang="en" sz="1800" b="1" dirty="0">
                          <a:solidFill>
                            <a:schemeClr val="lt1"/>
                          </a:solidFill>
                        </a:rPr>
                        <a:t>DH</a:t>
                      </a:r>
                      <a:endParaRPr sz="1800" b="1" dirty="0">
                        <a:solidFill>
                          <a:schemeClr val="lt1"/>
                        </a:solidFill>
                      </a:endParaRPr>
                    </a:p>
                  </a:txBody>
                  <a:tcPr marL="91425" marR="91425" marT="91425" marB="91425">
                    <a:solidFill>
                      <a:srgbClr val="C00000"/>
                    </a:solidFill>
                  </a:tcPr>
                </a:tc>
                <a:extLst>
                  <a:ext uri="{0D108BD9-81ED-4DB2-BD59-A6C34878D82A}">
                    <a16:rowId xmlns:a16="http://schemas.microsoft.com/office/drawing/2014/main" val="10007"/>
                  </a:ext>
                </a:extLst>
              </a:tr>
            </a:tbl>
          </a:graphicData>
        </a:graphic>
      </p:graphicFrame>
      <p:sp>
        <p:nvSpPr>
          <p:cNvPr id="1220" name="Google Shape;1220;g2950e80dcb7_0_112"/>
          <p:cNvSpPr txBox="1"/>
          <p:nvPr/>
        </p:nvSpPr>
        <p:spPr>
          <a:xfrm>
            <a:off x="8594850" y="1249850"/>
            <a:ext cx="1868400" cy="514500"/>
          </a:xfrm>
          <a:prstGeom prst="rect">
            <a:avLst/>
          </a:prstGeom>
          <a:noFill/>
          <a:ln>
            <a:noFill/>
          </a:ln>
        </p:spPr>
        <p:txBody>
          <a:bodyPr spcFirstLastPara="1" wrap="square" lIns="91425" tIns="91425" rIns="91425" bIns="91425" anchor="t" anchorCtr="0">
            <a:noAutofit/>
          </a:bodyPr>
          <a:lstStyle/>
          <a:p>
            <a:pPr algn="ctr"/>
            <a:r>
              <a:rPr lang="en" sz="1900">
                <a:solidFill>
                  <a:srgbClr val="00C3B1"/>
                </a:solidFill>
                <a:latin typeface="Didact Gothic"/>
                <a:ea typeface="Didact Gothic"/>
                <a:cs typeface="Didact Gothic"/>
                <a:sym typeface="Didact Gothic"/>
              </a:rPr>
              <a:t>Stack cont.</a:t>
            </a:r>
            <a:endParaRPr sz="1900">
              <a:solidFill>
                <a:srgbClr val="00C3B1"/>
              </a:solidFill>
              <a:latin typeface="Didact Gothic"/>
              <a:ea typeface="Didact Gothic"/>
              <a:cs typeface="Didact Gothic"/>
              <a:sym typeface="Didact Gothic"/>
            </a:endParaRPr>
          </a:p>
        </p:txBody>
      </p:sp>
      <p:cxnSp>
        <p:nvCxnSpPr>
          <p:cNvPr id="1221" name="Google Shape;1221;g2950e80dcb7_0_112"/>
          <p:cNvCxnSpPr/>
          <p:nvPr/>
        </p:nvCxnSpPr>
        <p:spPr>
          <a:xfrm>
            <a:off x="2401800" y="4505071"/>
            <a:ext cx="661200" cy="0"/>
          </a:xfrm>
          <a:prstGeom prst="straightConnector1">
            <a:avLst/>
          </a:prstGeom>
          <a:noFill/>
          <a:ln w="28575" cap="flat" cmpd="sng">
            <a:solidFill>
              <a:srgbClr val="FF0000"/>
            </a:solidFill>
            <a:prstDash val="solid"/>
            <a:round/>
            <a:headEnd type="none" w="med" len="med"/>
            <a:tailEnd type="triangle" w="med" len="med"/>
          </a:ln>
        </p:spPr>
      </p:cxnSp>
      <p:sp>
        <p:nvSpPr>
          <p:cNvPr id="2" name="Title 1">
            <a:extLst>
              <a:ext uri="{FF2B5EF4-FFF2-40B4-BE49-F238E27FC236}">
                <a16:creationId xmlns:a16="http://schemas.microsoft.com/office/drawing/2014/main" id="{9B9B19E4-7312-4165-FDB5-ED590D3EB2E4}"/>
              </a:ext>
            </a:extLst>
          </p:cNvPr>
          <p:cNvSpPr txBox="1">
            <a:spLocks/>
          </p:cNvSpPr>
          <p:nvPr/>
        </p:nvSpPr>
        <p:spPr>
          <a:xfrm>
            <a:off x="646111" y="452718"/>
            <a:ext cx="9404723" cy="1400530"/>
          </a:xfrm>
          <a:prstGeom prst="rect">
            <a:avLst/>
          </a:prstGeom>
          <a:noFill/>
          <a:ln>
            <a:noFill/>
          </a:ln>
        </p:spPr>
        <p:txBody>
          <a:bodyPr spcFirstLastPara="1" vert="horz" wrap="square" lIns="91425" tIns="91425" rIns="91425" bIns="91425" rtlCol="0" anchor="ctr" anchorCtr="0">
            <a:noAutofit/>
          </a:bodyPr>
          <a:lstStyle>
            <a:lvl1pPr lvl="0" algn="l" defTabSz="457200" rtl="0" eaLnBrk="1" latinLnBrk="0" hangingPunct="1">
              <a:lnSpc>
                <a:spcPct val="100000"/>
              </a:lnSpc>
              <a:spcBef>
                <a:spcPts val="0"/>
              </a:spcBef>
              <a:spcAft>
                <a:spcPts val="0"/>
              </a:spcAft>
              <a:buSzPts val="3500"/>
              <a:buNone/>
              <a:defRPr sz="4200" b="0" i="0" kern="1200">
                <a:solidFill>
                  <a:schemeClr val="tx2"/>
                </a:solidFill>
                <a:latin typeface="+mj-lt"/>
                <a:ea typeface="+mj-ea"/>
                <a:cs typeface="+mj-cs"/>
              </a:defRPr>
            </a:lvl1pPr>
            <a:lvl2pPr lvl="1" algn="l" eaLnBrk="1" hangingPunct="1">
              <a:lnSpc>
                <a:spcPct val="100000"/>
              </a:lnSpc>
              <a:spcBef>
                <a:spcPts val="0"/>
              </a:spcBef>
              <a:spcAft>
                <a:spcPts val="0"/>
              </a:spcAft>
              <a:buSzPts val="3500"/>
              <a:buNone/>
              <a:defRPr>
                <a:solidFill>
                  <a:schemeClr val="tx2"/>
                </a:solidFill>
              </a:defRPr>
            </a:lvl2pPr>
            <a:lvl3pPr lvl="2" algn="l" eaLnBrk="1" hangingPunct="1">
              <a:lnSpc>
                <a:spcPct val="100000"/>
              </a:lnSpc>
              <a:spcBef>
                <a:spcPts val="0"/>
              </a:spcBef>
              <a:spcAft>
                <a:spcPts val="0"/>
              </a:spcAft>
              <a:buSzPts val="3500"/>
              <a:buNone/>
              <a:defRPr>
                <a:solidFill>
                  <a:schemeClr val="tx2"/>
                </a:solidFill>
              </a:defRPr>
            </a:lvl3pPr>
            <a:lvl4pPr lvl="3" algn="l" eaLnBrk="1" hangingPunct="1">
              <a:lnSpc>
                <a:spcPct val="100000"/>
              </a:lnSpc>
              <a:spcBef>
                <a:spcPts val="0"/>
              </a:spcBef>
              <a:spcAft>
                <a:spcPts val="0"/>
              </a:spcAft>
              <a:buSzPts val="3500"/>
              <a:buNone/>
              <a:defRPr>
                <a:solidFill>
                  <a:schemeClr val="tx2"/>
                </a:solidFill>
              </a:defRPr>
            </a:lvl4pPr>
            <a:lvl5pPr lvl="4" algn="l" eaLnBrk="1" hangingPunct="1">
              <a:lnSpc>
                <a:spcPct val="100000"/>
              </a:lnSpc>
              <a:spcBef>
                <a:spcPts val="0"/>
              </a:spcBef>
              <a:spcAft>
                <a:spcPts val="0"/>
              </a:spcAft>
              <a:buSzPts val="3500"/>
              <a:buNone/>
              <a:defRPr>
                <a:solidFill>
                  <a:schemeClr val="tx2"/>
                </a:solidFill>
              </a:defRPr>
            </a:lvl5pPr>
            <a:lvl6pPr lvl="5" algn="l" eaLnBrk="1" hangingPunct="1">
              <a:lnSpc>
                <a:spcPct val="100000"/>
              </a:lnSpc>
              <a:spcBef>
                <a:spcPts val="0"/>
              </a:spcBef>
              <a:spcAft>
                <a:spcPts val="0"/>
              </a:spcAft>
              <a:buSzPts val="3500"/>
              <a:buNone/>
              <a:defRPr>
                <a:solidFill>
                  <a:schemeClr val="tx2"/>
                </a:solidFill>
              </a:defRPr>
            </a:lvl6pPr>
            <a:lvl7pPr lvl="6" algn="l" eaLnBrk="1" hangingPunct="1">
              <a:lnSpc>
                <a:spcPct val="100000"/>
              </a:lnSpc>
              <a:spcBef>
                <a:spcPts val="0"/>
              </a:spcBef>
              <a:spcAft>
                <a:spcPts val="0"/>
              </a:spcAft>
              <a:buSzPts val="3500"/>
              <a:buNone/>
              <a:defRPr>
                <a:solidFill>
                  <a:schemeClr val="tx2"/>
                </a:solidFill>
              </a:defRPr>
            </a:lvl7pPr>
            <a:lvl8pPr lvl="7" algn="l" eaLnBrk="1" hangingPunct="1">
              <a:lnSpc>
                <a:spcPct val="100000"/>
              </a:lnSpc>
              <a:spcBef>
                <a:spcPts val="0"/>
              </a:spcBef>
              <a:spcAft>
                <a:spcPts val="0"/>
              </a:spcAft>
              <a:buSzPts val="3500"/>
              <a:buNone/>
              <a:defRPr>
                <a:solidFill>
                  <a:schemeClr val="tx2"/>
                </a:solidFill>
              </a:defRPr>
            </a:lvl8pPr>
            <a:lvl9pPr lvl="8" algn="l" eaLnBrk="1" hangingPunct="1">
              <a:lnSpc>
                <a:spcPct val="100000"/>
              </a:lnSpc>
              <a:spcBef>
                <a:spcPts val="0"/>
              </a:spcBef>
              <a:spcAft>
                <a:spcPts val="0"/>
              </a:spcAft>
              <a:buSzPts val="3500"/>
              <a:buNone/>
              <a:defRPr>
                <a:solidFill>
                  <a:schemeClr val="tx2"/>
                </a:solidFill>
              </a:defRPr>
            </a:lvl9pPr>
          </a:lstStyle>
          <a:p>
            <a:r>
              <a:rPr lang="en-US"/>
              <a:t>Problem 3</a:t>
            </a:r>
            <a:endParaRPr lang="en-US" dirty="0"/>
          </a:p>
        </p:txBody>
      </p:sp>
      <p:sp>
        <p:nvSpPr>
          <p:cNvPr id="3" name="Rectangle 2">
            <a:extLst>
              <a:ext uri="{FF2B5EF4-FFF2-40B4-BE49-F238E27FC236}">
                <a16:creationId xmlns:a16="http://schemas.microsoft.com/office/drawing/2014/main" id="{027CCC66-9D15-0D13-4CE5-A5E91C06306F}"/>
              </a:ext>
            </a:extLst>
          </p:cNvPr>
          <p:cNvSpPr/>
          <p:nvPr/>
        </p:nvSpPr>
        <p:spPr>
          <a:xfrm>
            <a:off x="6165800" y="5723751"/>
            <a:ext cx="2325949" cy="331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Top of Memory</a:t>
            </a:r>
          </a:p>
        </p:txBody>
      </p:sp>
      <p:sp>
        <p:nvSpPr>
          <p:cNvPr id="4" name="Rectangle 3">
            <a:extLst>
              <a:ext uri="{FF2B5EF4-FFF2-40B4-BE49-F238E27FC236}">
                <a16:creationId xmlns:a16="http://schemas.microsoft.com/office/drawing/2014/main" id="{E4727346-AD24-4AEC-F0F9-B21D0D099190}"/>
              </a:ext>
            </a:extLst>
          </p:cNvPr>
          <p:cNvSpPr/>
          <p:nvPr/>
        </p:nvSpPr>
        <p:spPr>
          <a:xfrm>
            <a:off x="7979625" y="830849"/>
            <a:ext cx="2325949" cy="331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Bottom of Memory</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225"/>
        <p:cNvGrpSpPr/>
        <p:nvPr/>
      </p:nvGrpSpPr>
      <p:grpSpPr>
        <a:xfrm>
          <a:off x="0" y="0"/>
          <a:ext cx="0" cy="0"/>
          <a:chOff x="0" y="0"/>
          <a:chExt cx="0" cy="0"/>
        </a:xfrm>
      </p:grpSpPr>
      <p:pic>
        <p:nvPicPr>
          <p:cNvPr id="1227" name="Google Shape;1227;g2950e80dcb7_0_124"/>
          <p:cNvPicPr preferRelativeResize="0"/>
          <p:nvPr/>
        </p:nvPicPr>
        <p:blipFill>
          <a:blip r:embed="rId3">
            <a:alphaModFix/>
          </a:blip>
          <a:stretch>
            <a:fillRect/>
          </a:stretch>
        </p:blipFill>
        <p:spPr>
          <a:xfrm>
            <a:off x="2286002" y="2062352"/>
            <a:ext cx="2497975" cy="3312775"/>
          </a:xfrm>
          <a:prstGeom prst="rect">
            <a:avLst/>
          </a:prstGeom>
          <a:noFill/>
          <a:ln>
            <a:noFill/>
          </a:ln>
        </p:spPr>
      </p:pic>
      <p:sp>
        <p:nvSpPr>
          <p:cNvPr id="1228" name="Google Shape;1228;g2950e80dcb7_0_124"/>
          <p:cNvSpPr txBox="1"/>
          <p:nvPr/>
        </p:nvSpPr>
        <p:spPr>
          <a:xfrm>
            <a:off x="6313325" y="1249850"/>
            <a:ext cx="1868400" cy="514500"/>
          </a:xfrm>
          <a:prstGeom prst="rect">
            <a:avLst/>
          </a:prstGeom>
          <a:noFill/>
          <a:ln>
            <a:noFill/>
          </a:ln>
        </p:spPr>
        <p:txBody>
          <a:bodyPr spcFirstLastPara="1" wrap="square" lIns="91425" tIns="91425" rIns="91425" bIns="91425" anchor="t" anchorCtr="0">
            <a:noAutofit/>
          </a:bodyPr>
          <a:lstStyle/>
          <a:p>
            <a:pPr algn="ctr"/>
            <a:r>
              <a:rPr lang="en" sz="1900">
                <a:solidFill>
                  <a:srgbClr val="00C3B1"/>
                </a:solidFill>
                <a:latin typeface="Didact Gothic"/>
                <a:ea typeface="Didact Gothic"/>
                <a:cs typeface="Didact Gothic"/>
                <a:sym typeface="Didact Gothic"/>
              </a:rPr>
              <a:t>Stack</a:t>
            </a:r>
            <a:endParaRPr sz="1900">
              <a:solidFill>
                <a:srgbClr val="00C3B1"/>
              </a:solidFill>
              <a:latin typeface="Didact Gothic"/>
              <a:ea typeface="Didact Gothic"/>
              <a:cs typeface="Didact Gothic"/>
              <a:sym typeface="Didact Gothic"/>
            </a:endParaRPr>
          </a:p>
        </p:txBody>
      </p:sp>
      <p:sp>
        <p:nvSpPr>
          <p:cNvPr id="1229" name="Google Shape;1229;g2950e80dcb7_0_124"/>
          <p:cNvSpPr txBox="1"/>
          <p:nvPr/>
        </p:nvSpPr>
        <p:spPr>
          <a:xfrm>
            <a:off x="7748450" y="2390900"/>
            <a:ext cx="1280700" cy="378000"/>
          </a:xfrm>
          <a:prstGeom prst="rect">
            <a:avLst/>
          </a:prstGeom>
          <a:noFill/>
          <a:ln>
            <a:noFill/>
          </a:ln>
        </p:spPr>
        <p:txBody>
          <a:bodyPr spcFirstLastPara="1" wrap="square" lIns="91425" tIns="91425" rIns="91425" bIns="91425" anchor="t" anchorCtr="0">
            <a:noAutofit/>
          </a:bodyPr>
          <a:lstStyle/>
          <a:p>
            <a:r>
              <a:rPr lang="en">
                <a:solidFill>
                  <a:schemeClr val="lt1"/>
                </a:solidFill>
                <a:latin typeface="Didact Gothic"/>
                <a:ea typeface="Didact Gothic"/>
                <a:cs typeface="Didact Gothic"/>
                <a:sym typeface="Didact Gothic"/>
              </a:rPr>
              <a:t>SP = 127AH</a:t>
            </a:r>
            <a:endParaRPr>
              <a:solidFill>
                <a:schemeClr val="lt1"/>
              </a:solidFill>
              <a:latin typeface="Didact Gothic"/>
              <a:ea typeface="Didact Gothic"/>
              <a:cs typeface="Didact Gothic"/>
              <a:sym typeface="Didact Gothic"/>
            </a:endParaRPr>
          </a:p>
        </p:txBody>
      </p:sp>
      <p:cxnSp>
        <p:nvCxnSpPr>
          <p:cNvPr id="1230" name="Google Shape;1230;g2950e80dcb7_0_124"/>
          <p:cNvCxnSpPr/>
          <p:nvPr/>
        </p:nvCxnSpPr>
        <p:spPr>
          <a:xfrm>
            <a:off x="7779950" y="2789775"/>
            <a:ext cx="1343700" cy="10500"/>
          </a:xfrm>
          <a:prstGeom prst="straightConnector1">
            <a:avLst/>
          </a:prstGeom>
          <a:noFill/>
          <a:ln w="19050" cap="flat" cmpd="sng">
            <a:solidFill>
              <a:srgbClr val="FF0000"/>
            </a:solidFill>
            <a:prstDash val="solid"/>
            <a:round/>
            <a:headEnd type="none" w="med" len="med"/>
            <a:tailEnd type="triangle" w="med" len="med"/>
          </a:ln>
        </p:spPr>
      </p:cxnSp>
      <p:graphicFrame>
        <p:nvGraphicFramePr>
          <p:cNvPr id="1231" name="Google Shape;1231;g2950e80dcb7_0_124"/>
          <p:cNvGraphicFramePr/>
          <p:nvPr>
            <p:extLst>
              <p:ext uri="{D42A27DB-BD31-4B8C-83A1-F6EECF244321}">
                <p14:modId xmlns:p14="http://schemas.microsoft.com/office/powerpoint/2010/main" val="791887712"/>
              </p:ext>
            </p:extLst>
          </p:nvPr>
        </p:nvGraphicFramePr>
        <p:xfrm>
          <a:off x="6861075" y="1890125"/>
          <a:ext cx="772900" cy="3657360"/>
        </p:xfrm>
        <a:graphic>
          <a:graphicData uri="http://schemas.openxmlformats.org/drawingml/2006/table">
            <a:tbl>
              <a:tblPr>
                <a:noFill/>
              </a:tblPr>
              <a:tblGrid>
                <a:gridCol w="772900">
                  <a:extLst>
                    <a:ext uri="{9D8B030D-6E8A-4147-A177-3AD203B41FA5}">
                      <a16:colId xmlns:a16="http://schemas.microsoft.com/office/drawing/2014/main" val="20000"/>
                    </a:ext>
                  </a:extLst>
                </a:gridCol>
              </a:tblGrid>
              <a:tr h="381000">
                <a:tc>
                  <a:txBody>
                    <a:bodyPr/>
                    <a:lstStyle/>
                    <a:p>
                      <a:pPr marL="0" lvl="0" indent="0" algn="ctr" rtl="0">
                        <a:spcBef>
                          <a:spcPts val="0"/>
                        </a:spcBef>
                        <a:spcAft>
                          <a:spcPts val="0"/>
                        </a:spcAft>
                        <a:buNone/>
                      </a:pPr>
                      <a:r>
                        <a:rPr lang="en" sz="1800" b="1" dirty="0">
                          <a:solidFill>
                            <a:schemeClr val="lt1"/>
                          </a:solidFill>
                        </a:rPr>
                        <a:t>CL</a:t>
                      </a:r>
                      <a:endParaRPr sz="1800" b="1" dirty="0">
                        <a:solidFill>
                          <a:schemeClr val="lt1"/>
                        </a:solidFill>
                      </a:endParaRPr>
                    </a:p>
                  </a:txBody>
                  <a:tcPr marL="91425" marR="91425" marT="91425" marB="91425">
                    <a:solidFill>
                      <a:srgbClr val="C00000"/>
                    </a:solidFill>
                  </a:tcPr>
                </a:tc>
                <a:extLst>
                  <a:ext uri="{0D108BD9-81ED-4DB2-BD59-A6C34878D82A}">
                    <a16:rowId xmlns:a16="http://schemas.microsoft.com/office/drawing/2014/main" val="10000"/>
                  </a:ext>
                </a:extLst>
              </a:tr>
              <a:tr h="381000">
                <a:tc>
                  <a:txBody>
                    <a:bodyPr/>
                    <a:lstStyle/>
                    <a:p>
                      <a:pPr marL="0" lvl="0" indent="0" algn="ctr" rtl="0">
                        <a:spcBef>
                          <a:spcPts val="0"/>
                        </a:spcBef>
                        <a:spcAft>
                          <a:spcPts val="0"/>
                        </a:spcAft>
                        <a:buNone/>
                      </a:pPr>
                      <a:r>
                        <a:rPr lang="en" sz="1800" b="1">
                          <a:solidFill>
                            <a:schemeClr val="lt1"/>
                          </a:solidFill>
                        </a:rPr>
                        <a:t>CH</a:t>
                      </a:r>
                      <a:endParaRPr sz="1800" b="1">
                        <a:solidFill>
                          <a:schemeClr val="lt1"/>
                        </a:solidFill>
                      </a:endParaRPr>
                    </a:p>
                  </a:txBody>
                  <a:tcPr marL="91425" marR="91425" marT="91425" marB="91425">
                    <a:solidFill>
                      <a:srgbClr val="C00000"/>
                    </a:solidFill>
                  </a:tcPr>
                </a:tc>
                <a:extLst>
                  <a:ext uri="{0D108BD9-81ED-4DB2-BD59-A6C34878D82A}">
                    <a16:rowId xmlns:a16="http://schemas.microsoft.com/office/drawing/2014/main" val="10001"/>
                  </a:ext>
                </a:extLst>
              </a:tr>
              <a:tr h="381000">
                <a:tc>
                  <a:txBody>
                    <a:bodyPr/>
                    <a:lstStyle/>
                    <a:p>
                      <a:pPr marL="0" lvl="0" indent="0" algn="ctr" rtl="0">
                        <a:spcBef>
                          <a:spcPts val="0"/>
                        </a:spcBef>
                        <a:spcAft>
                          <a:spcPts val="0"/>
                        </a:spcAft>
                        <a:buNone/>
                      </a:pPr>
                      <a:r>
                        <a:rPr lang="en" sz="1800" b="1" dirty="0">
                          <a:solidFill>
                            <a:schemeClr val="lt1"/>
                          </a:solidFill>
                        </a:rPr>
                        <a:t>BL</a:t>
                      </a:r>
                      <a:endParaRPr sz="1800" b="1" dirty="0">
                        <a:solidFill>
                          <a:schemeClr val="lt1"/>
                        </a:solidFill>
                      </a:endParaRPr>
                    </a:p>
                  </a:txBody>
                  <a:tcPr marL="91425" marR="91425" marT="91425" marB="91425">
                    <a:solidFill>
                      <a:srgbClr val="C00000"/>
                    </a:solidFill>
                  </a:tcPr>
                </a:tc>
                <a:extLst>
                  <a:ext uri="{0D108BD9-81ED-4DB2-BD59-A6C34878D82A}">
                    <a16:rowId xmlns:a16="http://schemas.microsoft.com/office/drawing/2014/main" val="10002"/>
                  </a:ext>
                </a:extLst>
              </a:tr>
              <a:tr h="381000">
                <a:tc>
                  <a:txBody>
                    <a:bodyPr/>
                    <a:lstStyle/>
                    <a:p>
                      <a:pPr marL="0" lvl="0" indent="0" algn="ctr" rtl="0">
                        <a:spcBef>
                          <a:spcPts val="0"/>
                        </a:spcBef>
                        <a:spcAft>
                          <a:spcPts val="0"/>
                        </a:spcAft>
                        <a:buNone/>
                      </a:pPr>
                      <a:r>
                        <a:rPr lang="en" sz="1800" b="1" dirty="0">
                          <a:solidFill>
                            <a:schemeClr val="lt1"/>
                          </a:solidFill>
                        </a:rPr>
                        <a:t>BH</a:t>
                      </a:r>
                      <a:endParaRPr sz="1800" b="1" dirty="0">
                        <a:solidFill>
                          <a:schemeClr val="lt1"/>
                        </a:solidFill>
                      </a:endParaRPr>
                    </a:p>
                  </a:txBody>
                  <a:tcPr marL="91425" marR="91425" marT="91425" marB="91425">
                    <a:solidFill>
                      <a:srgbClr val="C00000"/>
                    </a:solidFill>
                  </a:tcPr>
                </a:tc>
                <a:extLst>
                  <a:ext uri="{0D108BD9-81ED-4DB2-BD59-A6C34878D82A}">
                    <a16:rowId xmlns:a16="http://schemas.microsoft.com/office/drawing/2014/main" val="10003"/>
                  </a:ext>
                </a:extLst>
              </a:tr>
              <a:tr h="381000">
                <a:tc>
                  <a:txBody>
                    <a:bodyPr/>
                    <a:lstStyle/>
                    <a:p>
                      <a:pPr marL="0" lvl="0" indent="0" algn="ctr" rtl="0">
                        <a:spcBef>
                          <a:spcPts val="0"/>
                        </a:spcBef>
                        <a:spcAft>
                          <a:spcPts val="0"/>
                        </a:spcAft>
                        <a:buNone/>
                      </a:pPr>
                      <a:r>
                        <a:rPr lang="en" sz="1800" b="1" dirty="0">
                          <a:solidFill>
                            <a:schemeClr val="lt1"/>
                          </a:solidFill>
                        </a:rPr>
                        <a:t>AL</a:t>
                      </a:r>
                      <a:endParaRPr sz="1800" b="1" dirty="0">
                        <a:solidFill>
                          <a:schemeClr val="lt1"/>
                        </a:solidFill>
                      </a:endParaRPr>
                    </a:p>
                  </a:txBody>
                  <a:tcPr marL="91425" marR="91425" marT="91425" marB="91425">
                    <a:solidFill>
                      <a:srgbClr val="C00000"/>
                    </a:solidFill>
                  </a:tcPr>
                </a:tc>
                <a:extLst>
                  <a:ext uri="{0D108BD9-81ED-4DB2-BD59-A6C34878D82A}">
                    <a16:rowId xmlns:a16="http://schemas.microsoft.com/office/drawing/2014/main" val="10004"/>
                  </a:ext>
                </a:extLst>
              </a:tr>
              <a:tr h="381000">
                <a:tc>
                  <a:txBody>
                    <a:bodyPr/>
                    <a:lstStyle/>
                    <a:p>
                      <a:pPr marL="0" lvl="0" indent="0" algn="ctr" rtl="0">
                        <a:spcBef>
                          <a:spcPts val="0"/>
                        </a:spcBef>
                        <a:spcAft>
                          <a:spcPts val="0"/>
                        </a:spcAft>
                        <a:buNone/>
                      </a:pPr>
                      <a:r>
                        <a:rPr lang="en" sz="1800" b="1" dirty="0">
                          <a:solidFill>
                            <a:schemeClr val="lt1"/>
                          </a:solidFill>
                        </a:rPr>
                        <a:t>AH</a:t>
                      </a:r>
                      <a:endParaRPr sz="1800" b="1" dirty="0">
                        <a:solidFill>
                          <a:schemeClr val="lt1"/>
                        </a:solidFill>
                      </a:endParaRPr>
                    </a:p>
                  </a:txBody>
                  <a:tcPr marL="91425" marR="91425" marT="91425" marB="91425">
                    <a:solidFill>
                      <a:srgbClr val="C00000"/>
                    </a:solidFill>
                  </a:tcPr>
                </a:tc>
                <a:extLst>
                  <a:ext uri="{0D108BD9-81ED-4DB2-BD59-A6C34878D82A}">
                    <a16:rowId xmlns:a16="http://schemas.microsoft.com/office/drawing/2014/main" val="10005"/>
                  </a:ext>
                </a:extLst>
              </a:tr>
              <a:tr h="381000">
                <a:tc>
                  <a:txBody>
                    <a:bodyPr/>
                    <a:lstStyle/>
                    <a:p>
                      <a:pPr marL="0" lvl="0" indent="0" algn="ctr" rtl="0">
                        <a:spcBef>
                          <a:spcPts val="0"/>
                        </a:spcBef>
                        <a:spcAft>
                          <a:spcPts val="0"/>
                        </a:spcAft>
                        <a:buNone/>
                      </a:pPr>
                      <a:r>
                        <a:rPr lang="en" sz="1800" b="1" dirty="0">
                          <a:solidFill>
                            <a:schemeClr val="lt1"/>
                          </a:solidFill>
                        </a:rPr>
                        <a:t>53</a:t>
                      </a:r>
                      <a:endParaRPr sz="1800" b="1" dirty="0">
                        <a:solidFill>
                          <a:schemeClr val="lt1"/>
                        </a:solidFill>
                      </a:endParaRPr>
                    </a:p>
                  </a:txBody>
                  <a:tcPr marL="91425" marR="91425" marT="91425" marB="91425">
                    <a:solidFill>
                      <a:srgbClr val="C00000"/>
                    </a:solidFill>
                  </a:tcPr>
                </a:tc>
                <a:extLst>
                  <a:ext uri="{0D108BD9-81ED-4DB2-BD59-A6C34878D82A}">
                    <a16:rowId xmlns:a16="http://schemas.microsoft.com/office/drawing/2014/main" val="10006"/>
                  </a:ext>
                </a:extLst>
              </a:tr>
              <a:tr h="381000">
                <a:tc>
                  <a:txBody>
                    <a:bodyPr/>
                    <a:lstStyle/>
                    <a:p>
                      <a:pPr marL="0" lvl="0" indent="0" algn="ctr" rtl="0">
                        <a:spcBef>
                          <a:spcPts val="0"/>
                        </a:spcBef>
                        <a:spcAft>
                          <a:spcPts val="0"/>
                        </a:spcAft>
                        <a:buNone/>
                      </a:pPr>
                      <a:r>
                        <a:rPr lang="en" sz="1800" b="1" dirty="0">
                          <a:solidFill>
                            <a:schemeClr val="lt1"/>
                          </a:solidFill>
                        </a:rPr>
                        <a:t>04</a:t>
                      </a:r>
                      <a:endParaRPr sz="1800" b="1" dirty="0">
                        <a:solidFill>
                          <a:schemeClr val="lt1"/>
                        </a:solidFill>
                      </a:endParaRPr>
                    </a:p>
                  </a:txBody>
                  <a:tcPr marL="91425" marR="91425" marT="91425" marB="91425">
                    <a:solidFill>
                      <a:srgbClr val="C00000"/>
                    </a:solidFill>
                  </a:tcPr>
                </a:tc>
                <a:extLst>
                  <a:ext uri="{0D108BD9-81ED-4DB2-BD59-A6C34878D82A}">
                    <a16:rowId xmlns:a16="http://schemas.microsoft.com/office/drawing/2014/main" val="10007"/>
                  </a:ext>
                </a:extLst>
              </a:tr>
            </a:tbl>
          </a:graphicData>
        </a:graphic>
      </p:graphicFrame>
      <p:sp>
        <p:nvSpPr>
          <p:cNvPr id="1232" name="Google Shape;1232;g2950e80dcb7_0_124"/>
          <p:cNvSpPr txBox="1"/>
          <p:nvPr/>
        </p:nvSpPr>
        <p:spPr>
          <a:xfrm>
            <a:off x="8594850" y="1249850"/>
            <a:ext cx="1868400" cy="514500"/>
          </a:xfrm>
          <a:prstGeom prst="rect">
            <a:avLst/>
          </a:prstGeom>
          <a:noFill/>
          <a:ln>
            <a:noFill/>
          </a:ln>
        </p:spPr>
        <p:txBody>
          <a:bodyPr spcFirstLastPara="1" wrap="square" lIns="91425" tIns="91425" rIns="91425" bIns="91425" anchor="t" anchorCtr="0">
            <a:noAutofit/>
          </a:bodyPr>
          <a:lstStyle/>
          <a:p>
            <a:pPr algn="ctr"/>
            <a:r>
              <a:rPr lang="en" sz="1900">
                <a:solidFill>
                  <a:srgbClr val="00C3B1"/>
                </a:solidFill>
                <a:latin typeface="Didact Gothic"/>
                <a:ea typeface="Didact Gothic"/>
                <a:cs typeface="Didact Gothic"/>
                <a:sym typeface="Didact Gothic"/>
              </a:rPr>
              <a:t>Stack cont.</a:t>
            </a:r>
            <a:endParaRPr sz="1900">
              <a:solidFill>
                <a:srgbClr val="00C3B1"/>
              </a:solidFill>
              <a:latin typeface="Didact Gothic"/>
              <a:ea typeface="Didact Gothic"/>
              <a:cs typeface="Didact Gothic"/>
              <a:sym typeface="Didact Gothic"/>
            </a:endParaRPr>
          </a:p>
        </p:txBody>
      </p:sp>
      <p:cxnSp>
        <p:nvCxnSpPr>
          <p:cNvPr id="1233" name="Google Shape;1233;g2950e80dcb7_0_124"/>
          <p:cNvCxnSpPr/>
          <p:nvPr/>
        </p:nvCxnSpPr>
        <p:spPr>
          <a:xfrm>
            <a:off x="2401800" y="4758324"/>
            <a:ext cx="661200" cy="0"/>
          </a:xfrm>
          <a:prstGeom prst="straightConnector1">
            <a:avLst/>
          </a:prstGeom>
          <a:noFill/>
          <a:ln w="28575" cap="flat" cmpd="sng">
            <a:solidFill>
              <a:srgbClr val="FF0000"/>
            </a:solidFill>
            <a:prstDash val="solid"/>
            <a:round/>
            <a:headEnd type="none" w="med" len="med"/>
            <a:tailEnd type="triangle" w="med" len="med"/>
          </a:ln>
        </p:spPr>
      </p:cxnSp>
      <p:graphicFrame>
        <p:nvGraphicFramePr>
          <p:cNvPr id="1234" name="Google Shape;1234;g2950e80dcb7_0_124"/>
          <p:cNvGraphicFramePr/>
          <p:nvPr>
            <p:extLst>
              <p:ext uri="{D42A27DB-BD31-4B8C-83A1-F6EECF244321}">
                <p14:modId xmlns:p14="http://schemas.microsoft.com/office/powerpoint/2010/main" val="1087832351"/>
              </p:ext>
            </p:extLst>
          </p:nvPr>
        </p:nvGraphicFramePr>
        <p:xfrm>
          <a:off x="9142600" y="1890138"/>
          <a:ext cx="917700" cy="3581190"/>
        </p:xfrm>
        <a:graphic>
          <a:graphicData uri="http://schemas.openxmlformats.org/drawingml/2006/table">
            <a:tbl>
              <a:tblPr>
                <a:noFill/>
              </a:tblPr>
              <a:tblGrid>
                <a:gridCol w="917700">
                  <a:extLst>
                    <a:ext uri="{9D8B030D-6E8A-4147-A177-3AD203B41FA5}">
                      <a16:colId xmlns:a16="http://schemas.microsoft.com/office/drawing/2014/main" val="20000"/>
                    </a:ext>
                  </a:extLst>
                </a:gridCol>
              </a:tblGrid>
              <a:tr h="381000">
                <a:tc>
                  <a:txBody>
                    <a:bodyPr/>
                    <a:lstStyle/>
                    <a:p>
                      <a:pPr marL="0" lvl="0" indent="0" algn="ctr" rtl="0">
                        <a:spcBef>
                          <a:spcPts val="0"/>
                        </a:spcBef>
                        <a:spcAft>
                          <a:spcPts val="0"/>
                        </a:spcAft>
                        <a:buNone/>
                      </a:pPr>
                      <a:endParaRPr sz="1800" b="1" dirty="0">
                        <a:solidFill>
                          <a:schemeClr val="dk1"/>
                        </a:solidFill>
                      </a:endParaRPr>
                    </a:p>
                  </a:txBody>
                  <a:tcPr marL="91425" marR="91425" marT="91425" marB="91425">
                    <a:solidFill>
                      <a:srgbClr val="C00000"/>
                    </a:solidFill>
                  </a:tcPr>
                </a:tc>
                <a:extLst>
                  <a:ext uri="{0D108BD9-81ED-4DB2-BD59-A6C34878D82A}">
                    <a16:rowId xmlns:a16="http://schemas.microsoft.com/office/drawing/2014/main" val="10000"/>
                  </a:ext>
                </a:extLst>
              </a:tr>
              <a:tr h="381000">
                <a:tc>
                  <a:txBody>
                    <a:bodyPr/>
                    <a:lstStyle/>
                    <a:p>
                      <a:pPr marL="0" lvl="0" indent="0" algn="ctr" rtl="0">
                        <a:spcBef>
                          <a:spcPts val="0"/>
                        </a:spcBef>
                        <a:spcAft>
                          <a:spcPts val="0"/>
                        </a:spcAft>
                        <a:buNone/>
                      </a:pPr>
                      <a:endParaRPr sz="500" b="1" dirty="0">
                        <a:solidFill>
                          <a:schemeClr val="dk1"/>
                        </a:solidFill>
                      </a:endParaRPr>
                    </a:p>
                  </a:txBody>
                  <a:tcPr marL="91425" marR="91425" marT="91425" marB="91425">
                    <a:lnB w="9525" cap="flat" cmpd="sng">
                      <a:solidFill>
                        <a:srgbClr val="9E9E9E"/>
                      </a:solidFill>
                      <a:prstDash val="solid"/>
                      <a:round/>
                      <a:headEnd type="none" w="sm" len="sm"/>
                      <a:tailEnd type="none" w="sm" len="sm"/>
                    </a:lnB>
                    <a:solidFill>
                      <a:srgbClr val="C00000"/>
                    </a:solidFill>
                  </a:tcPr>
                </a:tc>
                <a:extLst>
                  <a:ext uri="{0D108BD9-81ED-4DB2-BD59-A6C34878D82A}">
                    <a16:rowId xmlns:a16="http://schemas.microsoft.com/office/drawing/2014/main" val="10001"/>
                  </a:ext>
                </a:extLst>
              </a:tr>
              <a:tr h="381000">
                <a:tc>
                  <a:txBody>
                    <a:bodyPr/>
                    <a:lstStyle/>
                    <a:p>
                      <a:pPr marL="0" lvl="0" indent="0" algn="ctr" rtl="0">
                        <a:spcBef>
                          <a:spcPts val="0"/>
                        </a:spcBef>
                        <a:spcAft>
                          <a:spcPts val="0"/>
                        </a:spcAft>
                        <a:buNone/>
                      </a:pPr>
                      <a:r>
                        <a:rPr lang="en" sz="1800" b="1">
                          <a:solidFill>
                            <a:schemeClr val="lt1"/>
                          </a:solidFill>
                        </a:rPr>
                        <a:t>DI </a:t>
                      </a:r>
                      <a:r>
                        <a:rPr lang="en" sz="700">
                          <a:solidFill>
                            <a:schemeClr val="lt1"/>
                          </a:solidFill>
                        </a:rPr>
                        <a:t>(Lower)</a:t>
                      </a:r>
                      <a:endParaRPr sz="1800" b="1">
                        <a:solidFill>
                          <a:schemeClr val="lt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00000"/>
                    </a:solidFill>
                  </a:tcPr>
                </a:tc>
                <a:extLst>
                  <a:ext uri="{0D108BD9-81ED-4DB2-BD59-A6C34878D82A}">
                    <a16:rowId xmlns:a16="http://schemas.microsoft.com/office/drawing/2014/main" val="10002"/>
                  </a:ext>
                </a:extLst>
              </a:tr>
              <a:tr h="381000">
                <a:tc>
                  <a:txBody>
                    <a:bodyPr/>
                    <a:lstStyle/>
                    <a:p>
                      <a:pPr marL="0" lvl="0" indent="0" algn="ctr" rtl="0">
                        <a:spcBef>
                          <a:spcPts val="0"/>
                        </a:spcBef>
                        <a:spcAft>
                          <a:spcPts val="0"/>
                        </a:spcAft>
                        <a:buNone/>
                      </a:pPr>
                      <a:r>
                        <a:rPr lang="en" sz="1800" b="1" dirty="0">
                          <a:solidFill>
                            <a:schemeClr val="lt1"/>
                          </a:solidFill>
                        </a:rPr>
                        <a:t>DI </a:t>
                      </a:r>
                      <a:r>
                        <a:rPr lang="en" sz="700" dirty="0">
                          <a:solidFill>
                            <a:schemeClr val="lt1"/>
                          </a:solidFill>
                        </a:rPr>
                        <a:t>(Higher)</a:t>
                      </a:r>
                      <a:endParaRPr sz="700" b="1" dirty="0">
                        <a:solidFill>
                          <a:schemeClr val="lt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00000"/>
                    </a:solidFill>
                  </a:tcPr>
                </a:tc>
                <a:extLst>
                  <a:ext uri="{0D108BD9-81ED-4DB2-BD59-A6C34878D82A}">
                    <a16:rowId xmlns:a16="http://schemas.microsoft.com/office/drawing/2014/main" val="10003"/>
                  </a:ext>
                </a:extLst>
              </a:tr>
              <a:tr h="381000">
                <a:tc>
                  <a:txBody>
                    <a:bodyPr/>
                    <a:lstStyle/>
                    <a:p>
                      <a:pPr marL="0" lvl="0" indent="0" algn="ctr" rtl="0">
                        <a:spcBef>
                          <a:spcPts val="0"/>
                        </a:spcBef>
                        <a:spcAft>
                          <a:spcPts val="0"/>
                        </a:spcAft>
                        <a:buNone/>
                      </a:pPr>
                      <a:r>
                        <a:rPr lang="en" sz="1800" b="1" dirty="0">
                          <a:solidFill>
                            <a:schemeClr val="lt1"/>
                          </a:solidFill>
                        </a:rPr>
                        <a:t>SI </a:t>
                      </a:r>
                      <a:r>
                        <a:rPr lang="en" sz="700" dirty="0">
                          <a:solidFill>
                            <a:schemeClr val="lt1"/>
                          </a:solidFill>
                        </a:rPr>
                        <a:t>(Lower)</a:t>
                      </a:r>
                      <a:endParaRPr sz="1800" b="1" dirty="0">
                        <a:solidFill>
                          <a:schemeClr val="lt1"/>
                        </a:solidFill>
                      </a:endParaRPr>
                    </a:p>
                  </a:txBody>
                  <a:tcPr marL="91425" marR="91425" marT="91425" marB="91425">
                    <a:lnT w="9525" cap="flat" cmpd="sng">
                      <a:solidFill>
                        <a:srgbClr val="9E9E9E"/>
                      </a:solidFill>
                      <a:prstDash val="solid"/>
                      <a:round/>
                      <a:headEnd type="none" w="sm" len="sm"/>
                      <a:tailEnd type="none" w="sm" len="sm"/>
                    </a:lnT>
                    <a:solidFill>
                      <a:srgbClr val="C00000"/>
                    </a:solidFill>
                  </a:tcPr>
                </a:tc>
                <a:extLst>
                  <a:ext uri="{0D108BD9-81ED-4DB2-BD59-A6C34878D82A}">
                    <a16:rowId xmlns:a16="http://schemas.microsoft.com/office/drawing/2014/main" val="10004"/>
                  </a:ext>
                </a:extLst>
              </a:tr>
              <a:tr h="381000">
                <a:tc>
                  <a:txBody>
                    <a:bodyPr/>
                    <a:lstStyle/>
                    <a:p>
                      <a:pPr marL="0" lvl="0" indent="0" algn="ctr" rtl="0">
                        <a:spcBef>
                          <a:spcPts val="0"/>
                        </a:spcBef>
                        <a:spcAft>
                          <a:spcPts val="0"/>
                        </a:spcAft>
                        <a:buNone/>
                      </a:pPr>
                      <a:r>
                        <a:rPr lang="en" sz="1800" b="1" dirty="0">
                          <a:solidFill>
                            <a:schemeClr val="lt1"/>
                          </a:solidFill>
                        </a:rPr>
                        <a:t>SI </a:t>
                      </a:r>
                      <a:r>
                        <a:rPr lang="en" sz="700" dirty="0">
                          <a:solidFill>
                            <a:schemeClr val="lt1"/>
                          </a:solidFill>
                        </a:rPr>
                        <a:t>(Higher)</a:t>
                      </a:r>
                      <a:endParaRPr sz="700" dirty="0">
                        <a:solidFill>
                          <a:schemeClr val="lt1"/>
                        </a:solidFill>
                      </a:endParaRPr>
                    </a:p>
                  </a:txBody>
                  <a:tcPr marL="91425" marR="91425" marT="91425" marB="91425">
                    <a:solidFill>
                      <a:srgbClr val="C00000"/>
                    </a:solidFill>
                  </a:tcPr>
                </a:tc>
                <a:extLst>
                  <a:ext uri="{0D108BD9-81ED-4DB2-BD59-A6C34878D82A}">
                    <a16:rowId xmlns:a16="http://schemas.microsoft.com/office/drawing/2014/main" val="10005"/>
                  </a:ext>
                </a:extLst>
              </a:tr>
              <a:tr h="381000">
                <a:tc>
                  <a:txBody>
                    <a:bodyPr/>
                    <a:lstStyle/>
                    <a:p>
                      <a:pPr marL="0" lvl="0" indent="0" algn="ctr" rtl="0">
                        <a:spcBef>
                          <a:spcPts val="0"/>
                        </a:spcBef>
                        <a:spcAft>
                          <a:spcPts val="0"/>
                        </a:spcAft>
                        <a:buNone/>
                      </a:pPr>
                      <a:r>
                        <a:rPr lang="en" sz="1800" b="1" dirty="0">
                          <a:solidFill>
                            <a:schemeClr val="lt1"/>
                          </a:solidFill>
                        </a:rPr>
                        <a:t>DL</a:t>
                      </a:r>
                      <a:endParaRPr sz="1800" b="1" dirty="0">
                        <a:solidFill>
                          <a:schemeClr val="lt1"/>
                        </a:solidFill>
                      </a:endParaRPr>
                    </a:p>
                  </a:txBody>
                  <a:tcPr marL="91425" marR="91425" marT="91425" marB="91425">
                    <a:solidFill>
                      <a:srgbClr val="C00000"/>
                    </a:solidFill>
                  </a:tcPr>
                </a:tc>
                <a:extLst>
                  <a:ext uri="{0D108BD9-81ED-4DB2-BD59-A6C34878D82A}">
                    <a16:rowId xmlns:a16="http://schemas.microsoft.com/office/drawing/2014/main" val="10006"/>
                  </a:ext>
                </a:extLst>
              </a:tr>
              <a:tr h="381000">
                <a:tc>
                  <a:txBody>
                    <a:bodyPr/>
                    <a:lstStyle/>
                    <a:p>
                      <a:pPr marL="0" lvl="0" indent="0" algn="ctr" rtl="0">
                        <a:spcBef>
                          <a:spcPts val="0"/>
                        </a:spcBef>
                        <a:spcAft>
                          <a:spcPts val="0"/>
                        </a:spcAft>
                        <a:buNone/>
                      </a:pPr>
                      <a:r>
                        <a:rPr lang="en" sz="1800" b="1" dirty="0">
                          <a:solidFill>
                            <a:schemeClr val="lt1"/>
                          </a:solidFill>
                        </a:rPr>
                        <a:t>DH</a:t>
                      </a:r>
                      <a:endParaRPr sz="1800" b="1" dirty="0">
                        <a:solidFill>
                          <a:schemeClr val="lt1"/>
                        </a:solidFill>
                      </a:endParaRPr>
                    </a:p>
                  </a:txBody>
                  <a:tcPr marL="91425" marR="91425" marT="91425" marB="91425">
                    <a:solidFill>
                      <a:srgbClr val="C00000"/>
                    </a:solidFill>
                  </a:tcPr>
                </a:tc>
                <a:extLst>
                  <a:ext uri="{0D108BD9-81ED-4DB2-BD59-A6C34878D82A}">
                    <a16:rowId xmlns:a16="http://schemas.microsoft.com/office/drawing/2014/main" val="10007"/>
                  </a:ext>
                </a:extLst>
              </a:tr>
            </a:tbl>
          </a:graphicData>
        </a:graphic>
      </p:graphicFrame>
      <p:sp>
        <p:nvSpPr>
          <p:cNvPr id="2" name="Title 1">
            <a:extLst>
              <a:ext uri="{FF2B5EF4-FFF2-40B4-BE49-F238E27FC236}">
                <a16:creationId xmlns:a16="http://schemas.microsoft.com/office/drawing/2014/main" id="{3CFABA3E-B8DD-A8DA-7614-8E3E2F83BCC9}"/>
              </a:ext>
            </a:extLst>
          </p:cNvPr>
          <p:cNvSpPr txBox="1">
            <a:spLocks/>
          </p:cNvSpPr>
          <p:nvPr/>
        </p:nvSpPr>
        <p:spPr>
          <a:xfrm>
            <a:off x="646111" y="452718"/>
            <a:ext cx="9404723" cy="1400530"/>
          </a:xfrm>
          <a:prstGeom prst="rect">
            <a:avLst/>
          </a:prstGeom>
          <a:noFill/>
          <a:ln>
            <a:noFill/>
          </a:ln>
        </p:spPr>
        <p:txBody>
          <a:bodyPr spcFirstLastPara="1" vert="horz" wrap="square" lIns="91425" tIns="91425" rIns="91425" bIns="91425" rtlCol="0" anchor="ctr" anchorCtr="0">
            <a:noAutofit/>
          </a:bodyPr>
          <a:lstStyle>
            <a:lvl1pPr lvl="0" algn="l" defTabSz="457200" rtl="0" eaLnBrk="1" latinLnBrk="0" hangingPunct="1">
              <a:lnSpc>
                <a:spcPct val="100000"/>
              </a:lnSpc>
              <a:spcBef>
                <a:spcPts val="0"/>
              </a:spcBef>
              <a:spcAft>
                <a:spcPts val="0"/>
              </a:spcAft>
              <a:buSzPts val="3500"/>
              <a:buNone/>
              <a:defRPr sz="4200" b="0" i="0" kern="1200">
                <a:solidFill>
                  <a:schemeClr val="tx2"/>
                </a:solidFill>
                <a:latin typeface="+mj-lt"/>
                <a:ea typeface="+mj-ea"/>
                <a:cs typeface="+mj-cs"/>
              </a:defRPr>
            </a:lvl1pPr>
            <a:lvl2pPr lvl="1" algn="l" eaLnBrk="1" hangingPunct="1">
              <a:lnSpc>
                <a:spcPct val="100000"/>
              </a:lnSpc>
              <a:spcBef>
                <a:spcPts val="0"/>
              </a:spcBef>
              <a:spcAft>
                <a:spcPts val="0"/>
              </a:spcAft>
              <a:buSzPts val="3500"/>
              <a:buNone/>
              <a:defRPr>
                <a:solidFill>
                  <a:schemeClr val="tx2"/>
                </a:solidFill>
              </a:defRPr>
            </a:lvl2pPr>
            <a:lvl3pPr lvl="2" algn="l" eaLnBrk="1" hangingPunct="1">
              <a:lnSpc>
                <a:spcPct val="100000"/>
              </a:lnSpc>
              <a:spcBef>
                <a:spcPts val="0"/>
              </a:spcBef>
              <a:spcAft>
                <a:spcPts val="0"/>
              </a:spcAft>
              <a:buSzPts val="3500"/>
              <a:buNone/>
              <a:defRPr>
                <a:solidFill>
                  <a:schemeClr val="tx2"/>
                </a:solidFill>
              </a:defRPr>
            </a:lvl3pPr>
            <a:lvl4pPr lvl="3" algn="l" eaLnBrk="1" hangingPunct="1">
              <a:lnSpc>
                <a:spcPct val="100000"/>
              </a:lnSpc>
              <a:spcBef>
                <a:spcPts val="0"/>
              </a:spcBef>
              <a:spcAft>
                <a:spcPts val="0"/>
              </a:spcAft>
              <a:buSzPts val="3500"/>
              <a:buNone/>
              <a:defRPr>
                <a:solidFill>
                  <a:schemeClr val="tx2"/>
                </a:solidFill>
              </a:defRPr>
            </a:lvl4pPr>
            <a:lvl5pPr lvl="4" algn="l" eaLnBrk="1" hangingPunct="1">
              <a:lnSpc>
                <a:spcPct val="100000"/>
              </a:lnSpc>
              <a:spcBef>
                <a:spcPts val="0"/>
              </a:spcBef>
              <a:spcAft>
                <a:spcPts val="0"/>
              </a:spcAft>
              <a:buSzPts val="3500"/>
              <a:buNone/>
              <a:defRPr>
                <a:solidFill>
                  <a:schemeClr val="tx2"/>
                </a:solidFill>
              </a:defRPr>
            </a:lvl5pPr>
            <a:lvl6pPr lvl="5" algn="l" eaLnBrk="1" hangingPunct="1">
              <a:lnSpc>
                <a:spcPct val="100000"/>
              </a:lnSpc>
              <a:spcBef>
                <a:spcPts val="0"/>
              </a:spcBef>
              <a:spcAft>
                <a:spcPts val="0"/>
              </a:spcAft>
              <a:buSzPts val="3500"/>
              <a:buNone/>
              <a:defRPr>
                <a:solidFill>
                  <a:schemeClr val="tx2"/>
                </a:solidFill>
              </a:defRPr>
            </a:lvl6pPr>
            <a:lvl7pPr lvl="6" algn="l" eaLnBrk="1" hangingPunct="1">
              <a:lnSpc>
                <a:spcPct val="100000"/>
              </a:lnSpc>
              <a:spcBef>
                <a:spcPts val="0"/>
              </a:spcBef>
              <a:spcAft>
                <a:spcPts val="0"/>
              </a:spcAft>
              <a:buSzPts val="3500"/>
              <a:buNone/>
              <a:defRPr>
                <a:solidFill>
                  <a:schemeClr val="tx2"/>
                </a:solidFill>
              </a:defRPr>
            </a:lvl7pPr>
            <a:lvl8pPr lvl="7" algn="l" eaLnBrk="1" hangingPunct="1">
              <a:lnSpc>
                <a:spcPct val="100000"/>
              </a:lnSpc>
              <a:spcBef>
                <a:spcPts val="0"/>
              </a:spcBef>
              <a:spcAft>
                <a:spcPts val="0"/>
              </a:spcAft>
              <a:buSzPts val="3500"/>
              <a:buNone/>
              <a:defRPr>
                <a:solidFill>
                  <a:schemeClr val="tx2"/>
                </a:solidFill>
              </a:defRPr>
            </a:lvl8pPr>
            <a:lvl9pPr lvl="8" algn="l" eaLnBrk="1" hangingPunct="1">
              <a:lnSpc>
                <a:spcPct val="100000"/>
              </a:lnSpc>
              <a:spcBef>
                <a:spcPts val="0"/>
              </a:spcBef>
              <a:spcAft>
                <a:spcPts val="0"/>
              </a:spcAft>
              <a:buSzPts val="3500"/>
              <a:buNone/>
              <a:defRPr>
                <a:solidFill>
                  <a:schemeClr val="tx2"/>
                </a:solidFill>
              </a:defRPr>
            </a:lvl9pPr>
          </a:lstStyle>
          <a:p>
            <a:r>
              <a:rPr lang="en-US"/>
              <a:t>Problem 3</a:t>
            </a:r>
            <a:endParaRPr lang="en-US" dirty="0"/>
          </a:p>
        </p:txBody>
      </p:sp>
      <p:sp>
        <p:nvSpPr>
          <p:cNvPr id="3" name="Rectangle 2">
            <a:extLst>
              <a:ext uri="{FF2B5EF4-FFF2-40B4-BE49-F238E27FC236}">
                <a16:creationId xmlns:a16="http://schemas.microsoft.com/office/drawing/2014/main" id="{4B076615-4263-12C5-0983-DE5B322AC378}"/>
              </a:ext>
            </a:extLst>
          </p:cNvPr>
          <p:cNvSpPr/>
          <p:nvPr/>
        </p:nvSpPr>
        <p:spPr>
          <a:xfrm>
            <a:off x="6165800" y="5723751"/>
            <a:ext cx="2325949" cy="331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Top of Memory</a:t>
            </a:r>
          </a:p>
        </p:txBody>
      </p:sp>
      <p:sp>
        <p:nvSpPr>
          <p:cNvPr id="4" name="Rectangle 3">
            <a:extLst>
              <a:ext uri="{FF2B5EF4-FFF2-40B4-BE49-F238E27FC236}">
                <a16:creationId xmlns:a16="http://schemas.microsoft.com/office/drawing/2014/main" id="{ECCBA75F-352A-3096-E603-229E4D9E92E3}"/>
              </a:ext>
            </a:extLst>
          </p:cNvPr>
          <p:cNvSpPr/>
          <p:nvPr/>
        </p:nvSpPr>
        <p:spPr>
          <a:xfrm>
            <a:off x="7979625" y="830849"/>
            <a:ext cx="2325949" cy="331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Bottom of Memory</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238"/>
        <p:cNvGrpSpPr/>
        <p:nvPr/>
      </p:nvGrpSpPr>
      <p:grpSpPr>
        <a:xfrm>
          <a:off x="0" y="0"/>
          <a:ext cx="0" cy="0"/>
          <a:chOff x="0" y="0"/>
          <a:chExt cx="0" cy="0"/>
        </a:xfrm>
      </p:grpSpPr>
      <p:pic>
        <p:nvPicPr>
          <p:cNvPr id="1240" name="Google Shape;1240;g2950e80dcb7_0_136"/>
          <p:cNvPicPr preferRelativeResize="0"/>
          <p:nvPr/>
        </p:nvPicPr>
        <p:blipFill>
          <a:blip r:embed="rId3">
            <a:alphaModFix/>
          </a:blip>
          <a:stretch>
            <a:fillRect/>
          </a:stretch>
        </p:blipFill>
        <p:spPr>
          <a:xfrm>
            <a:off x="2286002" y="2062352"/>
            <a:ext cx="2497975" cy="3312775"/>
          </a:xfrm>
          <a:prstGeom prst="rect">
            <a:avLst/>
          </a:prstGeom>
          <a:noFill/>
          <a:ln>
            <a:noFill/>
          </a:ln>
        </p:spPr>
      </p:pic>
      <p:sp>
        <p:nvSpPr>
          <p:cNvPr id="1241" name="Google Shape;1241;g2950e80dcb7_0_136"/>
          <p:cNvSpPr txBox="1"/>
          <p:nvPr/>
        </p:nvSpPr>
        <p:spPr>
          <a:xfrm>
            <a:off x="6313325" y="1249850"/>
            <a:ext cx="1868400" cy="514500"/>
          </a:xfrm>
          <a:prstGeom prst="rect">
            <a:avLst/>
          </a:prstGeom>
          <a:noFill/>
          <a:ln>
            <a:noFill/>
          </a:ln>
        </p:spPr>
        <p:txBody>
          <a:bodyPr spcFirstLastPara="1" wrap="square" lIns="91425" tIns="91425" rIns="91425" bIns="91425" anchor="t" anchorCtr="0">
            <a:noAutofit/>
          </a:bodyPr>
          <a:lstStyle/>
          <a:p>
            <a:pPr algn="ctr"/>
            <a:r>
              <a:rPr lang="en" sz="1900">
                <a:solidFill>
                  <a:srgbClr val="00C3B1"/>
                </a:solidFill>
                <a:latin typeface="Didact Gothic"/>
                <a:ea typeface="Didact Gothic"/>
                <a:cs typeface="Didact Gothic"/>
                <a:sym typeface="Didact Gothic"/>
              </a:rPr>
              <a:t>Stack</a:t>
            </a:r>
            <a:endParaRPr sz="1900">
              <a:solidFill>
                <a:srgbClr val="00C3B1"/>
              </a:solidFill>
              <a:latin typeface="Didact Gothic"/>
              <a:ea typeface="Didact Gothic"/>
              <a:cs typeface="Didact Gothic"/>
              <a:sym typeface="Didact Gothic"/>
            </a:endParaRPr>
          </a:p>
        </p:txBody>
      </p:sp>
      <p:sp>
        <p:nvSpPr>
          <p:cNvPr id="1242" name="Google Shape;1242;g2950e80dcb7_0_136"/>
          <p:cNvSpPr txBox="1"/>
          <p:nvPr/>
        </p:nvSpPr>
        <p:spPr>
          <a:xfrm>
            <a:off x="7748450" y="1476500"/>
            <a:ext cx="1280700" cy="378000"/>
          </a:xfrm>
          <a:prstGeom prst="rect">
            <a:avLst/>
          </a:prstGeom>
          <a:noFill/>
          <a:ln>
            <a:noFill/>
          </a:ln>
        </p:spPr>
        <p:txBody>
          <a:bodyPr spcFirstLastPara="1" wrap="square" lIns="91425" tIns="91425" rIns="91425" bIns="91425" anchor="t" anchorCtr="0">
            <a:noAutofit/>
          </a:bodyPr>
          <a:lstStyle/>
          <a:p>
            <a:r>
              <a:rPr lang="en">
                <a:solidFill>
                  <a:schemeClr val="lt1"/>
                </a:solidFill>
                <a:latin typeface="Didact Gothic"/>
                <a:ea typeface="Didact Gothic"/>
                <a:cs typeface="Didact Gothic"/>
                <a:sym typeface="Didact Gothic"/>
              </a:rPr>
              <a:t>SP = 1278H</a:t>
            </a:r>
            <a:endParaRPr>
              <a:solidFill>
                <a:schemeClr val="lt1"/>
              </a:solidFill>
              <a:latin typeface="Didact Gothic"/>
              <a:ea typeface="Didact Gothic"/>
              <a:cs typeface="Didact Gothic"/>
              <a:sym typeface="Didact Gothic"/>
            </a:endParaRPr>
          </a:p>
        </p:txBody>
      </p:sp>
      <p:cxnSp>
        <p:nvCxnSpPr>
          <p:cNvPr id="1243" name="Google Shape;1243;g2950e80dcb7_0_136"/>
          <p:cNvCxnSpPr/>
          <p:nvPr/>
        </p:nvCxnSpPr>
        <p:spPr>
          <a:xfrm>
            <a:off x="7779950" y="1875375"/>
            <a:ext cx="1343700" cy="10500"/>
          </a:xfrm>
          <a:prstGeom prst="straightConnector1">
            <a:avLst/>
          </a:prstGeom>
          <a:noFill/>
          <a:ln w="19050" cap="flat" cmpd="sng">
            <a:solidFill>
              <a:srgbClr val="FF0000"/>
            </a:solidFill>
            <a:prstDash val="solid"/>
            <a:round/>
            <a:headEnd type="none" w="med" len="med"/>
            <a:tailEnd type="triangle" w="med" len="med"/>
          </a:ln>
        </p:spPr>
      </p:cxnSp>
      <p:graphicFrame>
        <p:nvGraphicFramePr>
          <p:cNvPr id="1244" name="Google Shape;1244;g2950e80dcb7_0_136"/>
          <p:cNvGraphicFramePr/>
          <p:nvPr>
            <p:extLst>
              <p:ext uri="{D42A27DB-BD31-4B8C-83A1-F6EECF244321}">
                <p14:modId xmlns:p14="http://schemas.microsoft.com/office/powerpoint/2010/main" val="2519156212"/>
              </p:ext>
            </p:extLst>
          </p:nvPr>
        </p:nvGraphicFramePr>
        <p:xfrm>
          <a:off x="6861075" y="1890125"/>
          <a:ext cx="772900" cy="3657360"/>
        </p:xfrm>
        <a:graphic>
          <a:graphicData uri="http://schemas.openxmlformats.org/drawingml/2006/table">
            <a:tbl>
              <a:tblPr>
                <a:noFill/>
              </a:tblPr>
              <a:tblGrid>
                <a:gridCol w="772900">
                  <a:extLst>
                    <a:ext uri="{9D8B030D-6E8A-4147-A177-3AD203B41FA5}">
                      <a16:colId xmlns:a16="http://schemas.microsoft.com/office/drawing/2014/main" val="20000"/>
                    </a:ext>
                  </a:extLst>
                </a:gridCol>
              </a:tblGrid>
              <a:tr h="381000">
                <a:tc>
                  <a:txBody>
                    <a:bodyPr/>
                    <a:lstStyle/>
                    <a:p>
                      <a:pPr marL="0" lvl="0" indent="0" algn="ctr" rtl="0">
                        <a:spcBef>
                          <a:spcPts val="0"/>
                        </a:spcBef>
                        <a:spcAft>
                          <a:spcPts val="0"/>
                        </a:spcAft>
                        <a:buNone/>
                      </a:pPr>
                      <a:r>
                        <a:rPr lang="en" sz="1800" b="1" dirty="0">
                          <a:solidFill>
                            <a:schemeClr val="lt1"/>
                          </a:solidFill>
                        </a:rPr>
                        <a:t>CL</a:t>
                      </a:r>
                      <a:endParaRPr sz="1800" b="1" dirty="0">
                        <a:solidFill>
                          <a:schemeClr val="lt1"/>
                        </a:solidFill>
                      </a:endParaRPr>
                    </a:p>
                  </a:txBody>
                  <a:tcPr marL="91425" marR="91425" marT="91425" marB="91425">
                    <a:solidFill>
                      <a:srgbClr val="C00000"/>
                    </a:solidFill>
                  </a:tcPr>
                </a:tc>
                <a:extLst>
                  <a:ext uri="{0D108BD9-81ED-4DB2-BD59-A6C34878D82A}">
                    <a16:rowId xmlns:a16="http://schemas.microsoft.com/office/drawing/2014/main" val="10000"/>
                  </a:ext>
                </a:extLst>
              </a:tr>
              <a:tr h="381000">
                <a:tc>
                  <a:txBody>
                    <a:bodyPr/>
                    <a:lstStyle/>
                    <a:p>
                      <a:pPr marL="0" lvl="0" indent="0" algn="ctr" rtl="0">
                        <a:spcBef>
                          <a:spcPts val="0"/>
                        </a:spcBef>
                        <a:spcAft>
                          <a:spcPts val="0"/>
                        </a:spcAft>
                        <a:buNone/>
                      </a:pPr>
                      <a:r>
                        <a:rPr lang="en" sz="1800" b="1" dirty="0">
                          <a:solidFill>
                            <a:schemeClr val="lt1"/>
                          </a:solidFill>
                        </a:rPr>
                        <a:t>CH</a:t>
                      </a:r>
                      <a:endParaRPr sz="1800" b="1" dirty="0">
                        <a:solidFill>
                          <a:schemeClr val="lt1"/>
                        </a:solidFill>
                      </a:endParaRPr>
                    </a:p>
                  </a:txBody>
                  <a:tcPr marL="91425" marR="91425" marT="91425" marB="91425">
                    <a:solidFill>
                      <a:srgbClr val="C00000"/>
                    </a:solidFill>
                  </a:tcPr>
                </a:tc>
                <a:extLst>
                  <a:ext uri="{0D108BD9-81ED-4DB2-BD59-A6C34878D82A}">
                    <a16:rowId xmlns:a16="http://schemas.microsoft.com/office/drawing/2014/main" val="10001"/>
                  </a:ext>
                </a:extLst>
              </a:tr>
              <a:tr h="381000">
                <a:tc>
                  <a:txBody>
                    <a:bodyPr/>
                    <a:lstStyle/>
                    <a:p>
                      <a:pPr marL="0" lvl="0" indent="0" algn="ctr" rtl="0">
                        <a:spcBef>
                          <a:spcPts val="0"/>
                        </a:spcBef>
                        <a:spcAft>
                          <a:spcPts val="0"/>
                        </a:spcAft>
                        <a:buNone/>
                      </a:pPr>
                      <a:r>
                        <a:rPr lang="en" sz="1800" b="1">
                          <a:solidFill>
                            <a:schemeClr val="lt1"/>
                          </a:solidFill>
                        </a:rPr>
                        <a:t>BL</a:t>
                      </a:r>
                      <a:endParaRPr sz="1800" b="1">
                        <a:solidFill>
                          <a:schemeClr val="lt1"/>
                        </a:solidFill>
                      </a:endParaRPr>
                    </a:p>
                  </a:txBody>
                  <a:tcPr marL="91425" marR="91425" marT="91425" marB="91425">
                    <a:solidFill>
                      <a:srgbClr val="C00000"/>
                    </a:solidFill>
                  </a:tcPr>
                </a:tc>
                <a:extLst>
                  <a:ext uri="{0D108BD9-81ED-4DB2-BD59-A6C34878D82A}">
                    <a16:rowId xmlns:a16="http://schemas.microsoft.com/office/drawing/2014/main" val="10002"/>
                  </a:ext>
                </a:extLst>
              </a:tr>
              <a:tr h="381000">
                <a:tc>
                  <a:txBody>
                    <a:bodyPr/>
                    <a:lstStyle/>
                    <a:p>
                      <a:pPr marL="0" lvl="0" indent="0" algn="ctr" rtl="0">
                        <a:spcBef>
                          <a:spcPts val="0"/>
                        </a:spcBef>
                        <a:spcAft>
                          <a:spcPts val="0"/>
                        </a:spcAft>
                        <a:buNone/>
                      </a:pPr>
                      <a:r>
                        <a:rPr lang="en" sz="1800" b="1">
                          <a:solidFill>
                            <a:schemeClr val="lt1"/>
                          </a:solidFill>
                        </a:rPr>
                        <a:t>BH</a:t>
                      </a:r>
                      <a:endParaRPr sz="1800" b="1">
                        <a:solidFill>
                          <a:schemeClr val="lt1"/>
                        </a:solidFill>
                      </a:endParaRPr>
                    </a:p>
                  </a:txBody>
                  <a:tcPr marL="91425" marR="91425" marT="91425" marB="91425">
                    <a:solidFill>
                      <a:srgbClr val="C00000"/>
                    </a:solidFill>
                  </a:tcPr>
                </a:tc>
                <a:extLst>
                  <a:ext uri="{0D108BD9-81ED-4DB2-BD59-A6C34878D82A}">
                    <a16:rowId xmlns:a16="http://schemas.microsoft.com/office/drawing/2014/main" val="10003"/>
                  </a:ext>
                </a:extLst>
              </a:tr>
              <a:tr h="381000">
                <a:tc>
                  <a:txBody>
                    <a:bodyPr/>
                    <a:lstStyle/>
                    <a:p>
                      <a:pPr marL="0" lvl="0" indent="0" algn="ctr" rtl="0">
                        <a:spcBef>
                          <a:spcPts val="0"/>
                        </a:spcBef>
                        <a:spcAft>
                          <a:spcPts val="0"/>
                        </a:spcAft>
                        <a:buNone/>
                      </a:pPr>
                      <a:r>
                        <a:rPr lang="en" sz="1800" b="1" dirty="0">
                          <a:solidFill>
                            <a:schemeClr val="lt1"/>
                          </a:solidFill>
                        </a:rPr>
                        <a:t>AL</a:t>
                      </a:r>
                      <a:endParaRPr sz="1800" b="1" dirty="0">
                        <a:solidFill>
                          <a:schemeClr val="lt1"/>
                        </a:solidFill>
                      </a:endParaRPr>
                    </a:p>
                  </a:txBody>
                  <a:tcPr marL="91425" marR="91425" marT="91425" marB="91425">
                    <a:solidFill>
                      <a:srgbClr val="C00000"/>
                    </a:solidFill>
                  </a:tcPr>
                </a:tc>
                <a:extLst>
                  <a:ext uri="{0D108BD9-81ED-4DB2-BD59-A6C34878D82A}">
                    <a16:rowId xmlns:a16="http://schemas.microsoft.com/office/drawing/2014/main" val="10004"/>
                  </a:ext>
                </a:extLst>
              </a:tr>
              <a:tr h="381000">
                <a:tc>
                  <a:txBody>
                    <a:bodyPr/>
                    <a:lstStyle/>
                    <a:p>
                      <a:pPr marL="0" lvl="0" indent="0" algn="ctr" rtl="0">
                        <a:spcBef>
                          <a:spcPts val="0"/>
                        </a:spcBef>
                        <a:spcAft>
                          <a:spcPts val="0"/>
                        </a:spcAft>
                        <a:buNone/>
                      </a:pPr>
                      <a:r>
                        <a:rPr lang="en" sz="1800" b="1" dirty="0">
                          <a:solidFill>
                            <a:schemeClr val="lt1"/>
                          </a:solidFill>
                        </a:rPr>
                        <a:t>AH</a:t>
                      </a:r>
                      <a:endParaRPr sz="1800" b="1" dirty="0">
                        <a:solidFill>
                          <a:schemeClr val="lt1"/>
                        </a:solidFill>
                      </a:endParaRPr>
                    </a:p>
                  </a:txBody>
                  <a:tcPr marL="91425" marR="91425" marT="91425" marB="91425">
                    <a:solidFill>
                      <a:srgbClr val="C00000"/>
                    </a:solidFill>
                  </a:tcPr>
                </a:tc>
                <a:extLst>
                  <a:ext uri="{0D108BD9-81ED-4DB2-BD59-A6C34878D82A}">
                    <a16:rowId xmlns:a16="http://schemas.microsoft.com/office/drawing/2014/main" val="10005"/>
                  </a:ext>
                </a:extLst>
              </a:tr>
              <a:tr h="381000">
                <a:tc>
                  <a:txBody>
                    <a:bodyPr/>
                    <a:lstStyle/>
                    <a:p>
                      <a:pPr marL="0" lvl="0" indent="0" algn="ctr" rtl="0">
                        <a:spcBef>
                          <a:spcPts val="0"/>
                        </a:spcBef>
                        <a:spcAft>
                          <a:spcPts val="0"/>
                        </a:spcAft>
                        <a:buNone/>
                      </a:pPr>
                      <a:r>
                        <a:rPr lang="en" sz="1800" b="1" dirty="0">
                          <a:solidFill>
                            <a:schemeClr val="lt1"/>
                          </a:solidFill>
                        </a:rPr>
                        <a:t>53</a:t>
                      </a:r>
                      <a:endParaRPr sz="1800" b="1" dirty="0">
                        <a:solidFill>
                          <a:schemeClr val="lt1"/>
                        </a:solidFill>
                      </a:endParaRPr>
                    </a:p>
                  </a:txBody>
                  <a:tcPr marL="91425" marR="91425" marT="91425" marB="91425">
                    <a:solidFill>
                      <a:srgbClr val="C00000"/>
                    </a:solidFill>
                  </a:tcPr>
                </a:tc>
                <a:extLst>
                  <a:ext uri="{0D108BD9-81ED-4DB2-BD59-A6C34878D82A}">
                    <a16:rowId xmlns:a16="http://schemas.microsoft.com/office/drawing/2014/main" val="10006"/>
                  </a:ext>
                </a:extLst>
              </a:tr>
              <a:tr h="381000">
                <a:tc>
                  <a:txBody>
                    <a:bodyPr/>
                    <a:lstStyle/>
                    <a:p>
                      <a:pPr marL="0" lvl="0" indent="0" algn="ctr" rtl="0">
                        <a:spcBef>
                          <a:spcPts val="0"/>
                        </a:spcBef>
                        <a:spcAft>
                          <a:spcPts val="0"/>
                        </a:spcAft>
                        <a:buNone/>
                      </a:pPr>
                      <a:r>
                        <a:rPr lang="en" sz="1800" b="1" dirty="0">
                          <a:solidFill>
                            <a:schemeClr val="lt1"/>
                          </a:solidFill>
                        </a:rPr>
                        <a:t>04</a:t>
                      </a:r>
                      <a:endParaRPr sz="1800" b="1" dirty="0">
                        <a:solidFill>
                          <a:schemeClr val="lt1"/>
                        </a:solidFill>
                      </a:endParaRPr>
                    </a:p>
                  </a:txBody>
                  <a:tcPr marL="91425" marR="91425" marT="91425" marB="91425">
                    <a:solidFill>
                      <a:srgbClr val="C00000"/>
                    </a:solidFill>
                  </a:tcPr>
                </a:tc>
                <a:extLst>
                  <a:ext uri="{0D108BD9-81ED-4DB2-BD59-A6C34878D82A}">
                    <a16:rowId xmlns:a16="http://schemas.microsoft.com/office/drawing/2014/main" val="10007"/>
                  </a:ext>
                </a:extLst>
              </a:tr>
            </a:tbl>
          </a:graphicData>
        </a:graphic>
      </p:graphicFrame>
      <p:graphicFrame>
        <p:nvGraphicFramePr>
          <p:cNvPr id="1245" name="Google Shape;1245;g2950e80dcb7_0_136"/>
          <p:cNvGraphicFramePr/>
          <p:nvPr>
            <p:extLst>
              <p:ext uri="{D42A27DB-BD31-4B8C-83A1-F6EECF244321}">
                <p14:modId xmlns:p14="http://schemas.microsoft.com/office/powerpoint/2010/main" val="4117254743"/>
              </p:ext>
            </p:extLst>
          </p:nvPr>
        </p:nvGraphicFramePr>
        <p:xfrm>
          <a:off x="9142600" y="1890138"/>
          <a:ext cx="917700" cy="3657360"/>
        </p:xfrm>
        <a:graphic>
          <a:graphicData uri="http://schemas.openxmlformats.org/drawingml/2006/table">
            <a:tbl>
              <a:tblPr>
                <a:noFill/>
              </a:tblPr>
              <a:tblGrid>
                <a:gridCol w="917700">
                  <a:extLst>
                    <a:ext uri="{9D8B030D-6E8A-4147-A177-3AD203B41FA5}">
                      <a16:colId xmlns:a16="http://schemas.microsoft.com/office/drawing/2014/main" val="20000"/>
                    </a:ext>
                  </a:extLst>
                </a:gridCol>
              </a:tblGrid>
              <a:tr h="381000">
                <a:tc>
                  <a:txBody>
                    <a:bodyPr/>
                    <a:lstStyle/>
                    <a:p>
                      <a:pPr marL="0" lvl="0" indent="0" algn="ctr" rtl="0">
                        <a:spcBef>
                          <a:spcPts val="0"/>
                        </a:spcBef>
                        <a:spcAft>
                          <a:spcPts val="0"/>
                        </a:spcAft>
                        <a:buNone/>
                      </a:pPr>
                      <a:r>
                        <a:rPr lang="en" sz="1300" b="1" dirty="0">
                          <a:solidFill>
                            <a:schemeClr val="lt1"/>
                          </a:solidFill>
                        </a:rPr>
                        <a:t>FLAGS </a:t>
                      </a:r>
                      <a:r>
                        <a:rPr lang="en" sz="500" b="1" dirty="0">
                          <a:solidFill>
                            <a:schemeClr val="lt1"/>
                          </a:solidFill>
                        </a:rPr>
                        <a:t>(Lower Byte)</a:t>
                      </a:r>
                      <a:endParaRPr sz="1800" b="1" dirty="0">
                        <a:solidFill>
                          <a:schemeClr val="lt1"/>
                        </a:solidFill>
                      </a:endParaRPr>
                    </a:p>
                  </a:txBody>
                  <a:tcPr marL="91425" marR="91425" marT="91425" marB="91425">
                    <a:solidFill>
                      <a:srgbClr val="C00000"/>
                    </a:solidFill>
                  </a:tcPr>
                </a:tc>
                <a:extLst>
                  <a:ext uri="{0D108BD9-81ED-4DB2-BD59-A6C34878D82A}">
                    <a16:rowId xmlns:a16="http://schemas.microsoft.com/office/drawing/2014/main" val="10000"/>
                  </a:ext>
                </a:extLst>
              </a:tr>
              <a:tr h="381000">
                <a:tc>
                  <a:txBody>
                    <a:bodyPr/>
                    <a:lstStyle/>
                    <a:p>
                      <a:pPr marL="0" lvl="0" indent="0" algn="ctr" rtl="0">
                        <a:spcBef>
                          <a:spcPts val="0"/>
                        </a:spcBef>
                        <a:spcAft>
                          <a:spcPts val="0"/>
                        </a:spcAft>
                        <a:buNone/>
                      </a:pPr>
                      <a:r>
                        <a:rPr lang="en" sz="1300" b="1" dirty="0">
                          <a:solidFill>
                            <a:schemeClr val="lt1"/>
                          </a:solidFill>
                        </a:rPr>
                        <a:t>FLAGS </a:t>
                      </a:r>
                      <a:r>
                        <a:rPr lang="en" sz="500" b="1" dirty="0">
                          <a:solidFill>
                            <a:schemeClr val="lt1"/>
                          </a:solidFill>
                        </a:rPr>
                        <a:t>(Higher Byte)</a:t>
                      </a:r>
                      <a:endParaRPr sz="500" b="1" dirty="0">
                        <a:solidFill>
                          <a:schemeClr val="lt1"/>
                        </a:solidFill>
                      </a:endParaRPr>
                    </a:p>
                  </a:txBody>
                  <a:tcPr marL="91425" marR="91425" marT="91425" marB="91425">
                    <a:lnB w="9525" cap="flat" cmpd="sng">
                      <a:solidFill>
                        <a:srgbClr val="9E9E9E"/>
                      </a:solidFill>
                      <a:prstDash val="solid"/>
                      <a:round/>
                      <a:headEnd type="none" w="sm" len="sm"/>
                      <a:tailEnd type="none" w="sm" len="sm"/>
                    </a:lnB>
                    <a:solidFill>
                      <a:srgbClr val="C00000"/>
                    </a:solidFill>
                  </a:tcPr>
                </a:tc>
                <a:extLst>
                  <a:ext uri="{0D108BD9-81ED-4DB2-BD59-A6C34878D82A}">
                    <a16:rowId xmlns:a16="http://schemas.microsoft.com/office/drawing/2014/main" val="10001"/>
                  </a:ext>
                </a:extLst>
              </a:tr>
              <a:tr h="381000">
                <a:tc>
                  <a:txBody>
                    <a:bodyPr/>
                    <a:lstStyle/>
                    <a:p>
                      <a:pPr marL="0" lvl="0" indent="0" algn="ctr" rtl="0">
                        <a:spcBef>
                          <a:spcPts val="0"/>
                        </a:spcBef>
                        <a:spcAft>
                          <a:spcPts val="0"/>
                        </a:spcAft>
                        <a:buNone/>
                      </a:pPr>
                      <a:r>
                        <a:rPr lang="en" sz="1800" b="1">
                          <a:solidFill>
                            <a:schemeClr val="lt1"/>
                          </a:solidFill>
                        </a:rPr>
                        <a:t>DI </a:t>
                      </a:r>
                      <a:r>
                        <a:rPr lang="en" sz="700">
                          <a:solidFill>
                            <a:schemeClr val="lt1"/>
                          </a:solidFill>
                        </a:rPr>
                        <a:t>(Lower)</a:t>
                      </a:r>
                      <a:endParaRPr sz="1800" b="1">
                        <a:solidFill>
                          <a:schemeClr val="lt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00000"/>
                    </a:solidFill>
                  </a:tcPr>
                </a:tc>
                <a:extLst>
                  <a:ext uri="{0D108BD9-81ED-4DB2-BD59-A6C34878D82A}">
                    <a16:rowId xmlns:a16="http://schemas.microsoft.com/office/drawing/2014/main" val="10002"/>
                  </a:ext>
                </a:extLst>
              </a:tr>
              <a:tr h="381000">
                <a:tc>
                  <a:txBody>
                    <a:bodyPr/>
                    <a:lstStyle/>
                    <a:p>
                      <a:pPr marL="0" lvl="0" indent="0" algn="ctr" rtl="0">
                        <a:spcBef>
                          <a:spcPts val="0"/>
                        </a:spcBef>
                        <a:spcAft>
                          <a:spcPts val="0"/>
                        </a:spcAft>
                        <a:buNone/>
                      </a:pPr>
                      <a:r>
                        <a:rPr lang="en" sz="1800" b="1" dirty="0">
                          <a:solidFill>
                            <a:schemeClr val="lt1"/>
                          </a:solidFill>
                        </a:rPr>
                        <a:t>DI </a:t>
                      </a:r>
                      <a:r>
                        <a:rPr lang="en" sz="700" dirty="0">
                          <a:solidFill>
                            <a:schemeClr val="lt1"/>
                          </a:solidFill>
                        </a:rPr>
                        <a:t>(Higher)</a:t>
                      </a:r>
                      <a:endParaRPr sz="700" b="1" dirty="0">
                        <a:solidFill>
                          <a:schemeClr val="lt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00000"/>
                    </a:solidFill>
                  </a:tcPr>
                </a:tc>
                <a:extLst>
                  <a:ext uri="{0D108BD9-81ED-4DB2-BD59-A6C34878D82A}">
                    <a16:rowId xmlns:a16="http://schemas.microsoft.com/office/drawing/2014/main" val="10003"/>
                  </a:ext>
                </a:extLst>
              </a:tr>
              <a:tr h="381000">
                <a:tc>
                  <a:txBody>
                    <a:bodyPr/>
                    <a:lstStyle/>
                    <a:p>
                      <a:pPr marL="0" lvl="0" indent="0" algn="ctr" rtl="0">
                        <a:spcBef>
                          <a:spcPts val="0"/>
                        </a:spcBef>
                        <a:spcAft>
                          <a:spcPts val="0"/>
                        </a:spcAft>
                        <a:buNone/>
                      </a:pPr>
                      <a:r>
                        <a:rPr lang="en" sz="1800" b="1" dirty="0">
                          <a:solidFill>
                            <a:schemeClr val="lt1"/>
                          </a:solidFill>
                        </a:rPr>
                        <a:t>SI </a:t>
                      </a:r>
                      <a:r>
                        <a:rPr lang="en" sz="700" dirty="0">
                          <a:solidFill>
                            <a:schemeClr val="lt1"/>
                          </a:solidFill>
                        </a:rPr>
                        <a:t>(Lower)</a:t>
                      </a:r>
                      <a:endParaRPr sz="1800" b="1" dirty="0">
                        <a:solidFill>
                          <a:schemeClr val="lt1"/>
                        </a:solidFill>
                      </a:endParaRPr>
                    </a:p>
                  </a:txBody>
                  <a:tcPr marL="91425" marR="91425" marT="91425" marB="91425">
                    <a:lnT w="9525" cap="flat" cmpd="sng">
                      <a:solidFill>
                        <a:srgbClr val="9E9E9E"/>
                      </a:solidFill>
                      <a:prstDash val="solid"/>
                      <a:round/>
                      <a:headEnd type="none" w="sm" len="sm"/>
                      <a:tailEnd type="none" w="sm" len="sm"/>
                    </a:lnT>
                    <a:solidFill>
                      <a:srgbClr val="C00000"/>
                    </a:solidFill>
                  </a:tcPr>
                </a:tc>
                <a:extLst>
                  <a:ext uri="{0D108BD9-81ED-4DB2-BD59-A6C34878D82A}">
                    <a16:rowId xmlns:a16="http://schemas.microsoft.com/office/drawing/2014/main" val="10004"/>
                  </a:ext>
                </a:extLst>
              </a:tr>
              <a:tr h="381000">
                <a:tc>
                  <a:txBody>
                    <a:bodyPr/>
                    <a:lstStyle/>
                    <a:p>
                      <a:pPr marL="0" lvl="0" indent="0" algn="ctr" rtl="0">
                        <a:spcBef>
                          <a:spcPts val="0"/>
                        </a:spcBef>
                        <a:spcAft>
                          <a:spcPts val="0"/>
                        </a:spcAft>
                        <a:buNone/>
                      </a:pPr>
                      <a:r>
                        <a:rPr lang="en" sz="1800" b="1" dirty="0">
                          <a:solidFill>
                            <a:schemeClr val="lt1"/>
                          </a:solidFill>
                        </a:rPr>
                        <a:t>SI </a:t>
                      </a:r>
                      <a:r>
                        <a:rPr lang="en" sz="700" dirty="0">
                          <a:solidFill>
                            <a:schemeClr val="lt1"/>
                          </a:solidFill>
                        </a:rPr>
                        <a:t>(Higher)</a:t>
                      </a:r>
                      <a:endParaRPr sz="700" dirty="0">
                        <a:solidFill>
                          <a:schemeClr val="lt1"/>
                        </a:solidFill>
                      </a:endParaRPr>
                    </a:p>
                  </a:txBody>
                  <a:tcPr marL="91425" marR="91425" marT="91425" marB="91425">
                    <a:solidFill>
                      <a:srgbClr val="C00000"/>
                    </a:solidFill>
                  </a:tcPr>
                </a:tc>
                <a:extLst>
                  <a:ext uri="{0D108BD9-81ED-4DB2-BD59-A6C34878D82A}">
                    <a16:rowId xmlns:a16="http://schemas.microsoft.com/office/drawing/2014/main" val="10005"/>
                  </a:ext>
                </a:extLst>
              </a:tr>
              <a:tr h="381000">
                <a:tc>
                  <a:txBody>
                    <a:bodyPr/>
                    <a:lstStyle/>
                    <a:p>
                      <a:pPr marL="0" lvl="0" indent="0" algn="ctr" rtl="0">
                        <a:spcBef>
                          <a:spcPts val="0"/>
                        </a:spcBef>
                        <a:spcAft>
                          <a:spcPts val="0"/>
                        </a:spcAft>
                        <a:buNone/>
                      </a:pPr>
                      <a:r>
                        <a:rPr lang="en" sz="1800" b="1" dirty="0">
                          <a:solidFill>
                            <a:schemeClr val="lt1"/>
                          </a:solidFill>
                        </a:rPr>
                        <a:t>DL</a:t>
                      </a:r>
                      <a:endParaRPr sz="1800" b="1" dirty="0">
                        <a:solidFill>
                          <a:schemeClr val="lt1"/>
                        </a:solidFill>
                      </a:endParaRPr>
                    </a:p>
                  </a:txBody>
                  <a:tcPr marL="91425" marR="91425" marT="91425" marB="91425">
                    <a:solidFill>
                      <a:srgbClr val="C00000"/>
                    </a:solidFill>
                  </a:tcPr>
                </a:tc>
                <a:extLst>
                  <a:ext uri="{0D108BD9-81ED-4DB2-BD59-A6C34878D82A}">
                    <a16:rowId xmlns:a16="http://schemas.microsoft.com/office/drawing/2014/main" val="10006"/>
                  </a:ext>
                </a:extLst>
              </a:tr>
              <a:tr h="381000">
                <a:tc>
                  <a:txBody>
                    <a:bodyPr/>
                    <a:lstStyle/>
                    <a:p>
                      <a:pPr marL="0" lvl="0" indent="0" algn="ctr" rtl="0">
                        <a:spcBef>
                          <a:spcPts val="0"/>
                        </a:spcBef>
                        <a:spcAft>
                          <a:spcPts val="0"/>
                        </a:spcAft>
                        <a:buNone/>
                      </a:pPr>
                      <a:r>
                        <a:rPr lang="en" sz="1800" b="1" dirty="0">
                          <a:solidFill>
                            <a:schemeClr val="lt1"/>
                          </a:solidFill>
                        </a:rPr>
                        <a:t>DH</a:t>
                      </a:r>
                      <a:endParaRPr sz="1800" b="1" dirty="0">
                        <a:solidFill>
                          <a:schemeClr val="lt1"/>
                        </a:solidFill>
                      </a:endParaRPr>
                    </a:p>
                  </a:txBody>
                  <a:tcPr marL="91425" marR="91425" marT="91425" marB="91425">
                    <a:solidFill>
                      <a:srgbClr val="C00000"/>
                    </a:solidFill>
                  </a:tcPr>
                </a:tc>
                <a:extLst>
                  <a:ext uri="{0D108BD9-81ED-4DB2-BD59-A6C34878D82A}">
                    <a16:rowId xmlns:a16="http://schemas.microsoft.com/office/drawing/2014/main" val="10007"/>
                  </a:ext>
                </a:extLst>
              </a:tr>
            </a:tbl>
          </a:graphicData>
        </a:graphic>
      </p:graphicFrame>
      <p:sp>
        <p:nvSpPr>
          <p:cNvPr id="1246" name="Google Shape;1246;g2950e80dcb7_0_136"/>
          <p:cNvSpPr txBox="1"/>
          <p:nvPr/>
        </p:nvSpPr>
        <p:spPr>
          <a:xfrm>
            <a:off x="8594850" y="1249850"/>
            <a:ext cx="1868400" cy="514500"/>
          </a:xfrm>
          <a:prstGeom prst="rect">
            <a:avLst/>
          </a:prstGeom>
          <a:noFill/>
          <a:ln>
            <a:noFill/>
          </a:ln>
        </p:spPr>
        <p:txBody>
          <a:bodyPr spcFirstLastPara="1" wrap="square" lIns="91425" tIns="91425" rIns="91425" bIns="91425" anchor="t" anchorCtr="0">
            <a:noAutofit/>
          </a:bodyPr>
          <a:lstStyle/>
          <a:p>
            <a:pPr algn="ctr"/>
            <a:r>
              <a:rPr lang="en" sz="1900">
                <a:solidFill>
                  <a:srgbClr val="00C3B1"/>
                </a:solidFill>
                <a:latin typeface="Didact Gothic"/>
                <a:ea typeface="Didact Gothic"/>
                <a:cs typeface="Didact Gothic"/>
                <a:sym typeface="Didact Gothic"/>
              </a:rPr>
              <a:t>Stack cont.</a:t>
            </a:r>
            <a:endParaRPr sz="1900">
              <a:solidFill>
                <a:srgbClr val="00C3B1"/>
              </a:solidFill>
              <a:latin typeface="Didact Gothic"/>
              <a:ea typeface="Didact Gothic"/>
              <a:cs typeface="Didact Gothic"/>
              <a:sym typeface="Didact Gothic"/>
            </a:endParaRPr>
          </a:p>
        </p:txBody>
      </p:sp>
      <p:sp>
        <p:nvSpPr>
          <p:cNvPr id="2" name="Title 1">
            <a:extLst>
              <a:ext uri="{FF2B5EF4-FFF2-40B4-BE49-F238E27FC236}">
                <a16:creationId xmlns:a16="http://schemas.microsoft.com/office/drawing/2014/main" id="{5F3223BE-D0B1-5FC3-6632-06A4156F4AA7}"/>
              </a:ext>
            </a:extLst>
          </p:cNvPr>
          <p:cNvSpPr txBox="1">
            <a:spLocks/>
          </p:cNvSpPr>
          <p:nvPr/>
        </p:nvSpPr>
        <p:spPr>
          <a:xfrm>
            <a:off x="646111" y="452718"/>
            <a:ext cx="9404723" cy="1400530"/>
          </a:xfrm>
          <a:prstGeom prst="rect">
            <a:avLst/>
          </a:prstGeom>
          <a:noFill/>
          <a:ln>
            <a:noFill/>
          </a:ln>
        </p:spPr>
        <p:txBody>
          <a:bodyPr spcFirstLastPara="1" vert="horz" wrap="square" lIns="91425" tIns="91425" rIns="91425" bIns="91425" rtlCol="0" anchor="ctr" anchorCtr="0">
            <a:noAutofit/>
          </a:bodyPr>
          <a:lstStyle>
            <a:lvl1pPr lvl="0" algn="l" defTabSz="457200" rtl="0" eaLnBrk="1" latinLnBrk="0" hangingPunct="1">
              <a:lnSpc>
                <a:spcPct val="100000"/>
              </a:lnSpc>
              <a:spcBef>
                <a:spcPts val="0"/>
              </a:spcBef>
              <a:spcAft>
                <a:spcPts val="0"/>
              </a:spcAft>
              <a:buSzPts val="3500"/>
              <a:buNone/>
              <a:defRPr sz="4200" b="0" i="0" kern="1200">
                <a:solidFill>
                  <a:schemeClr val="tx2"/>
                </a:solidFill>
                <a:latin typeface="+mj-lt"/>
                <a:ea typeface="+mj-ea"/>
                <a:cs typeface="+mj-cs"/>
              </a:defRPr>
            </a:lvl1pPr>
            <a:lvl2pPr lvl="1" algn="l" eaLnBrk="1" hangingPunct="1">
              <a:lnSpc>
                <a:spcPct val="100000"/>
              </a:lnSpc>
              <a:spcBef>
                <a:spcPts val="0"/>
              </a:spcBef>
              <a:spcAft>
                <a:spcPts val="0"/>
              </a:spcAft>
              <a:buSzPts val="3500"/>
              <a:buNone/>
              <a:defRPr>
                <a:solidFill>
                  <a:schemeClr val="tx2"/>
                </a:solidFill>
              </a:defRPr>
            </a:lvl2pPr>
            <a:lvl3pPr lvl="2" algn="l" eaLnBrk="1" hangingPunct="1">
              <a:lnSpc>
                <a:spcPct val="100000"/>
              </a:lnSpc>
              <a:spcBef>
                <a:spcPts val="0"/>
              </a:spcBef>
              <a:spcAft>
                <a:spcPts val="0"/>
              </a:spcAft>
              <a:buSzPts val="3500"/>
              <a:buNone/>
              <a:defRPr>
                <a:solidFill>
                  <a:schemeClr val="tx2"/>
                </a:solidFill>
              </a:defRPr>
            </a:lvl3pPr>
            <a:lvl4pPr lvl="3" algn="l" eaLnBrk="1" hangingPunct="1">
              <a:lnSpc>
                <a:spcPct val="100000"/>
              </a:lnSpc>
              <a:spcBef>
                <a:spcPts val="0"/>
              </a:spcBef>
              <a:spcAft>
                <a:spcPts val="0"/>
              </a:spcAft>
              <a:buSzPts val="3500"/>
              <a:buNone/>
              <a:defRPr>
                <a:solidFill>
                  <a:schemeClr val="tx2"/>
                </a:solidFill>
              </a:defRPr>
            </a:lvl4pPr>
            <a:lvl5pPr lvl="4" algn="l" eaLnBrk="1" hangingPunct="1">
              <a:lnSpc>
                <a:spcPct val="100000"/>
              </a:lnSpc>
              <a:spcBef>
                <a:spcPts val="0"/>
              </a:spcBef>
              <a:spcAft>
                <a:spcPts val="0"/>
              </a:spcAft>
              <a:buSzPts val="3500"/>
              <a:buNone/>
              <a:defRPr>
                <a:solidFill>
                  <a:schemeClr val="tx2"/>
                </a:solidFill>
              </a:defRPr>
            </a:lvl5pPr>
            <a:lvl6pPr lvl="5" algn="l" eaLnBrk="1" hangingPunct="1">
              <a:lnSpc>
                <a:spcPct val="100000"/>
              </a:lnSpc>
              <a:spcBef>
                <a:spcPts val="0"/>
              </a:spcBef>
              <a:spcAft>
                <a:spcPts val="0"/>
              </a:spcAft>
              <a:buSzPts val="3500"/>
              <a:buNone/>
              <a:defRPr>
                <a:solidFill>
                  <a:schemeClr val="tx2"/>
                </a:solidFill>
              </a:defRPr>
            </a:lvl6pPr>
            <a:lvl7pPr lvl="6" algn="l" eaLnBrk="1" hangingPunct="1">
              <a:lnSpc>
                <a:spcPct val="100000"/>
              </a:lnSpc>
              <a:spcBef>
                <a:spcPts val="0"/>
              </a:spcBef>
              <a:spcAft>
                <a:spcPts val="0"/>
              </a:spcAft>
              <a:buSzPts val="3500"/>
              <a:buNone/>
              <a:defRPr>
                <a:solidFill>
                  <a:schemeClr val="tx2"/>
                </a:solidFill>
              </a:defRPr>
            </a:lvl7pPr>
            <a:lvl8pPr lvl="7" algn="l" eaLnBrk="1" hangingPunct="1">
              <a:lnSpc>
                <a:spcPct val="100000"/>
              </a:lnSpc>
              <a:spcBef>
                <a:spcPts val="0"/>
              </a:spcBef>
              <a:spcAft>
                <a:spcPts val="0"/>
              </a:spcAft>
              <a:buSzPts val="3500"/>
              <a:buNone/>
              <a:defRPr>
                <a:solidFill>
                  <a:schemeClr val="tx2"/>
                </a:solidFill>
              </a:defRPr>
            </a:lvl8pPr>
            <a:lvl9pPr lvl="8" algn="l" eaLnBrk="1" hangingPunct="1">
              <a:lnSpc>
                <a:spcPct val="100000"/>
              </a:lnSpc>
              <a:spcBef>
                <a:spcPts val="0"/>
              </a:spcBef>
              <a:spcAft>
                <a:spcPts val="0"/>
              </a:spcAft>
              <a:buSzPts val="3500"/>
              <a:buNone/>
              <a:defRPr>
                <a:solidFill>
                  <a:schemeClr val="tx2"/>
                </a:solidFill>
              </a:defRPr>
            </a:lvl9pPr>
          </a:lstStyle>
          <a:p>
            <a:r>
              <a:rPr lang="en-US"/>
              <a:t>Problem 3</a:t>
            </a:r>
            <a:endParaRPr lang="en-US" dirty="0"/>
          </a:p>
        </p:txBody>
      </p:sp>
      <p:sp>
        <p:nvSpPr>
          <p:cNvPr id="3" name="Rectangle 2">
            <a:extLst>
              <a:ext uri="{FF2B5EF4-FFF2-40B4-BE49-F238E27FC236}">
                <a16:creationId xmlns:a16="http://schemas.microsoft.com/office/drawing/2014/main" id="{5C95A721-9CD1-61BA-141E-6E6D72110C20}"/>
              </a:ext>
            </a:extLst>
          </p:cNvPr>
          <p:cNvSpPr/>
          <p:nvPr/>
        </p:nvSpPr>
        <p:spPr>
          <a:xfrm>
            <a:off x="6165800" y="5723751"/>
            <a:ext cx="2325949" cy="331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Top of Memory</a:t>
            </a:r>
          </a:p>
        </p:txBody>
      </p:sp>
      <p:sp>
        <p:nvSpPr>
          <p:cNvPr id="4" name="Rectangle 3">
            <a:extLst>
              <a:ext uri="{FF2B5EF4-FFF2-40B4-BE49-F238E27FC236}">
                <a16:creationId xmlns:a16="http://schemas.microsoft.com/office/drawing/2014/main" id="{2AF75F6F-BBE2-CFBD-E142-E3742FCC4B8B}"/>
              </a:ext>
            </a:extLst>
          </p:cNvPr>
          <p:cNvSpPr/>
          <p:nvPr/>
        </p:nvSpPr>
        <p:spPr>
          <a:xfrm>
            <a:off x="7979625" y="830849"/>
            <a:ext cx="2325949" cy="331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Bottom of Memory</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5B56B-948E-FE05-A3FA-A5E92C365F2A}"/>
              </a:ext>
            </a:extLst>
          </p:cNvPr>
          <p:cNvSpPr>
            <a:spLocks noGrp="1"/>
          </p:cNvSpPr>
          <p:nvPr>
            <p:ph type="title"/>
          </p:nvPr>
        </p:nvSpPr>
        <p:spPr/>
        <p:txBody>
          <a:bodyPr/>
          <a:lstStyle/>
          <a:p>
            <a:r>
              <a:rPr lang="en-US" dirty="0"/>
              <a:t>Problem 3</a:t>
            </a:r>
          </a:p>
        </p:txBody>
      </p:sp>
      <p:sp>
        <p:nvSpPr>
          <p:cNvPr id="3" name="Content Placeholder 2">
            <a:extLst>
              <a:ext uri="{FF2B5EF4-FFF2-40B4-BE49-F238E27FC236}">
                <a16:creationId xmlns:a16="http://schemas.microsoft.com/office/drawing/2014/main" id="{AEA927DB-D089-DE20-5331-6C769EB44F70}"/>
              </a:ext>
            </a:extLst>
          </p:cNvPr>
          <p:cNvSpPr>
            <a:spLocks noGrp="1"/>
          </p:cNvSpPr>
          <p:nvPr>
            <p:ph idx="1"/>
          </p:nvPr>
        </p:nvSpPr>
        <p:spPr>
          <a:xfrm>
            <a:off x="1104293" y="1493625"/>
            <a:ext cx="8946541" cy="3424603"/>
          </a:xfrm>
        </p:spPr>
        <p:txBody>
          <a:bodyPr>
            <a:normAutofit/>
          </a:bodyPr>
          <a:lstStyle/>
          <a:p>
            <a:pPr marL="0" marR="0" lvl="0" indent="0" rtl="0">
              <a:spcBef>
                <a:spcPts val="0"/>
              </a:spcBef>
              <a:spcAft>
                <a:spcPts val="0"/>
              </a:spcAft>
              <a:buNone/>
            </a:pPr>
            <a:r>
              <a:rPr lang="en-US" sz="2400" dirty="0">
                <a:effectLst/>
                <a:latin typeface="Times New Roman" panose="02020603050405020304" pitchFamily="18" charset="0"/>
                <a:ea typeface="Times New Roman" panose="02020603050405020304" pitchFamily="18" charset="0"/>
              </a:rPr>
              <a:t>In some applications it is a common practice to save all registers at the beginning of a subroutine. Assume that </a:t>
            </a:r>
            <a:r>
              <a:rPr lang="en-US" sz="2400" dirty="0">
                <a:solidFill>
                  <a:schemeClr val="accent1">
                    <a:lumMod val="60000"/>
                    <a:lumOff val="40000"/>
                  </a:schemeClr>
                </a:solidFill>
                <a:effectLst/>
                <a:latin typeface="Times New Roman" panose="02020603050405020304" pitchFamily="18" charset="0"/>
                <a:ea typeface="Times New Roman" panose="02020603050405020304" pitchFamily="18" charset="0"/>
              </a:rPr>
              <a:t>SP = 1288H</a:t>
            </a:r>
            <a:r>
              <a:rPr lang="en-US" sz="2400" dirty="0">
                <a:effectLst/>
                <a:latin typeface="Times New Roman" panose="02020603050405020304" pitchFamily="18" charset="0"/>
                <a:ea typeface="Times New Roman" panose="02020603050405020304" pitchFamily="18" charset="0"/>
              </a:rPr>
              <a:t> before a subroutine CALL.  For the following code:</a:t>
            </a:r>
          </a:p>
          <a:p>
            <a:pPr marL="0" marR="0" lvl="0" indent="0" rtl="0">
              <a:spcBef>
                <a:spcPts val="0"/>
              </a:spcBef>
              <a:spcAft>
                <a:spcPts val="0"/>
              </a:spcAft>
              <a:buNone/>
            </a:pPr>
            <a:endParaRPr lang="en-US" sz="2400" dirty="0">
              <a:latin typeface="Times New Roman" panose="02020603050405020304" pitchFamily="18" charset="0"/>
              <a:ea typeface="Times New Roman" panose="02020603050405020304" pitchFamily="18" charset="0"/>
            </a:endParaRPr>
          </a:p>
          <a:p>
            <a:pPr marL="514350" indent="-457200" algn="just">
              <a:spcBef>
                <a:spcPts val="0"/>
              </a:spcBef>
              <a:buFont typeface="+mj-lt"/>
              <a:buAutoNum type="alphaLcParenR" startAt="2"/>
            </a:pPr>
            <a:r>
              <a:rPr lang="en-US" dirty="0">
                <a:effectLst/>
                <a:latin typeface="Times New Roman" panose="02020603050405020304" pitchFamily="18" charset="0"/>
                <a:ea typeface="Times New Roman" panose="02020603050405020304" pitchFamily="18" charset="0"/>
              </a:rPr>
              <a:t>To restore the original information inside the CPU at the end of a CALL to a subroutine, the sequence of POP instructions must follow a certain order.</a:t>
            </a:r>
            <a:r>
              <a:rPr lang="en-US" sz="1800" dirty="0">
                <a:latin typeface="Courier New" panose="02070309020205020404" pitchFamily="49"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Write the sequence of POP instructions that will restore the information. At each point, show the contents of the SP.</a:t>
            </a:r>
          </a:p>
          <a:p>
            <a:pPr marL="514350" indent="-457200" algn="just">
              <a:spcBef>
                <a:spcPts val="0"/>
              </a:spcBef>
              <a:buFont typeface="+mj-lt"/>
              <a:buAutoNum type="alphaLcParenR" startAt="2"/>
            </a:pPr>
            <a:endParaRPr lang="en-US" dirty="0">
              <a:latin typeface="Times New Roman" panose="02020603050405020304" pitchFamily="18" charset="0"/>
              <a:ea typeface="Times New Roman" panose="02020603050405020304" pitchFamily="18" charset="0"/>
            </a:endParaRPr>
          </a:p>
          <a:p>
            <a:pPr marL="57150" indent="0" algn="just">
              <a:spcBef>
                <a:spcPts val="0"/>
              </a:spcBef>
              <a:buNone/>
            </a:pPr>
            <a:r>
              <a:rPr lang="en-US" sz="2000" dirty="0">
                <a:solidFill>
                  <a:schemeClr val="accent3">
                    <a:lumMod val="60000"/>
                    <a:lumOff val="40000"/>
                  </a:schemeClr>
                </a:solidFill>
                <a:latin typeface="Times New Roman" panose="02020603050405020304" pitchFamily="18" charset="0"/>
                <a:ea typeface="Times New Roman" panose="02020603050405020304" pitchFamily="18" charset="0"/>
                <a:cs typeface="+mj-cs"/>
              </a:rPr>
              <a:t>									</a:t>
            </a:r>
          </a:p>
          <a:p>
            <a:pPr marL="57150" indent="0" algn="just">
              <a:spcBef>
                <a:spcPts val="0"/>
              </a:spcBef>
              <a:buNone/>
            </a:pPr>
            <a:endParaRPr lang="en-US" dirty="0">
              <a:effectLst/>
              <a:latin typeface="Times New Roman" panose="02020603050405020304" pitchFamily="18" charset="0"/>
              <a:ea typeface="Times New Roman" panose="02020603050405020304" pitchFamily="18" charset="0"/>
            </a:endParaRPr>
          </a:p>
          <a:p>
            <a:pPr marL="514350" indent="-457200" algn="just">
              <a:spcBef>
                <a:spcPts val="0"/>
              </a:spcBef>
              <a:buFont typeface="+mj-lt"/>
              <a:buAutoNum type="alphaLcParenR" startAt="2"/>
            </a:pPr>
            <a:endParaRPr lang="en-US" sz="1800" dirty="0">
              <a:latin typeface="Times New Roman" panose="02020603050405020304" pitchFamily="18" charset="0"/>
              <a:ea typeface="Times New Roman" panose="02020603050405020304" pitchFamily="18" charset="0"/>
            </a:endParaRPr>
          </a:p>
          <a:p>
            <a:pPr marL="57150" indent="0" algn="just">
              <a:spcBef>
                <a:spcPts val="0"/>
              </a:spcBef>
              <a:buNone/>
            </a:pPr>
            <a:endParaRPr lang="en-US" sz="1800" dirty="0">
              <a:effectLst/>
              <a:latin typeface="Times New Roman" panose="02020603050405020304" pitchFamily="18" charset="0"/>
              <a:ea typeface="Times New Roman" panose="02020603050405020304" pitchFamily="18" charset="0"/>
            </a:endParaRPr>
          </a:p>
        </p:txBody>
      </p:sp>
      <p:sp>
        <p:nvSpPr>
          <p:cNvPr id="4" name="TextBox 3">
            <a:extLst>
              <a:ext uri="{FF2B5EF4-FFF2-40B4-BE49-F238E27FC236}">
                <a16:creationId xmlns:a16="http://schemas.microsoft.com/office/drawing/2014/main" id="{32D855AB-5A26-A1B8-A557-18D7F20617C7}"/>
              </a:ext>
            </a:extLst>
          </p:cNvPr>
          <p:cNvSpPr txBox="1"/>
          <p:nvPr/>
        </p:nvSpPr>
        <p:spPr>
          <a:xfrm>
            <a:off x="5575176" y="4635421"/>
            <a:ext cx="3844031" cy="400110"/>
          </a:xfrm>
          <a:prstGeom prst="rect">
            <a:avLst/>
          </a:prstGeom>
          <a:noFill/>
        </p:spPr>
        <p:txBody>
          <a:bodyPr wrap="square" rtlCol="0">
            <a:spAutoFit/>
          </a:bodyPr>
          <a:lstStyle/>
          <a:p>
            <a:r>
              <a:rPr lang="en-US" sz="2000" dirty="0">
                <a:solidFill>
                  <a:schemeClr val="accent3">
                    <a:lumMod val="60000"/>
                    <a:lumOff val="40000"/>
                  </a:schemeClr>
                </a:solidFill>
                <a:latin typeface="Times New Roman" panose="02020603050405020304" pitchFamily="18" charset="0"/>
                <a:ea typeface="Times New Roman" panose="02020603050405020304" pitchFamily="18" charset="0"/>
                <a:cs typeface="+mj-cs"/>
              </a:rPr>
              <a:t>Reverse Order of Push Operations</a:t>
            </a:r>
            <a:endParaRPr lang="en-US" sz="2000" dirty="0"/>
          </a:p>
        </p:txBody>
      </p:sp>
    </p:spTree>
    <p:extLst>
      <p:ext uri="{BB962C8B-B14F-4D97-AF65-F5344CB8AC3E}">
        <p14:creationId xmlns:p14="http://schemas.microsoft.com/office/powerpoint/2010/main" val="3630007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5B56B-948E-FE05-A3FA-A5E92C365F2A}"/>
              </a:ext>
            </a:extLst>
          </p:cNvPr>
          <p:cNvSpPr>
            <a:spLocks noGrp="1"/>
          </p:cNvSpPr>
          <p:nvPr>
            <p:ph type="title"/>
          </p:nvPr>
        </p:nvSpPr>
        <p:spPr/>
        <p:txBody>
          <a:bodyPr/>
          <a:lstStyle/>
          <a:p>
            <a:r>
              <a:rPr lang="en-US" dirty="0"/>
              <a:t>Problem 4</a:t>
            </a:r>
          </a:p>
        </p:txBody>
      </p:sp>
      <p:sp>
        <p:nvSpPr>
          <p:cNvPr id="3" name="Content Placeholder 2">
            <a:extLst>
              <a:ext uri="{FF2B5EF4-FFF2-40B4-BE49-F238E27FC236}">
                <a16:creationId xmlns:a16="http://schemas.microsoft.com/office/drawing/2014/main" id="{AEA927DB-D089-DE20-5331-6C769EB44F70}"/>
              </a:ext>
            </a:extLst>
          </p:cNvPr>
          <p:cNvSpPr>
            <a:spLocks noGrp="1"/>
          </p:cNvSpPr>
          <p:nvPr>
            <p:ph idx="1"/>
          </p:nvPr>
        </p:nvSpPr>
        <p:spPr>
          <a:xfrm>
            <a:off x="1104293" y="1493625"/>
            <a:ext cx="8946541" cy="4195481"/>
          </a:xfrm>
        </p:spPr>
        <p:txBody>
          <a:bodyPr>
            <a:normAutofit/>
          </a:bodyPr>
          <a:lstStyle/>
          <a:p>
            <a:pPr marL="0" marR="0" lvl="0" indent="0" rtl="0">
              <a:spcBef>
                <a:spcPts val="0"/>
              </a:spcBef>
              <a:spcAft>
                <a:spcPts val="0"/>
              </a:spcAft>
              <a:buNone/>
            </a:pPr>
            <a:r>
              <a:rPr lang="en-US" sz="2400" dirty="0">
                <a:effectLst/>
                <a:latin typeface="Times New Roman" panose="02020603050405020304" pitchFamily="18" charset="0"/>
                <a:ea typeface="Times New Roman" panose="02020603050405020304" pitchFamily="18" charset="0"/>
              </a:rPr>
              <a:t>The following program contains some errors. Fix the errors and make the program run correctly. This program adds four words and saves the result.</a:t>
            </a:r>
          </a:p>
        </p:txBody>
      </p:sp>
      <p:sp>
        <p:nvSpPr>
          <p:cNvPr id="4" name="Rectangle 3">
            <a:extLst>
              <a:ext uri="{FF2B5EF4-FFF2-40B4-BE49-F238E27FC236}">
                <a16:creationId xmlns:a16="http://schemas.microsoft.com/office/drawing/2014/main" id="{C3B6803A-149B-3F48-EDD5-4A84C92E411A}"/>
              </a:ext>
            </a:extLst>
          </p:cNvPr>
          <p:cNvSpPr/>
          <p:nvPr/>
        </p:nvSpPr>
        <p:spPr>
          <a:xfrm>
            <a:off x="4403324" y="3506680"/>
            <a:ext cx="4172505" cy="65694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Hint: 9 Mistakes</a:t>
            </a:r>
          </a:p>
        </p:txBody>
      </p:sp>
    </p:spTree>
    <p:extLst>
      <p:ext uri="{BB962C8B-B14F-4D97-AF65-F5344CB8AC3E}">
        <p14:creationId xmlns:p14="http://schemas.microsoft.com/office/powerpoint/2010/main" val="3315196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408"/>
        <p:cNvGrpSpPr/>
        <p:nvPr/>
      </p:nvGrpSpPr>
      <p:grpSpPr>
        <a:xfrm>
          <a:off x="0" y="0"/>
          <a:ext cx="0" cy="0"/>
          <a:chOff x="0" y="0"/>
          <a:chExt cx="0" cy="0"/>
        </a:xfrm>
      </p:grpSpPr>
      <p:pic>
        <p:nvPicPr>
          <p:cNvPr id="3" name="Picture 2" descr="A computer screen with white text&#10;&#10;Description automatically generated">
            <a:extLst>
              <a:ext uri="{FF2B5EF4-FFF2-40B4-BE49-F238E27FC236}">
                <a16:creationId xmlns:a16="http://schemas.microsoft.com/office/drawing/2014/main" id="{73ACA089-F6CC-5631-0703-BE9CCEF0C3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37730" y="128126"/>
            <a:ext cx="8516539" cy="6601747"/>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408"/>
        <p:cNvGrpSpPr/>
        <p:nvPr/>
      </p:nvGrpSpPr>
      <p:grpSpPr>
        <a:xfrm>
          <a:off x="0" y="0"/>
          <a:ext cx="0" cy="0"/>
          <a:chOff x="0" y="0"/>
          <a:chExt cx="0" cy="0"/>
        </a:xfrm>
      </p:grpSpPr>
      <p:pic>
        <p:nvPicPr>
          <p:cNvPr id="12" name="Picture 11" descr="A computer screen with white text&#10;&#10;Description automatically generated">
            <a:extLst>
              <a:ext uri="{FF2B5EF4-FFF2-40B4-BE49-F238E27FC236}">
                <a16:creationId xmlns:a16="http://schemas.microsoft.com/office/drawing/2014/main" id="{92386F6D-44C4-10A1-F399-4C640041D1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37730" y="128126"/>
            <a:ext cx="8516539" cy="6601747"/>
          </a:xfrm>
          <a:prstGeom prst="rect">
            <a:avLst/>
          </a:prstGeom>
        </p:spPr>
      </p:pic>
      <p:sp>
        <p:nvSpPr>
          <p:cNvPr id="2" name="Rectangle 1">
            <a:extLst>
              <a:ext uri="{FF2B5EF4-FFF2-40B4-BE49-F238E27FC236}">
                <a16:creationId xmlns:a16="http://schemas.microsoft.com/office/drawing/2014/main" id="{C10AAFE5-AA7C-47D0-5276-B59178FF08A7}"/>
              </a:ext>
            </a:extLst>
          </p:cNvPr>
          <p:cNvSpPr/>
          <p:nvPr/>
        </p:nvSpPr>
        <p:spPr>
          <a:xfrm>
            <a:off x="2254929" y="985421"/>
            <a:ext cx="603681" cy="204187"/>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65E0455E-DC19-EA79-2DFC-4DFB89AC0BDA}"/>
              </a:ext>
            </a:extLst>
          </p:cNvPr>
          <p:cNvSpPr/>
          <p:nvPr/>
        </p:nvSpPr>
        <p:spPr>
          <a:xfrm>
            <a:off x="3996432" y="985421"/>
            <a:ext cx="603681" cy="204187"/>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019F2CAD-7D7E-407D-EF3E-537173213674}"/>
              </a:ext>
            </a:extLst>
          </p:cNvPr>
          <p:cNvSpPr/>
          <p:nvPr/>
        </p:nvSpPr>
        <p:spPr>
          <a:xfrm>
            <a:off x="3873624" y="2300796"/>
            <a:ext cx="603681" cy="204187"/>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F00717F6-1ECD-FE36-A7CB-8F2205AA8067}"/>
              </a:ext>
            </a:extLst>
          </p:cNvPr>
          <p:cNvSpPr/>
          <p:nvPr/>
        </p:nvSpPr>
        <p:spPr>
          <a:xfrm>
            <a:off x="2254929" y="2046902"/>
            <a:ext cx="790112" cy="204187"/>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9ACBDD4-9441-66D7-3582-7FDD018B6085}"/>
              </a:ext>
            </a:extLst>
          </p:cNvPr>
          <p:cNvSpPr/>
          <p:nvPr/>
        </p:nvSpPr>
        <p:spPr>
          <a:xfrm>
            <a:off x="2263806" y="6499052"/>
            <a:ext cx="603681" cy="204187"/>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6536B45B-39DD-DC99-85CB-2631A930CECF}"/>
              </a:ext>
            </a:extLst>
          </p:cNvPr>
          <p:cNvSpPr/>
          <p:nvPr/>
        </p:nvSpPr>
        <p:spPr>
          <a:xfrm>
            <a:off x="4671134" y="5435212"/>
            <a:ext cx="815266" cy="228741"/>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68A6E1BA-C761-4EB9-4CC0-BB4BF7C5C239}"/>
              </a:ext>
            </a:extLst>
          </p:cNvPr>
          <p:cNvSpPr/>
          <p:nvPr/>
        </p:nvSpPr>
        <p:spPr>
          <a:xfrm>
            <a:off x="2941467" y="4912910"/>
            <a:ext cx="1284303" cy="204188"/>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0E461DF-9184-506B-1524-2ED6E8695312}"/>
              </a:ext>
            </a:extLst>
          </p:cNvPr>
          <p:cNvSpPr/>
          <p:nvPr/>
        </p:nvSpPr>
        <p:spPr>
          <a:xfrm>
            <a:off x="2941466" y="4606912"/>
            <a:ext cx="932157" cy="280845"/>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BC72900-2C1B-FB49-A89E-53E426A159A0}"/>
              </a:ext>
            </a:extLst>
          </p:cNvPr>
          <p:cNvSpPr/>
          <p:nvPr/>
        </p:nvSpPr>
        <p:spPr>
          <a:xfrm>
            <a:off x="4671134" y="3873623"/>
            <a:ext cx="603681" cy="204187"/>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833973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408"/>
        <p:cNvGrpSpPr/>
        <p:nvPr/>
      </p:nvGrpSpPr>
      <p:grpSpPr>
        <a:xfrm>
          <a:off x="0" y="0"/>
          <a:ext cx="0" cy="0"/>
          <a:chOff x="0" y="0"/>
          <a:chExt cx="0" cy="0"/>
        </a:xfrm>
      </p:grpSpPr>
      <p:pic>
        <p:nvPicPr>
          <p:cNvPr id="21" name="Picture 20" descr="A computer screen with white text&#10;&#10;Description automatically generated">
            <a:extLst>
              <a:ext uri="{FF2B5EF4-FFF2-40B4-BE49-F238E27FC236}">
                <a16:creationId xmlns:a16="http://schemas.microsoft.com/office/drawing/2014/main" id="{2AA2BCC6-15CF-F0EF-8060-BDF25DAC42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37730" y="128126"/>
            <a:ext cx="8516539" cy="6601747"/>
          </a:xfrm>
          <a:prstGeom prst="rect">
            <a:avLst/>
          </a:prstGeom>
        </p:spPr>
      </p:pic>
      <p:sp>
        <p:nvSpPr>
          <p:cNvPr id="2" name="Rectangle 1">
            <a:extLst>
              <a:ext uri="{FF2B5EF4-FFF2-40B4-BE49-F238E27FC236}">
                <a16:creationId xmlns:a16="http://schemas.microsoft.com/office/drawing/2014/main" id="{C10AAFE5-AA7C-47D0-5276-B59178FF08A7}"/>
              </a:ext>
            </a:extLst>
          </p:cNvPr>
          <p:cNvSpPr/>
          <p:nvPr/>
        </p:nvSpPr>
        <p:spPr>
          <a:xfrm>
            <a:off x="2254929" y="985421"/>
            <a:ext cx="603681" cy="204187"/>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65E0455E-DC19-EA79-2DFC-4DFB89AC0BDA}"/>
              </a:ext>
            </a:extLst>
          </p:cNvPr>
          <p:cNvSpPr/>
          <p:nvPr/>
        </p:nvSpPr>
        <p:spPr>
          <a:xfrm>
            <a:off x="3996432" y="985421"/>
            <a:ext cx="603681" cy="204187"/>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019F2CAD-7D7E-407D-EF3E-537173213674}"/>
              </a:ext>
            </a:extLst>
          </p:cNvPr>
          <p:cNvSpPr/>
          <p:nvPr/>
        </p:nvSpPr>
        <p:spPr>
          <a:xfrm>
            <a:off x="3873624" y="2300796"/>
            <a:ext cx="603681" cy="204187"/>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F00717F6-1ECD-FE36-A7CB-8F2205AA8067}"/>
              </a:ext>
            </a:extLst>
          </p:cNvPr>
          <p:cNvSpPr/>
          <p:nvPr/>
        </p:nvSpPr>
        <p:spPr>
          <a:xfrm>
            <a:off x="2254929" y="2046902"/>
            <a:ext cx="790112" cy="204187"/>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9ACBDD4-9441-66D7-3582-7FDD018B6085}"/>
              </a:ext>
            </a:extLst>
          </p:cNvPr>
          <p:cNvSpPr/>
          <p:nvPr/>
        </p:nvSpPr>
        <p:spPr>
          <a:xfrm>
            <a:off x="2263806" y="6499052"/>
            <a:ext cx="603681" cy="204187"/>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6536B45B-39DD-DC99-85CB-2631A930CECF}"/>
              </a:ext>
            </a:extLst>
          </p:cNvPr>
          <p:cNvSpPr/>
          <p:nvPr/>
        </p:nvSpPr>
        <p:spPr>
          <a:xfrm>
            <a:off x="4671134" y="5435212"/>
            <a:ext cx="815266" cy="228741"/>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68A6E1BA-C761-4EB9-4CC0-BB4BF7C5C239}"/>
              </a:ext>
            </a:extLst>
          </p:cNvPr>
          <p:cNvSpPr/>
          <p:nvPr/>
        </p:nvSpPr>
        <p:spPr>
          <a:xfrm>
            <a:off x="2941467" y="4912910"/>
            <a:ext cx="1284303" cy="204188"/>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0E461DF-9184-506B-1524-2ED6E8695312}"/>
              </a:ext>
            </a:extLst>
          </p:cNvPr>
          <p:cNvSpPr/>
          <p:nvPr/>
        </p:nvSpPr>
        <p:spPr>
          <a:xfrm>
            <a:off x="2941466" y="4606912"/>
            <a:ext cx="932157" cy="280845"/>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BC72900-2C1B-FB49-A89E-53E426A159A0}"/>
              </a:ext>
            </a:extLst>
          </p:cNvPr>
          <p:cNvSpPr/>
          <p:nvPr/>
        </p:nvSpPr>
        <p:spPr>
          <a:xfrm>
            <a:off x="4671134" y="3873623"/>
            <a:ext cx="603681" cy="204187"/>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66C0491A-6BF5-B802-F822-2A468F86C58B}"/>
              </a:ext>
            </a:extLst>
          </p:cNvPr>
          <p:cNvSpPr txBox="1"/>
          <p:nvPr/>
        </p:nvSpPr>
        <p:spPr>
          <a:xfrm>
            <a:off x="861135" y="764349"/>
            <a:ext cx="1447060" cy="646331"/>
          </a:xfrm>
          <a:prstGeom prst="rect">
            <a:avLst/>
          </a:prstGeom>
          <a:noFill/>
        </p:spPr>
        <p:txBody>
          <a:bodyPr wrap="square" rtlCol="0">
            <a:spAutoFit/>
          </a:bodyPr>
          <a:lstStyle/>
          <a:p>
            <a:r>
              <a:rPr lang="en-US" dirty="0">
                <a:solidFill>
                  <a:schemeClr val="accent3">
                    <a:lumMod val="60000"/>
                    <a:lumOff val="40000"/>
                  </a:schemeClr>
                </a:solidFill>
              </a:rPr>
              <a:t>Invalid Name</a:t>
            </a:r>
          </a:p>
        </p:txBody>
      </p:sp>
      <p:sp>
        <p:nvSpPr>
          <p:cNvPr id="13" name="TextBox 12">
            <a:extLst>
              <a:ext uri="{FF2B5EF4-FFF2-40B4-BE49-F238E27FC236}">
                <a16:creationId xmlns:a16="http://schemas.microsoft.com/office/drawing/2014/main" id="{B25C9174-E5F9-FAD4-944A-ABD3CC97D8E3}"/>
              </a:ext>
            </a:extLst>
          </p:cNvPr>
          <p:cNvSpPr txBox="1"/>
          <p:nvPr/>
        </p:nvSpPr>
        <p:spPr>
          <a:xfrm>
            <a:off x="3886200" y="297063"/>
            <a:ext cx="1447060" cy="646331"/>
          </a:xfrm>
          <a:prstGeom prst="rect">
            <a:avLst/>
          </a:prstGeom>
          <a:noFill/>
        </p:spPr>
        <p:txBody>
          <a:bodyPr wrap="square" rtlCol="0">
            <a:spAutoFit/>
          </a:bodyPr>
          <a:lstStyle/>
          <a:p>
            <a:r>
              <a:rPr lang="en-US" dirty="0">
                <a:solidFill>
                  <a:schemeClr val="accent3">
                    <a:lumMod val="60000"/>
                    <a:lumOff val="40000"/>
                  </a:schemeClr>
                </a:solidFill>
              </a:rPr>
              <a:t>Hex Starts With 0</a:t>
            </a:r>
          </a:p>
        </p:txBody>
      </p:sp>
      <p:sp>
        <p:nvSpPr>
          <p:cNvPr id="14" name="TextBox 13">
            <a:extLst>
              <a:ext uri="{FF2B5EF4-FFF2-40B4-BE49-F238E27FC236}">
                <a16:creationId xmlns:a16="http://schemas.microsoft.com/office/drawing/2014/main" id="{3EFEA39D-9C06-C391-F14D-0C1090D21A52}"/>
              </a:ext>
            </a:extLst>
          </p:cNvPr>
          <p:cNvSpPr txBox="1"/>
          <p:nvPr/>
        </p:nvSpPr>
        <p:spPr>
          <a:xfrm>
            <a:off x="390670" y="1919616"/>
            <a:ext cx="1447060" cy="369332"/>
          </a:xfrm>
          <a:prstGeom prst="rect">
            <a:avLst/>
          </a:prstGeom>
          <a:noFill/>
        </p:spPr>
        <p:txBody>
          <a:bodyPr wrap="square" rtlCol="0">
            <a:spAutoFit/>
          </a:bodyPr>
          <a:lstStyle/>
          <a:p>
            <a:r>
              <a:rPr lang="en-US" dirty="0">
                <a:solidFill>
                  <a:schemeClr val="accent3">
                    <a:lumMod val="60000"/>
                    <a:lumOff val="40000"/>
                  </a:schemeClr>
                </a:solidFill>
              </a:rPr>
              <a:t>Extra colon</a:t>
            </a:r>
          </a:p>
        </p:txBody>
      </p:sp>
      <p:sp>
        <p:nvSpPr>
          <p:cNvPr id="15" name="TextBox 14">
            <a:extLst>
              <a:ext uri="{FF2B5EF4-FFF2-40B4-BE49-F238E27FC236}">
                <a16:creationId xmlns:a16="http://schemas.microsoft.com/office/drawing/2014/main" id="{66667F1D-F34D-B46C-7B25-2327E6656793}"/>
              </a:ext>
            </a:extLst>
          </p:cNvPr>
          <p:cNvSpPr txBox="1"/>
          <p:nvPr/>
        </p:nvSpPr>
        <p:spPr>
          <a:xfrm>
            <a:off x="4777744" y="2218223"/>
            <a:ext cx="1447060" cy="369332"/>
          </a:xfrm>
          <a:prstGeom prst="rect">
            <a:avLst/>
          </a:prstGeom>
          <a:noFill/>
        </p:spPr>
        <p:txBody>
          <a:bodyPr wrap="square" rtlCol="0">
            <a:spAutoFit/>
          </a:bodyPr>
          <a:lstStyle/>
          <a:p>
            <a:r>
              <a:rPr lang="en-US" dirty="0">
                <a:solidFill>
                  <a:schemeClr val="accent3">
                    <a:lumMod val="60000"/>
                    <a:lumOff val="40000"/>
                  </a:schemeClr>
                </a:solidFill>
              </a:rPr>
              <a:t>Missing @</a:t>
            </a:r>
          </a:p>
        </p:txBody>
      </p:sp>
      <p:sp>
        <p:nvSpPr>
          <p:cNvPr id="16" name="TextBox 15">
            <a:extLst>
              <a:ext uri="{FF2B5EF4-FFF2-40B4-BE49-F238E27FC236}">
                <a16:creationId xmlns:a16="http://schemas.microsoft.com/office/drawing/2014/main" id="{8AB82E92-6BC5-3795-B77F-1040B1E74F4F}"/>
              </a:ext>
            </a:extLst>
          </p:cNvPr>
          <p:cNvSpPr txBox="1"/>
          <p:nvPr/>
        </p:nvSpPr>
        <p:spPr>
          <a:xfrm>
            <a:off x="4170285" y="3431505"/>
            <a:ext cx="1816964" cy="369332"/>
          </a:xfrm>
          <a:prstGeom prst="rect">
            <a:avLst/>
          </a:prstGeom>
          <a:noFill/>
        </p:spPr>
        <p:txBody>
          <a:bodyPr wrap="square" rtlCol="0">
            <a:spAutoFit/>
          </a:bodyPr>
          <a:lstStyle/>
          <a:p>
            <a:r>
              <a:rPr lang="en-US" dirty="0">
                <a:solidFill>
                  <a:schemeClr val="accent3">
                    <a:lumMod val="60000"/>
                    <a:lumOff val="40000"/>
                  </a:schemeClr>
                </a:solidFill>
              </a:rPr>
              <a:t>Invalid Name</a:t>
            </a:r>
          </a:p>
        </p:txBody>
      </p:sp>
      <p:sp>
        <p:nvSpPr>
          <p:cNvPr id="17" name="TextBox 16">
            <a:extLst>
              <a:ext uri="{FF2B5EF4-FFF2-40B4-BE49-F238E27FC236}">
                <a16:creationId xmlns:a16="http://schemas.microsoft.com/office/drawing/2014/main" id="{34DFE378-1C78-D2AB-09DA-0AEC37CBF207}"/>
              </a:ext>
            </a:extLst>
          </p:cNvPr>
          <p:cNvSpPr txBox="1"/>
          <p:nvPr/>
        </p:nvSpPr>
        <p:spPr>
          <a:xfrm>
            <a:off x="320396" y="4497411"/>
            <a:ext cx="1587608" cy="830997"/>
          </a:xfrm>
          <a:prstGeom prst="rect">
            <a:avLst/>
          </a:prstGeom>
          <a:noFill/>
        </p:spPr>
        <p:txBody>
          <a:bodyPr wrap="square" rtlCol="0">
            <a:spAutoFit/>
          </a:bodyPr>
          <a:lstStyle/>
          <a:p>
            <a:r>
              <a:rPr lang="en-US" sz="1600" dirty="0">
                <a:solidFill>
                  <a:schemeClr val="accent3">
                    <a:lumMod val="60000"/>
                    <a:lumOff val="40000"/>
                  </a:schemeClr>
                </a:solidFill>
              </a:rPr>
              <a:t>We need to skip 2 byte (word): add 2</a:t>
            </a:r>
          </a:p>
        </p:txBody>
      </p:sp>
      <p:sp>
        <p:nvSpPr>
          <p:cNvPr id="18" name="TextBox 17">
            <a:extLst>
              <a:ext uri="{FF2B5EF4-FFF2-40B4-BE49-F238E27FC236}">
                <a16:creationId xmlns:a16="http://schemas.microsoft.com/office/drawing/2014/main" id="{17623AE1-CBE6-AB7F-B8F4-8513999AFE61}"/>
              </a:ext>
            </a:extLst>
          </p:cNvPr>
          <p:cNvSpPr txBox="1"/>
          <p:nvPr/>
        </p:nvSpPr>
        <p:spPr>
          <a:xfrm>
            <a:off x="4475842" y="4472258"/>
            <a:ext cx="1587608" cy="830997"/>
          </a:xfrm>
          <a:prstGeom prst="rect">
            <a:avLst/>
          </a:prstGeom>
          <a:noFill/>
        </p:spPr>
        <p:txBody>
          <a:bodyPr wrap="square" rtlCol="0">
            <a:spAutoFit/>
          </a:bodyPr>
          <a:lstStyle/>
          <a:p>
            <a:r>
              <a:rPr lang="en-US" sz="1600" dirty="0">
                <a:solidFill>
                  <a:schemeClr val="accent3">
                    <a:lumMod val="60000"/>
                    <a:lumOff val="40000"/>
                  </a:schemeClr>
                </a:solidFill>
              </a:rPr>
              <a:t>JNZ doesn’t decrement CX</a:t>
            </a:r>
          </a:p>
        </p:txBody>
      </p:sp>
      <p:sp>
        <p:nvSpPr>
          <p:cNvPr id="19" name="TextBox 18">
            <a:extLst>
              <a:ext uri="{FF2B5EF4-FFF2-40B4-BE49-F238E27FC236}">
                <a16:creationId xmlns:a16="http://schemas.microsoft.com/office/drawing/2014/main" id="{14C19DE9-CCB8-02C8-8A30-8AFC9309535B}"/>
              </a:ext>
            </a:extLst>
          </p:cNvPr>
          <p:cNvSpPr txBox="1"/>
          <p:nvPr/>
        </p:nvSpPr>
        <p:spPr>
          <a:xfrm>
            <a:off x="4539456" y="5819262"/>
            <a:ext cx="1587608" cy="584775"/>
          </a:xfrm>
          <a:prstGeom prst="rect">
            <a:avLst/>
          </a:prstGeom>
          <a:noFill/>
        </p:spPr>
        <p:txBody>
          <a:bodyPr wrap="square" rtlCol="0">
            <a:spAutoFit/>
          </a:bodyPr>
          <a:lstStyle/>
          <a:p>
            <a:r>
              <a:rPr lang="en-US" sz="1600" dirty="0">
                <a:solidFill>
                  <a:schemeClr val="accent3">
                    <a:lumMod val="60000"/>
                    <a:lumOff val="40000"/>
                  </a:schemeClr>
                </a:solidFill>
              </a:rPr>
              <a:t>No Variable Result</a:t>
            </a:r>
          </a:p>
        </p:txBody>
      </p:sp>
      <p:sp>
        <p:nvSpPr>
          <p:cNvPr id="20" name="TextBox 19">
            <a:extLst>
              <a:ext uri="{FF2B5EF4-FFF2-40B4-BE49-F238E27FC236}">
                <a16:creationId xmlns:a16="http://schemas.microsoft.com/office/drawing/2014/main" id="{F70CF05A-2735-F35F-30F7-21976543047E}"/>
              </a:ext>
            </a:extLst>
          </p:cNvPr>
          <p:cNvSpPr txBox="1"/>
          <p:nvPr/>
        </p:nvSpPr>
        <p:spPr>
          <a:xfrm>
            <a:off x="250122" y="6329775"/>
            <a:ext cx="1587608" cy="338554"/>
          </a:xfrm>
          <a:prstGeom prst="rect">
            <a:avLst/>
          </a:prstGeom>
          <a:noFill/>
        </p:spPr>
        <p:txBody>
          <a:bodyPr wrap="square" rtlCol="0">
            <a:spAutoFit/>
          </a:bodyPr>
          <a:lstStyle/>
          <a:p>
            <a:r>
              <a:rPr lang="en-US" sz="1600" dirty="0">
                <a:solidFill>
                  <a:schemeClr val="accent3">
                    <a:lumMod val="60000"/>
                    <a:lumOff val="40000"/>
                  </a:schemeClr>
                </a:solidFill>
              </a:rPr>
              <a:t>Invalid Name</a:t>
            </a:r>
          </a:p>
        </p:txBody>
      </p:sp>
    </p:spTree>
    <p:extLst>
      <p:ext uri="{BB962C8B-B14F-4D97-AF65-F5344CB8AC3E}">
        <p14:creationId xmlns:p14="http://schemas.microsoft.com/office/powerpoint/2010/main" val="34879365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4CA9A-99E3-F520-37D7-802DEB61E463}"/>
              </a:ext>
            </a:extLst>
          </p:cNvPr>
          <p:cNvSpPr>
            <a:spLocks noGrp="1"/>
          </p:cNvSpPr>
          <p:nvPr>
            <p:ph type="title"/>
          </p:nvPr>
        </p:nvSpPr>
        <p:spPr/>
        <p:txBody>
          <a:bodyPr/>
          <a:lstStyle/>
          <a:p>
            <a:r>
              <a:rPr lang="en-US" dirty="0"/>
              <a:t>Problem 5</a:t>
            </a:r>
          </a:p>
        </p:txBody>
      </p:sp>
      <p:sp>
        <p:nvSpPr>
          <p:cNvPr id="3" name="Content Placeholder 2">
            <a:extLst>
              <a:ext uri="{FF2B5EF4-FFF2-40B4-BE49-F238E27FC236}">
                <a16:creationId xmlns:a16="http://schemas.microsoft.com/office/drawing/2014/main" id="{58CE03A7-C73E-6A38-F6FF-20C03230CD7A}"/>
              </a:ext>
            </a:extLst>
          </p:cNvPr>
          <p:cNvSpPr>
            <a:spLocks noGrp="1"/>
          </p:cNvSpPr>
          <p:nvPr>
            <p:ph idx="1"/>
          </p:nvPr>
        </p:nvSpPr>
        <p:spPr>
          <a:xfrm>
            <a:off x="987902" y="1502503"/>
            <a:ext cx="8946541" cy="921101"/>
          </a:xfrm>
        </p:spPr>
        <p:txBody>
          <a:bodyPr vert="horz" lIns="91440" tIns="45720" rIns="91440" bIns="45720" rtlCol="0">
            <a:normAutofit/>
          </a:bodyPr>
          <a:lstStyle/>
          <a:p>
            <a:pPr marL="0" indent="0">
              <a:spcBef>
                <a:spcPts val="0"/>
              </a:spcBef>
              <a:buNone/>
            </a:pPr>
            <a:r>
              <a:rPr lang="en-US" sz="2400" dirty="0">
                <a:latin typeface="Times New Roman" panose="02020603050405020304" pitchFamily="18" charset="0"/>
              </a:rPr>
              <a:t>Find CF, ZF, and AF for each of the following. Also indicate the result of the addition and where the result is saved</a:t>
            </a:r>
          </a:p>
        </p:txBody>
      </p:sp>
      <p:sp>
        <p:nvSpPr>
          <p:cNvPr id="4" name="TextBox 3">
            <a:extLst>
              <a:ext uri="{FF2B5EF4-FFF2-40B4-BE49-F238E27FC236}">
                <a16:creationId xmlns:a16="http://schemas.microsoft.com/office/drawing/2014/main" id="{C0A67A8D-7E35-2117-48C9-732DFB73AE15}"/>
              </a:ext>
            </a:extLst>
          </p:cNvPr>
          <p:cNvSpPr txBox="1"/>
          <p:nvPr/>
        </p:nvSpPr>
        <p:spPr>
          <a:xfrm>
            <a:off x="1245354" y="2610034"/>
            <a:ext cx="5377388" cy="1162975"/>
          </a:xfrm>
          <a:prstGeom prst="rect">
            <a:avLst/>
          </a:prstGeom>
        </p:spPr>
        <p:txBody>
          <a:bodyPr vert="horz" lIns="91440" tIns="45720" rIns="91440" bIns="45720" rtlCol="0">
            <a:normAutofit/>
          </a:bodyPr>
          <a:lstStyle>
            <a:lvl1pPr indent="0">
              <a:spcBef>
                <a:spcPts val="0"/>
              </a:spcBef>
              <a:spcAft>
                <a:spcPts val="0"/>
              </a:spcAft>
              <a:buClr>
                <a:schemeClr val="bg2">
                  <a:lumMod val="40000"/>
                  <a:lumOff val="60000"/>
                </a:schemeClr>
              </a:buClr>
              <a:buSzPct val="80000"/>
              <a:buFont typeface="Wingdings 3" charset="2"/>
              <a:buNone/>
              <a:defRPr sz="2400" b="0" i="0">
                <a:latin typeface="Times New Roman" panose="02020603050405020304" pitchFamily="18" charset="0"/>
                <a:ea typeface="+mj-ea"/>
                <a:cs typeface="+mj-cs"/>
              </a:defRPr>
            </a:lvl1pPr>
            <a:lvl2pPr marL="742950" indent="-285750">
              <a:spcBef>
                <a:spcPts val="1000"/>
              </a:spcBef>
              <a:spcAft>
                <a:spcPts val="0"/>
              </a:spcAft>
              <a:buClr>
                <a:schemeClr val="bg2">
                  <a:lumMod val="40000"/>
                  <a:lumOff val="60000"/>
                </a:schemeClr>
              </a:buClr>
              <a:buSzPct val="80000"/>
              <a:buFont typeface="Wingdings 3" charset="2"/>
              <a:buChar char=""/>
              <a:defRPr b="0" i="0">
                <a:latin typeface="+mj-lt"/>
                <a:ea typeface="+mj-ea"/>
                <a:cs typeface="+mj-cs"/>
              </a:defRPr>
            </a:lvl2pPr>
            <a:lvl3pPr marL="1143000" indent="-228600">
              <a:spcBef>
                <a:spcPts val="1000"/>
              </a:spcBef>
              <a:spcAft>
                <a:spcPts val="0"/>
              </a:spcAft>
              <a:buClr>
                <a:schemeClr val="bg2">
                  <a:lumMod val="40000"/>
                  <a:lumOff val="60000"/>
                </a:schemeClr>
              </a:buClr>
              <a:buSzPct val="80000"/>
              <a:buFont typeface="Wingdings 3" charset="2"/>
              <a:buChar char=""/>
              <a:defRPr sz="1600" b="0" i="0">
                <a:latin typeface="+mj-lt"/>
                <a:ea typeface="+mj-ea"/>
                <a:cs typeface="+mj-cs"/>
              </a:defRPr>
            </a:lvl3pPr>
            <a:lvl4pPr marL="16002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4pPr>
            <a:lvl5pPr marL="20574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5pPr>
            <a:lvl6pPr marL="25060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6pPr>
            <a:lvl7pPr marL="29718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7pPr>
            <a:lvl8pPr marL="34290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8pPr>
            <a:lvl9pPr marL="38862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9pPr>
          </a:lstStyle>
          <a:p>
            <a:pPr marL="171450" indent="-457200">
              <a:buFont typeface="+mj-lt"/>
              <a:buAutoNum type="alphaLcParenR"/>
            </a:pPr>
            <a:r>
              <a:rPr lang="en-US" dirty="0"/>
              <a:t>MOV BH,3FH </a:t>
            </a:r>
            <a:br>
              <a:rPr lang="en-US" dirty="0"/>
            </a:br>
            <a:r>
              <a:rPr lang="en-US" dirty="0"/>
              <a:t>    ADD BH,45H</a:t>
            </a:r>
          </a:p>
        </p:txBody>
      </p:sp>
      <p:pic>
        <p:nvPicPr>
          <p:cNvPr id="6" name="Picture 5">
            <a:extLst>
              <a:ext uri="{FF2B5EF4-FFF2-40B4-BE49-F238E27FC236}">
                <a16:creationId xmlns:a16="http://schemas.microsoft.com/office/drawing/2014/main" id="{160BD9AD-8026-0992-CE37-1F69DD68DE7E}"/>
              </a:ext>
            </a:extLst>
          </p:cNvPr>
          <p:cNvPicPr>
            <a:picLocks noChangeAspect="1"/>
          </p:cNvPicPr>
          <p:nvPr/>
        </p:nvPicPr>
        <p:blipFill>
          <a:blip r:embed="rId2"/>
          <a:stretch>
            <a:fillRect/>
          </a:stretch>
        </p:blipFill>
        <p:spPr>
          <a:xfrm>
            <a:off x="7702858" y="2692942"/>
            <a:ext cx="2919096" cy="2160133"/>
          </a:xfrm>
          <a:prstGeom prst="rect">
            <a:avLst/>
          </a:prstGeom>
        </p:spPr>
      </p:pic>
      <p:graphicFrame>
        <p:nvGraphicFramePr>
          <p:cNvPr id="8" name="Table 8">
            <a:extLst>
              <a:ext uri="{FF2B5EF4-FFF2-40B4-BE49-F238E27FC236}">
                <a16:creationId xmlns:a16="http://schemas.microsoft.com/office/drawing/2014/main" id="{774508C4-5D93-9BBC-5750-A59995E7CF35}"/>
              </a:ext>
            </a:extLst>
          </p:cNvPr>
          <p:cNvGraphicFramePr>
            <a:graphicFrameLocks noGrp="1"/>
          </p:cNvGraphicFramePr>
          <p:nvPr>
            <p:extLst>
              <p:ext uri="{D42A27DB-BD31-4B8C-83A1-F6EECF244321}">
                <p14:modId xmlns:p14="http://schemas.microsoft.com/office/powerpoint/2010/main" val="3715420495"/>
              </p:ext>
            </p:extLst>
          </p:nvPr>
        </p:nvGraphicFramePr>
        <p:xfrm>
          <a:off x="2467006" y="4518734"/>
          <a:ext cx="4564110" cy="736600"/>
        </p:xfrm>
        <a:graphic>
          <a:graphicData uri="http://schemas.openxmlformats.org/drawingml/2006/table">
            <a:tbl>
              <a:tblPr firstRow="1" bandRow="1">
                <a:tableStyleId>{5C22544A-7EE6-4342-B048-85BDC9FD1C3A}</a:tableStyleId>
              </a:tblPr>
              <a:tblGrid>
                <a:gridCol w="1521370">
                  <a:extLst>
                    <a:ext uri="{9D8B030D-6E8A-4147-A177-3AD203B41FA5}">
                      <a16:colId xmlns:a16="http://schemas.microsoft.com/office/drawing/2014/main" val="3613960081"/>
                    </a:ext>
                  </a:extLst>
                </a:gridCol>
                <a:gridCol w="1521370">
                  <a:extLst>
                    <a:ext uri="{9D8B030D-6E8A-4147-A177-3AD203B41FA5}">
                      <a16:colId xmlns:a16="http://schemas.microsoft.com/office/drawing/2014/main" val="4139411549"/>
                    </a:ext>
                  </a:extLst>
                </a:gridCol>
                <a:gridCol w="1521370">
                  <a:extLst>
                    <a:ext uri="{9D8B030D-6E8A-4147-A177-3AD203B41FA5}">
                      <a16:colId xmlns:a16="http://schemas.microsoft.com/office/drawing/2014/main" val="2342331875"/>
                    </a:ext>
                  </a:extLst>
                </a:gridCol>
              </a:tblGrid>
              <a:tr h="358565">
                <a:tc>
                  <a:txBody>
                    <a:bodyPr/>
                    <a:lstStyle/>
                    <a:p>
                      <a:pPr algn="ctr"/>
                      <a:r>
                        <a:rPr lang="en-US" dirty="0"/>
                        <a:t>CF</a:t>
                      </a:r>
                    </a:p>
                  </a:txBody>
                  <a:tcPr/>
                </a:tc>
                <a:tc>
                  <a:txBody>
                    <a:bodyPr/>
                    <a:lstStyle/>
                    <a:p>
                      <a:pPr algn="ctr"/>
                      <a:r>
                        <a:rPr lang="en-US" dirty="0"/>
                        <a:t>ZF</a:t>
                      </a:r>
                    </a:p>
                  </a:txBody>
                  <a:tcPr/>
                </a:tc>
                <a:tc>
                  <a:txBody>
                    <a:bodyPr/>
                    <a:lstStyle/>
                    <a:p>
                      <a:pPr algn="ctr"/>
                      <a:r>
                        <a:rPr lang="en-US" dirty="0"/>
                        <a:t>AF</a:t>
                      </a:r>
                    </a:p>
                  </a:txBody>
                  <a:tcPr/>
                </a:tc>
                <a:extLst>
                  <a:ext uri="{0D108BD9-81ED-4DB2-BD59-A6C34878D82A}">
                    <a16:rowId xmlns:a16="http://schemas.microsoft.com/office/drawing/2014/main" val="1383217334"/>
                  </a:ext>
                </a:extLst>
              </a:tr>
              <a:tr h="370840">
                <a:tc>
                  <a:txBody>
                    <a:bodyPr/>
                    <a:lstStyle/>
                    <a:p>
                      <a:pPr algn="ctr"/>
                      <a:r>
                        <a:rPr lang="en-US" dirty="0"/>
                        <a:t>0</a:t>
                      </a:r>
                    </a:p>
                  </a:txBody>
                  <a:tcPr/>
                </a:tc>
                <a:tc>
                  <a:txBody>
                    <a:bodyPr/>
                    <a:lstStyle/>
                    <a:p>
                      <a:pPr algn="ctr"/>
                      <a:r>
                        <a:rPr lang="en-US" dirty="0"/>
                        <a:t>0</a:t>
                      </a:r>
                    </a:p>
                  </a:txBody>
                  <a:tcPr/>
                </a:tc>
                <a:tc>
                  <a:txBody>
                    <a:bodyPr/>
                    <a:lstStyle/>
                    <a:p>
                      <a:pPr algn="ctr"/>
                      <a:r>
                        <a:rPr lang="en-US" dirty="0"/>
                        <a:t>1</a:t>
                      </a:r>
                    </a:p>
                  </a:txBody>
                  <a:tcPr/>
                </a:tc>
                <a:extLst>
                  <a:ext uri="{0D108BD9-81ED-4DB2-BD59-A6C34878D82A}">
                    <a16:rowId xmlns:a16="http://schemas.microsoft.com/office/drawing/2014/main" val="4212303573"/>
                  </a:ext>
                </a:extLst>
              </a:tr>
            </a:tbl>
          </a:graphicData>
        </a:graphic>
      </p:graphicFrame>
      <p:sp>
        <p:nvSpPr>
          <p:cNvPr id="9" name="TextBox 8">
            <a:extLst>
              <a:ext uri="{FF2B5EF4-FFF2-40B4-BE49-F238E27FC236}">
                <a16:creationId xmlns:a16="http://schemas.microsoft.com/office/drawing/2014/main" id="{6BCC6AEC-C27C-FAD1-DBA3-12F669F5BAC5}"/>
              </a:ext>
            </a:extLst>
          </p:cNvPr>
          <p:cNvSpPr txBox="1"/>
          <p:nvPr/>
        </p:nvSpPr>
        <p:spPr>
          <a:xfrm>
            <a:off x="2467006" y="5477522"/>
            <a:ext cx="4564110" cy="369332"/>
          </a:xfrm>
          <a:prstGeom prst="rect">
            <a:avLst/>
          </a:prstGeom>
          <a:noFill/>
        </p:spPr>
        <p:txBody>
          <a:bodyPr wrap="square" rtlCol="0">
            <a:spAutoFit/>
          </a:bodyPr>
          <a:lstStyle/>
          <a:p>
            <a:r>
              <a:rPr lang="en-US" dirty="0">
                <a:solidFill>
                  <a:schemeClr val="accent3">
                    <a:lumMod val="60000"/>
                    <a:lumOff val="40000"/>
                  </a:schemeClr>
                </a:solidFill>
              </a:rPr>
              <a:t>The result will be stored in: BH</a:t>
            </a:r>
          </a:p>
        </p:txBody>
      </p:sp>
    </p:spTree>
    <p:extLst>
      <p:ext uri="{BB962C8B-B14F-4D97-AF65-F5344CB8AC3E}">
        <p14:creationId xmlns:p14="http://schemas.microsoft.com/office/powerpoint/2010/main" val="205949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4CA9A-99E3-F520-37D7-802DEB61E463}"/>
              </a:ext>
            </a:extLst>
          </p:cNvPr>
          <p:cNvSpPr>
            <a:spLocks noGrp="1"/>
          </p:cNvSpPr>
          <p:nvPr>
            <p:ph type="title"/>
          </p:nvPr>
        </p:nvSpPr>
        <p:spPr/>
        <p:txBody>
          <a:bodyPr/>
          <a:lstStyle/>
          <a:p>
            <a:r>
              <a:rPr lang="en-US" dirty="0"/>
              <a:t>Problem 5</a:t>
            </a:r>
          </a:p>
        </p:txBody>
      </p:sp>
      <p:sp>
        <p:nvSpPr>
          <p:cNvPr id="3" name="Content Placeholder 2">
            <a:extLst>
              <a:ext uri="{FF2B5EF4-FFF2-40B4-BE49-F238E27FC236}">
                <a16:creationId xmlns:a16="http://schemas.microsoft.com/office/drawing/2014/main" id="{58CE03A7-C73E-6A38-F6FF-20C03230CD7A}"/>
              </a:ext>
            </a:extLst>
          </p:cNvPr>
          <p:cNvSpPr>
            <a:spLocks noGrp="1"/>
          </p:cNvSpPr>
          <p:nvPr>
            <p:ph idx="1"/>
          </p:nvPr>
        </p:nvSpPr>
        <p:spPr>
          <a:xfrm>
            <a:off x="987902" y="1502503"/>
            <a:ext cx="8946541" cy="921101"/>
          </a:xfrm>
        </p:spPr>
        <p:txBody>
          <a:bodyPr vert="horz" lIns="91440" tIns="45720" rIns="91440" bIns="45720" rtlCol="0">
            <a:normAutofit/>
          </a:bodyPr>
          <a:lstStyle/>
          <a:p>
            <a:pPr marL="0" indent="0">
              <a:spcBef>
                <a:spcPts val="0"/>
              </a:spcBef>
              <a:buNone/>
            </a:pPr>
            <a:r>
              <a:rPr lang="en-US" sz="2400" dirty="0">
                <a:latin typeface="Times New Roman" panose="02020603050405020304" pitchFamily="18" charset="0"/>
              </a:rPr>
              <a:t>Find CF, ZF, and AF for each of the following. Also indicate the result of the addition and where the result is saved</a:t>
            </a:r>
          </a:p>
        </p:txBody>
      </p:sp>
      <p:sp>
        <p:nvSpPr>
          <p:cNvPr id="4" name="TextBox 3">
            <a:extLst>
              <a:ext uri="{FF2B5EF4-FFF2-40B4-BE49-F238E27FC236}">
                <a16:creationId xmlns:a16="http://schemas.microsoft.com/office/drawing/2014/main" id="{C0A67A8D-7E35-2117-48C9-732DFB73AE15}"/>
              </a:ext>
            </a:extLst>
          </p:cNvPr>
          <p:cNvSpPr txBox="1"/>
          <p:nvPr/>
        </p:nvSpPr>
        <p:spPr>
          <a:xfrm>
            <a:off x="1245354" y="2610034"/>
            <a:ext cx="5377388" cy="1162975"/>
          </a:xfrm>
          <a:prstGeom prst="rect">
            <a:avLst/>
          </a:prstGeom>
        </p:spPr>
        <p:txBody>
          <a:bodyPr vert="horz" lIns="91440" tIns="45720" rIns="91440" bIns="45720" rtlCol="0">
            <a:normAutofit/>
          </a:bodyPr>
          <a:lstStyle>
            <a:lvl1pPr indent="0">
              <a:spcBef>
                <a:spcPts val="0"/>
              </a:spcBef>
              <a:spcAft>
                <a:spcPts val="0"/>
              </a:spcAft>
              <a:buClr>
                <a:schemeClr val="bg2">
                  <a:lumMod val="40000"/>
                  <a:lumOff val="60000"/>
                </a:schemeClr>
              </a:buClr>
              <a:buSzPct val="80000"/>
              <a:buFont typeface="Wingdings 3" charset="2"/>
              <a:buNone/>
              <a:defRPr sz="2400" b="0" i="0">
                <a:latin typeface="Times New Roman" panose="02020603050405020304" pitchFamily="18" charset="0"/>
                <a:ea typeface="+mj-ea"/>
                <a:cs typeface="+mj-cs"/>
              </a:defRPr>
            </a:lvl1pPr>
            <a:lvl2pPr marL="742950" indent="-285750">
              <a:spcBef>
                <a:spcPts val="1000"/>
              </a:spcBef>
              <a:spcAft>
                <a:spcPts val="0"/>
              </a:spcAft>
              <a:buClr>
                <a:schemeClr val="bg2">
                  <a:lumMod val="40000"/>
                  <a:lumOff val="60000"/>
                </a:schemeClr>
              </a:buClr>
              <a:buSzPct val="80000"/>
              <a:buFont typeface="Wingdings 3" charset="2"/>
              <a:buChar char=""/>
              <a:defRPr b="0" i="0">
                <a:latin typeface="+mj-lt"/>
                <a:ea typeface="+mj-ea"/>
                <a:cs typeface="+mj-cs"/>
              </a:defRPr>
            </a:lvl2pPr>
            <a:lvl3pPr marL="1143000" indent="-228600">
              <a:spcBef>
                <a:spcPts val="1000"/>
              </a:spcBef>
              <a:spcAft>
                <a:spcPts val="0"/>
              </a:spcAft>
              <a:buClr>
                <a:schemeClr val="bg2">
                  <a:lumMod val="40000"/>
                  <a:lumOff val="60000"/>
                </a:schemeClr>
              </a:buClr>
              <a:buSzPct val="80000"/>
              <a:buFont typeface="Wingdings 3" charset="2"/>
              <a:buChar char=""/>
              <a:defRPr sz="1600" b="0" i="0">
                <a:latin typeface="+mj-lt"/>
                <a:ea typeface="+mj-ea"/>
                <a:cs typeface="+mj-cs"/>
              </a:defRPr>
            </a:lvl3pPr>
            <a:lvl4pPr marL="16002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4pPr>
            <a:lvl5pPr marL="20574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5pPr>
            <a:lvl6pPr marL="25060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6pPr>
            <a:lvl7pPr marL="29718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7pPr>
            <a:lvl8pPr marL="34290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8pPr>
            <a:lvl9pPr marL="38862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9pPr>
          </a:lstStyle>
          <a:p>
            <a:pPr marL="171450" indent="-457200">
              <a:buFont typeface="+mj-lt"/>
              <a:buAutoNum type="alphaLcParenR" startAt="2"/>
            </a:pPr>
            <a:r>
              <a:rPr lang="en-US" dirty="0"/>
              <a:t>MOV BX,0FF01H</a:t>
            </a:r>
            <a:br>
              <a:rPr lang="en-US" dirty="0"/>
            </a:br>
            <a:r>
              <a:rPr lang="en-US" dirty="0"/>
              <a:t>    ADD BL,BH</a:t>
            </a:r>
          </a:p>
        </p:txBody>
      </p:sp>
      <p:graphicFrame>
        <p:nvGraphicFramePr>
          <p:cNvPr id="5" name="Table 8">
            <a:extLst>
              <a:ext uri="{FF2B5EF4-FFF2-40B4-BE49-F238E27FC236}">
                <a16:creationId xmlns:a16="http://schemas.microsoft.com/office/drawing/2014/main" id="{2625F9C4-E33C-4AFC-F73C-3A245F40ADF6}"/>
              </a:ext>
            </a:extLst>
          </p:cNvPr>
          <p:cNvGraphicFramePr>
            <a:graphicFrameLocks noGrp="1"/>
          </p:cNvGraphicFramePr>
          <p:nvPr>
            <p:extLst>
              <p:ext uri="{D42A27DB-BD31-4B8C-83A1-F6EECF244321}">
                <p14:modId xmlns:p14="http://schemas.microsoft.com/office/powerpoint/2010/main" val="454873527"/>
              </p:ext>
            </p:extLst>
          </p:nvPr>
        </p:nvGraphicFramePr>
        <p:xfrm>
          <a:off x="2467006" y="4518734"/>
          <a:ext cx="4564110" cy="736600"/>
        </p:xfrm>
        <a:graphic>
          <a:graphicData uri="http://schemas.openxmlformats.org/drawingml/2006/table">
            <a:tbl>
              <a:tblPr firstRow="1" bandRow="1">
                <a:tableStyleId>{5C22544A-7EE6-4342-B048-85BDC9FD1C3A}</a:tableStyleId>
              </a:tblPr>
              <a:tblGrid>
                <a:gridCol w="1521370">
                  <a:extLst>
                    <a:ext uri="{9D8B030D-6E8A-4147-A177-3AD203B41FA5}">
                      <a16:colId xmlns:a16="http://schemas.microsoft.com/office/drawing/2014/main" val="3613960081"/>
                    </a:ext>
                  </a:extLst>
                </a:gridCol>
                <a:gridCol w="1521370">
                  <a:extLst>
                    <a:ext uri="{9D8B030D-6E8A-4147-A177-3AD203B41FA5}">
                      <a16:colId xmlns:a16="http://schemas.microsoft.com/office/drawing/2014/main" val="4139411549"/>
                    </a:ext>
                  </a:extLst>
                </a:gridCol>
                <a:gridCol w="1521370">
                  <a:extLst>
                    <a:ext uri="{9D8B030D-6E8A-4147-A177-3AD203B41FA5}">
                      <a16:colId xmlns:a16="http://schemas.microsoft.com/office/drawing/2014/main" val="2342331875"/>
                    </a:ext>
                  </a:extLst>
                </a:gridCol>
              </a:tblGrid>
              <a:tr h="358565">
                <a:tc>
                  <a:txBody>
                    <a:bodyPr/>
                    <a:lstStyle/>
                    <a:p>
                      <a:pPr algn="ctr"/>
                      <a:r>
                        <a:rPr lang="en-US" dirty="0"/>
                        <a:t>CF</a:t>
                      </a:r>
                    </a:p>
                  </a:txBody>
                  <a:tcPr/>
                </a:tc>
                <a:tc>
                  <a:txBody>
                    <a:bodyPr/>
                    <a:lstStyle/>
                    <a:p>
                      <a:pPr algn="ctr"/>
                      <a:r>
                        <a:rPr lang="en-US" dirty="0"/>
                        <a:t>ZF</a:t>
                      </a:r>
                    </a:p>
                  </a:txBody>
                  <a:tcPr/>
                </a:tc>
                <a:tc>
                  <a:txBody>
                    <a:bodyPr/>
                    <a:lstStyle/>
                    <a:p>
                      <a:pPr algn="ctr"/>
                      <a:r>
                        <a:rPr lang="en-US" dirty="0"/>
                        <a:t>AF</a:t>
                      </a:r>
                    </a:p>
                  </a:txBody>
                  <a:tcPr/>
                </a:tc>
                <a:extLst>
                  <a:ext uri="{0D108BD9-81ED-4DB2-BD59-A6C34878D82A}">
                    <a16:rowId xmlns:a16="http://schemas.microsoft.com/office/drawing/2014/main" val="1383217334"/>
                  </a:ext>
                </a:extLst>
              </a:tr>
              <a:tr h="370840">
                <a:tc>
                  <a:txBody>
                    <a:bodyPr/>
                    <a:lstStyle/>
                    <a:p>
                      <a:pPr algn="ctr"/>
                      <a:r>
                        <a:rPr lang="en-US" dirty="0"/>
                        <a:t>1</a:t>
                      </a:r>
                    </a:p>
                  </a:txBody>
                  <a:tcPr/>
                </a:tc>
                <a:tc>
                  <a:txBody>
                    <a:bodyPr/>
                    <a:lstStyle/>
                    <a:p>
                      <a:pPr algn="ctr"/>
                      <a:r>
                        <a:rPr lang="en-US" dirty="0"/>
                        <a:t>1</a:t>
                      </a:r>
                    </a:p>
                  </a:txBody>
                  <a:tcPr/>
                </a:tc>
                <a:tc>
                  <a:txBody>
                    <a:bodyPr/>
                    <a:lstStyle/>
                    <a:p>
                      <a:pPr algn="ctr"/>
                      <a:r>
                        <a:rPr lang="en-US" dirty="0"/>
                        <a:t>1</a:t>
                      </a:r>
                    </a:p>
                  </a:txBody>
                  <a:tcPr/>
                </a:tc>
                <a:extLst>
                  <a:ext uri="{0D108BD9-81ED-4DB2-BD59-A6C34878D82A}">
                    <a16:rowId xmlns:a16="http://schemas.microsoft.com/office/drawing/2014/main" val="4212303573"/>
                  </a:ext>
                </a:extLst>
              </a:tr>
            </a:tbl>
          </a:graphicData>
        </a:graphic>
      </p:graphicFrame>
      <p:pic>
        <p:nvPicPr>
          <p:cNvPr id="7" name="Picture 6">
            <a:extLst>
              <a:ext uri="{FF2B5EF4-FFF2-40B4-BE49-F238E27FC236}">
                <a16:creationId xmlns:a16="http://schemas.microsoft.com/office/drawing/2014/main" id="{F353EB37-DFD2-A053-444F-F365D6775E12}"/>
              </a:ext>
            </a:extLst>
          </p:cNvPr>
          <p:cNvPicPr>
            <a:picLocks noChangeAspect="1"/>
          </p:cNvPicPr>
          <p:nvPr/>
        </p:nvPicPr>
        <p:blipFill>
          <a:blip r:embed="rId2"/>
          <a:stretch>
            <a:fillRect/>
          </a:stretch>
        </p:blipFill>
        <p:spPr>
          <a:xfrm>
            <a:off x="7814877" y="2843937"/>
            <a:ext cx="2669390" cy="1840388"/>
          </a:xfrm>
          <a:prstGeom prst="rect">
            <a:avLst/>
          </a:prstGeom>
        </p:spPr>
      </p:pic>
      <p:sp>
        <p:nvSpPr>
          <p:cNvPr id="8" name="TextBox 7">
            <a:extLst>
              <a:ext uri="{FF2B5EF4-FFF2-40B4-BE49-F238E27FC236}">
                <a16:creationId xmlns:a16="http://schemas.microsoft.com/office/drawing/2014/main" id="{D504721B-DD98-F781-A079-15AD6CCFFAEC}"/>
              </a:ext>
            </a:extLst>
          </p:cNvPr>
          <p:cNvSpPr txBox="1"/>
          <p:nvPr/>
        </p:nvSpPr>
        <p:spPr>
          <a:xfrm>
            <a:off x="2467006" y="5477522"/>
            <a:ext cx="4564110" cy="369332"/>
          </a:xfrm>
          <a:prstGeom prst="rect">
            <a:avLst/>
          </a:prstGeom>
          <a:noFill/>
        </p:spPr>
        <p:txBody>
          <a:bodyPr wrap="square" rtlCol="0">
            <a:spAutoFit/>
          </a:bodyPr>
          <a:lstStyle/>
          <a:p>
            <a:r>
              <a:rPr lang="en-US" dirty="0">
                <a:solidFill>
                  <a:schemeClr val="accent3">
                    <a:lumMod val="60000"/>
                    <a:lumOff val="40000"/>
                  </a:schemeClr>
                </a:solidFill>
              </a:rPr>
              <a:t>The result will be stored in: BL</a:t>
            </a:r>
          </a:p>
        </p:txBody>
      </p:sp>
    </p:spTree>
    <p:extLst>
      <p:ext uri="{BB962C8B-B14F-4D97-AF65-F5344CB8AC3E}">
        <p14:creationId xmlns:p14="http://schemas.microsoft.com/office/powerpoint/2010/main" val="2424007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4CA9A-99E3-F520-37D7-802DEB61E463}"/>
              </a:ext>
            </a:extLst>
          </p:cNvPr>
          <p:cNvSpPr>
            <a:spLocks noGrp="1"/>
          </p:cNvSpPr>
          <p:nvPr>
            <p:ph type="title"/>
          </p:nvPr>
        </p:nvSpPr>
        <p:spPr/>
        <p:txBody>
          <a:bodyPr/>
          <a:lstStyle/>
          <a:p>
            <a:r>
              <a:rPr lang="en-US" dirty="0"/>
              <a:t>Problem 5</a:t>
            </a:r>
          </a:p>
        </p:txBody>
      </p:sp>
      <p:sp>
        <p:nvSpPr>
          <p:cNvPr id="3" name="Content Placeholder 2">
            <a:extLst>
              <a:ext uri="{FF2B5EF4-FFF2-40B4-BE49-F238E27FC236}">
                <a16:creationId xmlns:a16="http://schemas.microsoft.com/office/drawing/2014/main" id="{58CE03A7-C73E-6A38-F6FF-20C03230CD7A}"/>
              </a:ext>
            </a:extLst>
          </p:cNvPr>
          <p:cNvSpPr>
            <a:spLocks noGrp="1"/>
          </p:cNvSpPr>
          <p:nvPr>
            <p:ph idx="1"/>
          </p:nvPr>
        </p:nvSpPr>
        <p:spPr>
          <a:xfrm>
            <a:off x="987902" y="1502503"/>
            <a:ext cx="8946541" cy="921101"/>
          </a:xfrm>
        </p:spPr>
        <p:txBody>
          <a:bodyPr vert="horz" lIns="91440" tIns="45720" rIns="91440" bIns="45720" rtlCol="0">
            <a:normAutofit/>
          </a:bodyPr>
          <a:lstStyle/>
          <a:p>
            <a:pPr marL="0" indent="0">
              <a:spcBef>
                <a:spcPts val="0"/>
              </a:spcBef>
              <a:buNone/>
            </a:pPr>
            <a:r>
              <a:rPr lang="en-US" sz="2400" dirty="0">
                <a:latin typeface="Times New Roman" panose="02020603050405020304" pitchFamily="18" charset="0"/>
              </a:rPr>
              <a:t>Find CF, ZF, and AF for each of the following. Also indicate the result of the addition and where the result is saved</a:t>
            </a:r>
          </a:p>
        </p:txBody>
      </p:sp>
      <p:sp>
        <p:nvSpPr>
          <p:cNvPr id="4" name="TextBox 3">
            <a:extLst>
              <a:ext uri="{FF2B5EF4-FFF2-40B4-BE49-F238E27FC236}">
                <a16:creationId xmlns:a16="http://schemas.microsoft.com/office/drawing/2014/main" id="{C0A67A8D-7E35-2117-48C9-732DFB73AE15}"/>
              </a:ext>
            </a:extLst>
          </p:cNvPr>
          <p:cNvSpPr txBox="1"/>
          <p:nvPr/>
        </p:nvSpPr>
        <p:spPr>
          <a:xfrm>
            <a:off x="1245354" y="2610034"/>
            <a:ext cx="5377388" cy="1162975"/>
          </a:xfrm>
          <a:prstGeom prst="rect">
            <a:avLst/>
          </a:prstGeom>
        </p:spPr>
        <p:txBody>
          <a:bodyPr vert="horz" lIns="91440" tIns="45720" rIns="91440" bIns="45720" rtlCol="0">
            <a:normAutofit lnSpcReduction="10000"/>
          </a:bodyPr>
          <a:lstStyle>
            <a:lvl1pPr indent="0">
              <a:spcBef>
                <a:spcPts val="0"/>
              </a:spcBef>
              <a:spcAft>
                <a:spcPts val="0"/>
              </a:spcAft>
              <a:buClr>
                <a:schemeClr val="bg2">
                  <a:lumMod val="40000"/>
                  <a:lumOff val="60000"/>
                </a:schemeClr>
              </a:buClr>
              <a:buSzPct val="80000"/>
              <a:buFont typeface="Wingdings 3" charset="2"/>
              <a:buNone/>
              <a:defRPr sz="2400" b="0" i="0">
                <a:latin typeface="Times New Roman" panose="02020603050405020304" pitchFamily="18" charset="0"/>
                <a:ea typeface="+mj-ea"/>
                <a:cs typeface="+mj-cs"/>
              </a:defRPr>
            </a:lvl1pPr>
            <a:lvl2pPr marL="742950" indent="-285750">
              <a:spcBef>
                <a:spcPts val="1000"/>
              </a:spcBef>
              <a:spcAft>
                <a:spcPts val="0"/>
              </a:spcAft>
              <a:buClr>
                <a:schemeClr val="bg2">
                  <a:lumMod val="40000"/>
                  <a:lumOff val="60000"/>
                </a:schemeClr>
              </a:buClr>
              <a:buSzPct val="80000"/>
              <a:buFont typeface="Wingdings 3" charset="2"/>
              <a:buChar char=""/>
              <a:defRPr b="0" i="0">
                <a:latin typeface="+mj-lt"/>
                <a:ea typeface="+mj-ea"/>
                <a:cs typeface="+mj-cs"/>
              </a:defRPr>
            </a:lvl2pPr>
            <a:lvl3pPr marL="1143000" indent="-228600">
              <a:spcBef>
                <a:spcPts val="1000"/>
              </a:spcBef>
              <a:spcAft>
                <a:spcPts val="0"/>
              </a:spcAft>
              <a:buClr>
                <a:schemeClr val="bg2">
                  <a:lumMod val="40000"/>
                  <a:lumOff val="60000"/>
                </a:schemeClr>
              </a:buClr>
              <a:buSzPct val="80000"/>
              <a:buFont typeface="Wingdings 3" charset="2"/>
              <a:buChar char=""/>
              <a:defRPr sz="1600" b="0" i="0">
                <a:latin typeface="+mj-lt"/>
                <a:ea typeface="+mj-ea"/>
                <a:cs typeface="+mj-cs"/>
              </a:defRPr>
            </a:lvl3pPr>
            <a:lvl4pPr marL="16002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4pPr>
            <a:lvl5pPr marL="20574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5pPr>
            <a:lvl6pPr marL="25060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6pPr>
            <a:lvl7pPr marL="29718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7pPr>
            <a:lvl8pPr marL="34290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8pPr>
            <a:lvl9pPr marL="38862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9pPr>
          </a:lstStyle>
          <a:p>
            <a:pPr marL="171450" indent="-457200">
              <a:buFont typeface="+mj-lt"/>
              <a:buAutoNum type="alphaLcParenR" startAt="3"/>
            </a:pPr>
            <a:r>
              <a:rPr lang="en-US" dirty="0"/>
              <a:t>MOV AH,0FEH</a:t>
            </a:r>
            <a:br>
              <a:rPr lang="en-US" dirty="0"/>
            </a:br>
            <a:r>
              <a:rPr lang="en-US" dirty="0"/>
              <a:t>	STC</a:t>
            </a:r>
            <a:br>
              <a:rPr lang="en-US" dirty="0"/>
            </a:br>
            <a:r>
              <a:rPr lang="en-US" dirty="0"/>
              <a:t>	ADC AH,00</a:t>
            </a:r>
          </a:p>
        </p:txBody>
      </p:sp>
      <p:graphicFrame>
        <p:nvGraphicFramePr>
          <p:cNvPr id="5" name="Table 8">
            <a:extLst>
              <a:ext uri="{FF2B5EF4-FFF2-40B4-BE49-F238E27FC236}">
                <a16:creationId xmlns:a16="http://schemas.microsoft.com/office/drawing/2014/main" id="{25A33D63-0EA7-0BE3-2E0C-A586FEC6776A}"/>
              </a:ext>
            </a:extLst>
          </p:cNvPr>
          <p:cNvGraphicFramePr>
            <a:graphicFrameLocks noGrp="1"/>
          </p:cNvGraphicFramePr>
          <p:nvPr>
            <p:extLst>
              <p:ext uri="{D42A27DB-BD31-4B8C-83A1-F6EECF244321}">
                <p14:modId xmlns:p14="http://schemas.microsoft.com/office/powerpoint/2010/main" val="3248780101"/>
              </p:ext>
            </p:extLst>
          </p:nvPr>
        </p:nvGraphicFramePr>
        <p:xfrm>
          <a:off x="2467006" y="4518734"/>
          <a:ext cx="4564110" cy="736600"/>
        </p:xfrm>
        <a:graphic>
          <a:graphicData uri="http://schemas.openxmlformats.org/drawingml/2006/table">
            <a:tbl>
              <a:tblPr firstRow="1" bandRow="1">
                <a:tableStyleId>{5C22544A-7EE6-4342-B048-85BDC9FD1C3A}</a:tableStyleId>
              </a:tblPr>
              <a:tblGrid>
                <a:gridCol w="1521370">
                  <a:extLst>
                    <a:ext uri="{9D8B030D-6E8A-4147-A177-3AD203B41FA5}">
                      <a16:colId xmlns:a16="http://schemas.microsoft.com/office/drawing/2014/main" val="3613960081"/>
                    </a:ext>
                  </a:extLst>
                </a:gridCol>
                <a:gridCol w="1521370">
                  <a:extLst>
                    <a:ext uri="{9D8B030D-6E8A-4147-A177-3AD203B41FA5}">
                      <a16:colId xmlns:a16="http://schemas.microsoft.com/office/drawing/2014/main" val="4139411549"/>
                    </a:ext>
                  </a:extLst>
                </a:gridCol>
                <a:gridCol w="1521370">
                  <a:extLst>
                    <a:ext uri="{9D8B030D-6E8A-4147-A177-3AD203B41FA5}">
                      <a16:colId xmlns:a16="http://schemas.microsoft.com/office/drawing/2014/main" val="2342331875"/>
                    </a:ext>
                  </a:extLst>
                </a:gridCol>
              </a:tblGrid>
              <a:tr h="358565">
                <a:tc>
                  <a:txBody>
                    <a:bodyPr/>
                    <a:lstStyle/>
                    <a:p>
                      <a:pPr algn="ctr"/>
                      <a:r>
                        <a:rPr lang="en-US" dirty="0"/>
                        <a:t>CF</a:t>
                      </a:r>
                    </a:p>
                  </a:txBody>
                  <a:tcPr/>
                </a:tc>
                <a:tc>
                  <a:txBody>
                    <a:bodyPr/>
                    <a:lstStyle/>
                    <a:p>
                      <a:pPr algn="ctr"/>
                      <a:r>
                        <a:rPr lang="en-US" dirty="0"/>
                        <a:t>ZF</a:t>
                      </a:r>
                    </a:p>
                  </a:txBody>
                  <a:tcPr/>
                </a:tc>
                <a:tc>
                  <a:txBody>
                    <a:bodyPr/>
                    <a:lstStyle/>
                    <a:p>
                      <a:pPr algn="ctr"/>
                      <a:r>
                        <a:rPr lang="en-US" dirty="0"/>
                        <a:t>AF</a:t>
                      </a:r>
                    </a:p>
                  </a:txBody>
                  <a:tcPr/>
                </a:tc>
                <a:extLst>
                  <a:ext uri="{0D108BD9-81ED-4DB2-BD59-A6C34878D82A}">
                    <a16:rowId xmlns:a16="http://schemas.microsoft.com/office/drawing/2014/main" val="1383217334"/>
                  </a:ext>
                </a:extLst>
              </a:tr>
              <a:tr h="370840">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4212303573"/>
                  </a:ext>
                </a:extLst>
              </a:tr>
            </a:tbl>
          </a:graphicData>
        </a:graphic>
      </p:graphicFrame>
      <p:pic>
        <p:nvPicPr>
          <p:cNvPr id="7" name="Picture 6">
            <a:extLst>
              <a:ext uri="{FF2B5EF4-FFF2-40B4-BE49-F238E27FC236}">
                <a16:creationId xmlns:a16="http://schemas.microsoft.com/office/drawing/2014/main" id="{C6E09146-4717-65AA-BCE2-982542C3FB33}"/>
              </a:ext>
            </a:extLst>
          </p:cNvPr>
          <p:cNvPicPr>
            <a:picLocks noChangeAspect="1"/>
          </p:cNvPicPr>
          <p:nvPr/>
        </p:nvPicPr>
        <p:blipFill>
          <a:blip r:embed="rId2"/>
          <a:stretch>
            <a:fillRect/>
          </a:stretch>
        </p:blipFill>
        <p:spPr>
          <a:xfrm>
            <a:off x="7788670" y="2903033"/>
            <a:ext cx="2539473" cy="1826334"/>
          </a:xfrm>
          <a:prstGeom prst="rect">
            <a:avLst/>
          </a:prstGeom>
        </p:spPr>
      </p:pic>
      <p:sp>
        <p:nvSpPr>
          <p:cNvPr id="8" name="TextBox 7">
            <a:extLst>
              <a:ext uri="{FF2B5EF4-FFF2-40B4-BE49-F238E27FC236}">
                <a16:creationId xmlns:a16="http://schemas.microsoft.com/office/drawing/2014/main" id="{DDFCF1E3-8500-0624-E446-F1F591300338}"/>
              </a:ext>
            </a:extLst>
          </p:cNvPr>
          <p:cNvSpPr txBox="1"/>
          <p:nvPr/>
        </p:nvSpPr>
        <p:spPr>
          <a:xfrm>
            <a:off x="2467006" y="5477522"/>
            <a:ext cx="4564110" cy="369332"/>
          </a:xfrm>
          <a:prstGeom prst="rect">
            <a:avLst/>
          </a:prstGeom>
          <a:noFill/>
        </p:spPr>
        <p:txBody>
          <a:bodyPr wrap="square" rtlCol="0">
            <a:spAutoFit/>
          </a:bodyPr>
          <a:lstStyle/>
          <a:p>
            <a:r>
              <a:rPr lang="en-US" dirty="0">
                <a:solidFill>
                  <a:schemeClr val="accent3">
                    <a:lumMod val="60000"/>
                    <a:lumOff val="40000"/>
                  </a:schemeClr>
                </a:solidFill>
              </a:rPr>
              <a:t>The result will be stored in: AH</a:t>
            </a:r>
          </a:p>
        </p:txBody>
      </p:sp>
    </p:spTree>
    <p:extLst>
      <p:ext uri="{BB962C8B-B14F-4D97-AF65-F5344CB8AC3E}">
        <p14:creationId xmlns:p14="http://schemas.microsoft.com/office/powerpoint/2010/main" val="2442173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4CA9A-99E3-F520-37D7-802DEB61E463}"/>
              </a:ext>
            </a:extLst>
          </p:cNvPr>
          <p:cNvSpPr>
            <a:spLocks noGrp="1"/>
          </p:cNvSpPr>
          <p:nvPr>
            <p:ph type="title"/>
          </p:nvPr>
        </p:nvSpPr>
        <p:spPr/>
        <p:txBody>
          <a:bodyPr/>
          <a:lstStyle/>
          <a:p>
            <a:r>
              <a:rPr lang="en-US" dirty="0"/>
              <a:t>Problem 5</a:t>
            </a:r>
          </a:p>
        </p:txBody>
      </p:sp>
      <p:sp>
        <p:nvSpPr>
          <p:cNvPr id="3" name="Content Placeholder 2">
            <a:extLst>
              <a:ext uri="{FF2B5EF4-FFF2-40B4-BE49-F238E27FC236}">
                <a16:creationId xmlns:a16="http://schemas.microsoft.com/office/drawing/2014/main" id="{58CE03A7-C73E-6A38-F6FF-20C03230CD7A}"/>
              </a:ext>
            </a:extLst>
          </p:cNvPr>
          <p:cNvSpPr>
            <a:spLocks noGrp="1"/>
          </p:cNvSpPr>
          <p:nvPr>
            <p:ph idx="1"/>
          </p:nvPr>
        </p:nvSpPr>
        <p:spPr>
          <a:xfrm>
            <a:off x="987902" y="1502503"/>
            <a:ext cx="8946541" cy="921101"/>
          </a:xfrm>
        </p:spPr>
        <p:txBody>
          <a:bodyPr vert="horz" lIns="91440" tIns="45720" rIns="91440" bIns="45720" rtlCol="0">
            <a:normAutofit/>
          </a:bodyPr>
          <a:lstStyle/>
          <a:p>
            <a:pPr marL="0" indent="0">
              <a:spcBef>
                <a:spcPts val="0"/>
              </a:spcBef>
              <a:buNone/>
            </a:pPr>
            <a:r>
              <a:rPr lang="en-US" sz="2400" dirty="0">
                <a:latin typeface="Times New Roman" panose="02020603050405020304" pitchFamily="18" charset="0"/>
              </a:rPr>
              <a:t>Find CF, ZF, and AF for each of the following. Also indicate the result of the addition and where the result is saved</a:t>
            </a:r>
          </a:p>
        </p:txBody>
      </p:sp>
      <p:sp>
        <p:nvSpPr>
          <p:cNvPr id="4" name="TextBox 3">
            <a:extLst>
              <a:ext uri="{FF2B5EF4-FFF2-40B4-BE49-F238E27FC236}">
                <a16:creationId xmlns:a16="http://schemas.microsoft.com/office/drawing/2014/main" id="{C0A67A8D-7E35-2117-48C9-732DFB73AE15}"/>
              </a:ext>
            </a:extLst>
          </p:cNvPr>
          <p:cNvSpPr txBox="1"/>
          <p:nvPr/>
        </p:nvSpPr>
        <p:spPr>
          <a:xfrm>
            <a:off x="1245353" y="2610034"/>
            <a:ext cx="5457288" cy="1660125"/>
          </a:xfrm>
          <a:prstGeom prst="rect">
            <a:avLst/>
          </a:prstGeom>
        </p:spPr>
        <p:txBody>
          <a:bodyPr vert="horz" lIns="91440" tIns="45720" rIns="91440" bIns="45720" rtlCol="0">
            <a:normAutofit/>
          </a:bodyPr>
          <a:lstStyle>
            <a:lvl1pPr indent="0">
              <a:spcBef>
                <a:spcPts val="0"/>
              </a:spcBef>
              <a:spcAft>
                <a:spcPts val="0"/>
              </a:spcAft>
              <a:buClr>
                <a:schemeClr val="bg2">
                  <a:lumMod val="40000"/>
                  <a:lumOff val="60000"/>
                </a:schemeClr>
              </a:buClr>
              <a:buSzPct val="80000"/>
              <a:buFont typeface="Wingdings 3" charset="2"/>
              <a:buNone/>
              <a:defRPr sz="2400" b="0" i="0">
                <a:latin typeface="Times New Roman" panose="02020603050405020304" pitchFamily="18" charset="0"/>
                <a:ea typeface="+mj-ea"/>
                <a:cs typeface="+mj-cs"/>
              </a:defRPr>
            </a:lvl1pPr>
            <a:lvl2pPr marL="742950" indent="-285750">
              <a:spcBef>
                <a:spcPts val="1000"/>
              </a:spcBef>
              <a:spcAft>
                <a:spcPts val="0"/>
              </a:spcAft>
              <a:buClr>
                <a:schemeClr val="bg2">
                  <a:lumMod val="40000"/>
                  <a:lumOff val="60000"/>
                </a:schemeClr>
              </a:buClr>
              <a:buSzPct val="80000"/>
              <a:buFont typeface="Wingdings 3" charset="2"/>
              <a:buChar char=""/>
              <a:defRPr b="0" i="0">
                <a:latin typeface="+mj-lt"/>
                <a:ea typeface="+mj-ea"/>
                <a:cs typeface="+mj-cs"/>
              </a:defRPr>
            </a:lvl2pPr>
            <a:lvl3pPr marL="1143000" indent="-228600">
              <a:spcBef>
                <a:spcPts val="1000"/>
              </a:spcBef>
              <a:spcAft>
                <a:spcPts val="0"/>
              </a:spcAft>
              <a:buClr>
                <a:schemeClr val="bg2">
                  <a:lumMod val="40000"/>
                  <a:lumOff val="60000"/>
                </a:schemeClr>
              </a:buClr>
              <a:buSzPct val="80000"/>
              <a:buFont typeface="Wingdings 3" charset="2"/>
              <a:buChar char=""/>
              <a:defRPr sz="1600" b="0" i="0">
                <a:latin typeface="+mj-lt"/>
                <a:ea typeface="+mj-ea"/>
                <a:cs typeface="+mj-cs"/>
              </a:defRPr>
            </a:lvl3pPr>
            <a:lvl4pPr marL="16002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4pPr>
            <a:lvl5pPr marL="20574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5pPr>
            <a:lvl6pPr marL="25060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6pPr>
            <a:lvl7pPr marL="29718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7pPr>
            <a:lvl8pPr marL="34290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8pPr>
            <a:lvl9pPr marL="38862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9pPr>
          </a:lstStyle>
          <a:p>
            <a:pPr marL="171450" indent="-457200">
              <a:buFont typeface="+mj-lt"/>
              <a:buAutoNum type="alphaLcParenR" startAt="4"/>
            </a:pPr>
            <a:r>
              <a:rPr lang="en-US" dirty="0"/>
              <a:t>MOV DX,4599H</a:t>
            </a:r>
            <a:br>
              <a:rPr lang="en-US" dirty="0"/>
            </a:br>
            <a:r>
              <a:rPr lang="en-US" dirty="0"/>
              <a:t>    MOV CX,3458H</a:t>
            </a:r>
            <a:br>
              <a:rPr lang="en-US" dirty="0"/>
            </a:br>
            <a:r>
              <a:rPr lang="en-US" dirty="0"/>
              <a:t>	ADD CX,DX</a:t>
            </a:r>
          </a:p>
        </p:txBody>
      </p:sp>
      <p:graphicFrame>
        <p:nvGraphicFramePr>
          <p:cNvPr id="5" name="Table 8">
            <a:extLst>
              <a:ext uri="{FF2B5EF4-FFF2-40B4-BE49-F238E27FC236}">
                <a16:creationId xmlns:a16="http://schemas.microsoft.com/office/drawing/2014/main" id="{DB1E8BAA-F747-3A05-5257-5A82E4D1951A}"/>
              </a:ext>
            </a:extLst>
          </p:cNvPr>
          <p:cNvGraphicFramePr>
            <a:graphicFrameLocks noGrp="1"/>
          </p:cNvGraphicFramePr>
          <p:nvPr>
            <p:extLst>
              <p:ext uri="{D42A27DB-BD31-4B8C-83A1-F6EECF244321}">
                <p14:modId xmlns:p14="http://schemas.microsoft.com/office/powerpoint/2010/main" val="1935511358"/>
              </p:ext>
            </p:extLst>
          </p:nvPr>
        </p:nvGraphicFramePr>
        <p:xfrm>
          <a:off x="2467006" y="4518734"/>
          <a:ext cx="4564110" cy="736600"/>
        </p:xfrm>
        <a:graphic>
          <a:graphicData uri="http://schemas.openxmlformats.org/drawingml/2006/table">
            <a:tbl>
              <a:tblPr firstRow="1" bandRow="1">
                <a:tableStyleId>{5C22544A-7EE6-4342-B048-85BDC9FD1C3A}</a:tableStyleId>
              </a:tblPr>
              <a:tblGrid>
                <a:gridCol w="1521370">
                  <a:extLst>
                    <a:ext uri="{9D8B030D-6E8A-4147-A177-3AD203B41FA5}">
                      <a16:colId xmlns:a16="http://schemas.microsoft.com/office/drawing/2014/main" val="3613960081"/>
                    </a:ext>
                  </a:extLst>
                </a:gridCol>
                <a:gridCol w="1521370">
                  <a:extLst>
                    <a:ext uri="{9D8B030D-6E8A-4147-A177-3AD203B41FA5}">
                      <a16:colId xmlns:a16="http://schemas.microsoft.com/office/drawing/2014/main" val="4139411549"/>
                    </a:ext>
                  </a:extLst>
                </a:gridCol>
                <a:gridCol w="1521370">
                  <a:extLst>
                    <a:ext uri="{9D8B030D-6E8A-4147-A177-3AD203B41FA5}">
                      <a16:colId xmlns:a16="http://schemas.microsoft.com/office/drawing/2014/main" val="2342331875"/>
                    </a:ext>
                  </a:extLst>
                </a:gridCol>
              </a:tblGrid>
              <a:tr h="358565">
                <a:tc>
                  <a:txBody>
                    <a:bodyPr/>
                    <a:lstStyle/>
                    <a:p>
                      <a:pPr algn="ctr"/>
                      <a:r>
                        <a:rPr lang="en-US" dirty="0"/>
                        <a:t>CF</a:t>
                      </a:r>
                    </a:p>
                  </a:txBody>
                  <a:tcPr/>
                </a:tc>
                <a:tc>
                  <a:txBody>
                    <a:bodyPr/>
                    <a:lstStyle/>
                    <a:p>
                      <a:pPr algn="ctr"/>
                      <a:r>
                        <a:rPr lang="en-US" dirty="0"/>
                        <a:t>ZF</a:t>
                      </a:r>
                    </a:p>
                  </a:txBody>
                  <a:tcPr/>
                </a:tc>
                <a:tc>
                  <a:txBody>
                    <a:bodyPr/>
                    <a:lstStyle/>
                    <a:p>
                      <a:pPr algn="ctr"/>
                      <a:r>
                        <a:rPr lang="en-US" dirty="0"/>
                        <a:t>AF</a:t>
                      </a:r>
                    </a:p>
                  </a:txBody>
                  <a:tcPr/>
                </a:tc>
                <a:extLst>
                  <a:ext uri="{0D108BD9-81ED-4DB2-BD59-A6C34878D82A}">
                    <a16:rowId xmlns:a16="http://schemas.microsoft.com/office/drawing/2014/main" val="1383217334"/>
                  </a:ext>
                </a:extLst>
              </a:tr>
              <a:tr h="370840">
                <a:tc>
                  <a:txBody>
                    <a:bodyPr/>
                    <a:lstStyle/>
                    <a:p>
                      <a:pPr algn="ctr"/>
                      <a:r>
                        <a:rPr lang="en-US" dirty="0"/>
                        <a:t>0</a:t>
                      </a:r>
                    </a:p>
                  </a:txBody>
                  <a:tcPr/>
                </a:tc>
                <a:tc>
                  <a:txBody>
                    <a:bodyPr/>
                    <a:lstStyle/>
                    <a:p>
                      <a:pPr algn="ctr"/>
                      <a:r>
                        <a:rPr lang="en-US" dirty="0"/>
                        <a:t>0</a:t>
                      </a:r>
                    </a:p>
                  </a:txBody>
                  <a:tcPr/>
                </a:tc>
                <a:tc>
                  <a:txBody>
                    <a:bodyPr/>
                    <a:lstStyle/>
                    <a:p>
                      <a:pPr algn="ctr"/>
                      <a:r>
                        <a:rPr lang="en-US" dirty="0"/>
                        <a:t>1</a:t>
                      </a:r>
                    </a:p>
                  </a:txBody>
                  <a:tcPr/>
                </a:tc>
                <a:extLst>
                  <a:ext uri="{0D108BD9-81ED-4DB2-BD59-A6C34878D82A}">
                    <a16:rowId xmlns:a16="http://schemas.microsoft.com/office/drawing/2014/main" val="4212303573"/>
                  </a:ext>
                </a:extLst>
              </a:tr>
            </a:tbl>
          </a:graphicData>
        </a:graphic>
      </p:graphicFrame>
      <p:pic>
        <p:nvPicPr>
          <p:cNvPr id="7" name="Picture 6">
            <a:extLst>
              <a:ext uri="{FF2B5EF4-FFF2-40B4-BE49-F238E27FC236}">
                <a16:creationId xmlns:a16="http://schemas.microsoft.com/office/drawing/2014/main" id="{E8723118-F9F5-FA13-2D9C-314F4A1315DA}"/>
              </a:ext>
            </a:extLst>
          </p:cNvPr>
          <p:cNvPicPr>
            <a:picLocks noChangeAspect="1"/>
          </p:cNvPicPr>
          <p:nvPr/>
        </p:nvPicPr>
        <p:blipFill>
          <a:blip r:embed="rId2"/>
          <a:stretch>
            <a:fillRect/>
          </a:stretch>
        </p:blipFill>
        <p:spPr>
          <a:xfrm>
            <a:off x="7486442" y="2957446"/>
            <a:ext cx="3222112" cy="1312713"/>
          </a:xfrm>
          <a:prstGeom prst="rect">
            <a:avLst/>
          </a:prstGeom>
        </p:spPr>
      </p:pic>
      <p:sp>
        <p:nvSpPr>
          <p:cNvPr id="8" name="TextBox 7">
            <a:extLst>
              <a:ext uri="{FF2B5EF4-FFF2-40B4-BE49-F238E27FC236}">
                <a16:creationId xmlns:a16="http://schemas.microsoft.com/office/drawing/2014/main" id="{0F8E7C1A-C7B0-7D92-5A58-5F92BF511CEF}"/>
              </a:ext>
            </a:extLst>
          </p:cNvPr>
          <p:cNvSpPr txBox="1"/>
          <p:nvPr/>
        </p:nvSpPr>
        <p:spPr>
          <a:xfrm>
            <a:off x="2467006" y="5477522"/>
            <a:ext cx="4564110" cy="369332"/>
          </a:xfrm>
          <a:prstGeom prst="rect">
            <a:avLst/>
          </a:prstGeom>
          <a:noFill/>
        </p:spPr>
        <p:txBody>
          <a:bodyPr wrap="square" rtlCol="0">
            <a:spAutoFit/>
          </a:bodyPr>
          <a:lstStyle/>
          <a:p>
            <a:r>
              <a:rPr lang="en-US" dirty="0">
                <a:solidFill>
                  <a:schemeClr val="accent3">
                    <a:lumMod val="60000"/>
                    <a:lumOff val="40000"/>
                  </a:schemeClr>
                </a:solidFill>
              </a:rPr>
              <a:t>The result will be stored in: CX</a:t>
            </a:r>
          </a:p>
        </p:txBody>
      </p:sp>
    </p:spTree>
    <p:extLst>
      <p:ext uri="{BB962C8B-B14F-4D97-AF65-F5344CB8AC3E}">
        <p14:creationId xmlns:p14="http://schemas.microsoft.com/office/powerpoint/2010/main" val="2739234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4CA9A-99E3-F520-37D7-802DEB61E463}"/>
              </a:ext>
            </a:extLst>
          </p:cNvPr>
          <p:cNvSpPr>
            <a:spLocks noGrp="1"/>
          </p:cNvSpPr>
          <p:nvPr>
            <p:ph type="title"/>
          </p:nvPr>
        </p:nvSpPr>
        <p:spPr/>
        <p:txBody>
          <a:bodyPr/>
          <a:lstStyle/>
          <a:p>
            <a:r>
              <a:rPr lang="en-US" dirty="0"/>
              <a:t>Problem 5</a:t>
            </a:r>
          </a:p>
        </p:txBody>
      </p:sp>
      <p:sp>
        <p:nvSpPr>
          <p:cNvPr id="3" name="Content Placeholder 2">
            <a:extLst>
              <a:ext uri="{FF2B5EF4-FFF2-40B4-BE49-F238E27FC236}">
                <a16:creationId xmlns:a16="http://schemas.microsoft.com/office/drawing/2014/main" id="{58CE03A7-C73E-6A38-F6FF-20C03230CD7A}"/>
              </a:ext>
            </a:extLst>
          </p:cNvPr>
          <p:cNvSpPr>
            <a:spLocks noGrp="1"/>
          </p:cNvSpPr>
          <p:nvPr>
            <p:ph idx="1"/>
          </p:nvPr>
        </p:nvSpPr>
        <p:spPr>
          <a:xfrm>
            <a:off x="987902" y="1502503"/>
            <a:ext cx="8946541" cy="921101"/>
          </a:xfrm>
        </p:spPr>
        <p:txBody>
          <a:bodyPr vert="horz" lIns="91440" tIns="45720" rIns="91440" bIns="45720" rtlCol="0">
            <a:normAutofit/>
          </a:bodyPr>
          <a:lstStyle/>
          <a:p>
            <a:pPr marL="0" indent="0">
              <a:spcBef>
                <a:spcPts val="0"/>
              </a:spcBef>
              <a:buNone/>
            </a:pPr>
            <a:r>
              <a:rPr lang="en-US" sz="2400" dirty="0">
                <a:latin typeface="Times New Roman" panose="02020603050405020304" pitchFamily="18" charset="0"/>
              </a:rPr>
              <a:t>Find CF, ZF, and AF for each of the following. Also indicate the result of the addition and where the result is saved</a:t>
            </a:r>
          </a:p>
        </p:txBody>
      </p:sp>
      <p:sp>
        <p:nvSpPr>
          <p:cNvPr id="4" name="TextBox 3">
            <a:extLst>
              <a:ext uri="{FF2B5EF4-FFF2-40B4-BE49-F238E27FC236}">
                <a16:creationId xmlns:a16="http://schemas.microsoft.com/office/drawing/2014/main" id="{C0A67A8D-7E35-2117-48C9-732DFB73AE15}"/>
              </a:ext>
            </a:extLst>
          </p:cNvPr>
          <p:cNvSpPr txBox="1"/>
          <p:nvPr/>
        </p:nvSpPr>
        <p:spPr>
          <a:xfrm>
            <a:off x="1245354" y="2610034"/>
            <a:ext cx="5483920" cy="1606859"/>
          </a:xfrm>
          <a:prstGeom prst="rect">
            <a:avLst/>
          </a:prstGeom>
        </p:spPr>
        <p:txBody>
          <a:bodyPr vert="horz" lIns="91440" tIns="45720" rIns="91440" bIns="45720" rtlCol="0">
            <a:normAutofit/>
          </a:bodyPr>
          <a:lstStyle>
            <a:lvl1pPr indent="0">
              <a:spcBef>
                <a:spcPts val="0"/>
              </a:spcBef>
              <a:spcAft>
                <a:spcPts val="0"/>
              </a:spcAft>
              <a:buClr>
                <a:schemeClr val="bg2">
                  <a:lumMod val="40000"/>
                  <a:lumOff val="60000"/>
                </a:schemeClr>
              </a:buClr>
              <a:buSzPct val="80000"/>
              <a:buFont typeface="Wingdings 3" charset="2"/>
              <a:buNone/>
              <a:defRPr sz="2400" b="0" i="0">
                <a:latin typeface="Times New Roman" panose="02020603050405020304" pitchFamily="18" charset="0"/>
                <a:ea typeface="+mj-ea"/>
                <a:cs typeface="+mj-cs"/>
              </a:defRPr>
            </a:lvl1pPr>
            <a:lvl2pPr marL="742950" indent="-285750">
              <a:spcBef>
                <a:spcPts val="1000"/>
              </a:spcBef>
              <a:spcAft>
                <a:spcPts val="0"/>
              </a:spcAft>
              <a:buClr>
                <a:schemeClr val="bg2">
                  <a:lumMod val="40000"/>
                  <a:lumOff val="60000"/>
                </a:schemeClr>
              </a:buClr>
              <a:buSzPct val="80000"/>
              <a:buFont typeface="Wingdings 3" charset="2"/>
              <a:buChar char=""/>
              <a:defRPr b="0" i="0">
                <a:latin typeface="+mj-lt"/>
                <a:ea typeface="+mj-ea"/>
                <a:cs typeface="+mj-cs"/>
              </a:defRPr>
            </a:lvl2pPr>
            <a:lvl3pPr marL="1143000" indent="-228600">
              <a:spcBef>
                <a:spcPts val="1000"/>
              </a:spcBef>
              <a:spcAft>
                <a:spcPts val="0"/>
              </a:spcAft>
              <a:buClr>
                <a:schemeClr val="bg2">
                  <a:lumMod val="40000"/>
                  <a:lumOff val="60000"/>
                </a:schemeClr>
              </a:buClr>
              <a:buSzPct val="80000"/>
              <a:buFont typeface="Wingdings 3" charset="2"/>
              <a:buChar char=""/>
              <a:defRPr sz="1600" b="0" i="0">
                <a:latin typeface="+mj-lt"/>
                <a:ea typeface="+mj-ea"/>
                <a:cs typeface="+mj-cs"/>
              </a:defRPr>
            </a:lvl3pPr>
            <a:lvl4pPr marL="16002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4pPr>
            <a:lvl5pPr marL="20574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5pPr>
            <a:lvl6pPr marL="25060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6pPr>
            <a:lvl7pPr marL="29718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7pPr>
            <a:lvl8pPr marL="34290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8pPr>
            <a:lvl9pPr marL="38862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9pPr>
          </a:lstStyle>
          <a:p>
            <a:pPr marL="171450" indent="-457200">
              <a:buFont typeface="+mj-lt"/>
              <a:buAutoNum type="alphaLcParenR" startAt="5"/>
            </a:pPr>
            <a:r>
              <a:rPr lang="en-US" dirty="0"/>
              <a:t>MOV AX,255</a:t>
            </a:r>
            <a:br>
              <a:rPr lang="en-US" dirty="0"/>
            </a:br>
            <a:r>
              <a:rPr lang="en-US" dirty="0"/>
              <a:t>	STC</a:t>
            </a:r>
            <a:br>
              <a:rPr lang="en-US" dirty="0"/>
            </a:br>
            <a:r>
              <a:rPr lang="en-US" dirty="0"/>
              <a:t>	ADC AX,00</a:t>
            </a:r>
          </a:p>
        </p:txBody>
      </p:sp>
      <p:graphicFrame>
        <p:nvGraphicFramePr>
          <p:cNvPr id="5" name="Table 8">
            <a:extLst>
              <a:ext uri="{FF2B5EF4-FFF2-40B4-BE49-F238E27FC236}">
                <a16:creationId xmlns:a16="http://schemas.microsoft.com/office/drawing/2014/main" id="{EC322ECD-9925-A210-70A3-2EB8B1F78C94}"/>
              </a:ext>
            </a:extLst>
          </p:cNvPr>
          <p:cNvGraphicFramePr>
            <a:graphicFrameLocks noGrp="1"/>
          </p:cNvGraphicFramePr>
          <p:nvPr>
            <p:extLst>
              <p:ext uri="{D42A27DB-BD31-4B8C-83A1-F6EECF244321}">
                <p14:modId xmlns:p14="http://schemas.microsoft.com/office/powerpoint/2010/main" val="1051421053"/>
              </p:ext>
            </p:extLst>
          </p:nvPr>
        </p:nvGraphicFramePr>
        <p:xfrm>
          <a:off x="2467006" y="4518734"/>
          <a:ext cx="4564110" cy="736600"/>
        </p:xfrm>
        <a:graphic>
          <a:graphicData uri="http://schemas.openxmlformats.org/drawingml/2006/table">
            <a:tbl>
              <a:tblPr firstRow="1" bandRow="1">
                <a:tableStyleId>{5C22544A-7EE6-4342-B048-85BDC9FD1C3A}</a:tableStyleId>
              </a:tblPr>
              <a:tblGrid>
                <a:gridCol w="1521370">
                  <a:extLst>
                    <a:ext uri="{9D8B030D-6E8A-4147-A177-3AD203B41FA5}">
                      <a16:colId xmlns:a16="http://schemas.microsoft.com/office/drawing/2014/main" val="3613960081"/>
                    </a:ext>
                  </a:extLst>
                </a:gridCol>
                <a:gridCol w="1521370">
                  <a:extLst>
                    <a:ext uri="{9D8B030D-6E8A-4147-A177-3AD203B41FA5}">
                      <a16:colId xmlns:a16="http://schemas.microsoft.com/office/drawing/2014/main" val="4139411549"/>
                    </a:ext>
                  </a:extLst>
                </a:gridCol>
                <a:gridCol w="1521370">
                  <a:extLst>
                    <a:ext uri="{9D8B030D-6E8A-4147-A177-3AD203B41FA5}">
                      <a16:colId xmlns:a16="http://schemas.microsoft.com/office/drawing/2014/main" val="2342331875"/>
                    </a:ext>
                  </a:extLst>
                </a:gridCol>
              </a:tblGrid>
              <a:tr h="358565">
                <a:tc>
                  <a:txBody>
                    <a:bodyPr/>
                    <a:lstStyle/>
                    <a:p>
                      <a:pPr algn="ctr"/>
                      <a:r>
                        <a:rPr lang="en-US" dirty="0"/>
                        <a:t>CF</a:t>
                      </a:r>
                    </a:p>
                  </a:txBody>
                  <a:tcPr/>
                </a:tc>
                <a:tc>
                  <a:txBody>
                    <a:bodyPr/>
                    <a:lstStyle/>
                    <a:p>
                      <a:pPr algn="ctr"/>
                      <a:r>
                        <a:rPr lang="en-US" dirty="0"/>
                        <a:t>ZF</a:t>
                      </a:r>
                    </a:p>
                  </a:txBody>
                  <a:tcPr/>
                </a:tc>
                <a:tc>
                  <a:txBody>
                    <a:bodyPr/>
                    <a:lstStyle/>
                    <a:p>
                      <a:pPr algn="ctr"/>
                      <a:r>
                        <a:rPr lang="en-US" dirty="0"/>
                        <a:t>AF</a:t>
                      </a:r>
                    </a:p>
                  </a:txBody>
                  <a:tcPr/>
                </a:tc>
                <a:extLst>
                  <a:ext uri="{0D108BD9-81ED-4DB2-BD59-A6C34878D82A}">
                    <a16:rowId xmlns:a16="http://schemas.microsoft.com/office/drawing/2014/main" val="1383217334"/>
                  </a:ext>
                </a:extLst>
              </a:tr>
              <a:tr h="370840">
                <a:tc>
                  <a:txBody>
                    <a:bodyPr/>
                    <a:lstStyle/>
                    <a:p>
                      <a:pPr algn="ctr"/>
                      <a:r>
                        <a:rPr lang="en-US" dirty="0"/>
                        <a:t>0</a:t>
                      </a:r>
                    </a:p>
                  </a:txBody>
                  <a:tcPr/>
                </a:tc>
                <a:tc>
                  <a:txBody>
                    <a:bodyPr/>
                    <a:lstStyle/>
                    <a:p>
                      <a:pPr algn="ctr"/>
                      <a:r>
                        <a:rPr lang="en-US" dirty="0"/>
                        <a:t>0</a:t>
                      </a:r>
                    </a:p>
                  </a:txBody>
                  <a:tcPr/>
                </a:tc>
                <a:tc>
                  <a:txBody>
                    <a:bodyPr/>
                    <a:lstStyle/>
                    <a:p>
                      <a:pPr algn="ctr"/>
                      <a:r>
                        <a:rPr lang="en-US" dirty="0"/>
                        <a:t>1</a:t>
                      </a:r>
                    </a:p>
                  </a:txBody>
                  <a:tcPr/>
                </a:tc>
                <a:extLst>
                  <a:ext uri="{0D108BD9-81ED-4DB2-BD59-A6C34878D82A}">
                    <a16:rowId xmlns:a16="http://schemas.microsoft.com/office/drawing/2014/main" val="4212303573"/>
                  </a:ext>
                </a:extLst>
              </a:tr>
            </a:tbl>
          </a:graphicData>
        </a:graphic>
      </p:graphicFrame>
      <p:pic>
        <p:nvPicPr>
          <p:cNvPr id="9" name="Picture 8">
            <a:extLst>
              <a:ext uri="{FF2B5EF4-FFF2-40B4-BE49-F238E27FC236}">
                <a16:creationId xmlns:a16="http://schemas.microsoft.com/office/drawing/2014/main" id="{95647DF9-DABC-2176-FF61-546076B2B844}"/>
              </a:ext>
            </a:extLst>
          </p:cNvPr>
          <p:cNvPicPr>
            <a:picLocks noChangeAspect="1"/>
          </p:cNvPicPr>
          <p:nvPr/>
        </p:nvPicPr>
        <p:blipFill>
          <a:blip r:embed="rId2"/>
          <a:stretch>
            <a:fillRect/>
          </a:stretch>
        </p:blipFill>
        <p:spPr>
          <a:xfrm>
            <a:off x="7805129" y="2838316"/>
            <a:ext cx="2387266" cy="1400530"/>
          </a:xfrm>
          <a:prstGeom prst="rect">
            <a:avLst/>
          </a:prstGeom>
        </p:spPr>
      </p:pic>
      <p:sp>
        <p:nvSpPr>
          <p:cNvPr id="10" name="TextBox 9">
            <a:extLst>
              <a:ext uri="{FF2B5EF4-FFF2-40B4-BE49-F238E27FC236}">
                <a16:creationId xmlns:a16="http://schemas.microsoft.com/office/drawing/2014/main" id="{933CBFFF-6258-CDF6-9761-38DA7C5A4294}"/>
              </a:ext>
            </a:extLst>
          </p:cNvPr>
          <p:cNvSpPr txBox="1"/>
          <p:nvPr/>
        </p:nvSpPr>
        <p:spPr>
          <a:xfrm>
            <a:off x="2467006" y="5477522"/>
            <a:ext cx="4564110" cy="369332"/>
          </a:xfrm>
          <a:prstGeom prst="rect">
            <a:avLst/>
          </a:prstGeom>
          <a:noFill/>
        </p:spPr>
        <p:txBody>
          <a:bodyPr wrap="square" rtlCol="0">
            <a:spAutoFit/>
          </a:bodyPr>
          <a:lstStyle/>
          <a:p>
            <a:r>
              <a:rPr lang="en-US" dirty="0">
                <a:solidFill>
                  <a:schemeClr val="accent3">
                    <a:lumMod val="60000"/>
                    <a:lumOff val="40000"/>
                  </a:schemeClr>
                </a:solidFill>
              </a:rPr>
              <a:t>The result will be stored in: AX</a:t>
            </a:r>
          </a:p>
        </p:txBody>
      </p:sp>
    </p:spTree>
    <p:extLst>
      <p:ext uri="{BB962C8B-B14F-4D97-AF65-F5344CB8AC3E}">
        <p14:creationId xmlns:p14="http://schemas.microsoft.com/office/powerpoint/2010/main" val="881585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4CA9A-99E3-F520-37D7-802DEB61E463}"/>
              </a:ext>
            </a:extLst>
          </p:cNvPr>
          <p:cNvSpPr>
            <a:spLocks noGrp="1"/>
          </p:cNvSpPr>
          <p:nvPr>
            <p:ph type="title"/>
          </p:nvPr>
        </p:nvSpPr>
        <p:spPr/>
        <p:txBody>
          <a:bodyPr/>
          <a:lstStyle/>
          <a:p>
            <a:r>
              <a:rPr lang="en-US" dirty="0"/>
              <a:t>Problem 5</a:t>
            </a:r>
          </a:p>
        </p:txBody>
      </p:sp>
      <p:sp>
        <p:nvSpPr>
          <p:cNvPr id="3" name="Content Placeholder 2">
            <a:extLst>
              <a:ext uri="{FF2B5EF4-FFF2-40B4-BE49-F238E27FC236}">
                <a16:creationId xmlns:a16="http://schemas.microsoft.com/office/drawing/2014/main" id="{58CE03A7-C73E-6A38-F6FF-20C03230CD7A}"/>
              </a:ext>
            </a:extLst>
          </p:cNvPr>
          <p:cNvSpPr>
            <a:spLocks noGrp="1"/>
          </p:cNvSpPr>
          <p:nvPr>
            <p:ph idx="1"/>
          </p:nvPr>
        </p:nvSpPr>
        <p:spPr>
          <a:xfrm>
            <a:off x="987902" y="1502503"/>
            <a:ext cx="8946541" cy="921101"/>
          </a:xfrm>
        </p:spPr>
        <p:txBody>
          <a:bodyPr vert="horz" lIns="91440" tIns="45720" rIns="91440" bIns="45720" rtlCol="0">
            <a:normAutofit/>
          </a:bodyPr>
          <a:lstStyle/>
          <a:p>
            <a:pPr marL="0" indent="0">
              <a:spcBef>
                <a:spcPts val="0"/>
              </a:spcBef>
              <a:buNone/>
            </a:pPr>
            <a:r>
              <a:rPr lang="en-US" sz="2400" dirty="0">
                <a:latin typeface="Times New Roman" panose="02020603050405020304" pitchFamily="18" charset="0"/>
              </a:rPr>
              <a:t>Find CF, ZF, and AF for each of the following. Also indicate the result of the addition and where the result is saved</a:t>
            </a:r>
          </a:p>
        </p:txBody>
      </p:sp>
      <p:sp>
        <p:nvSpPr>
          <p:cNvPr id="4" name="TextBox 3">
            <a:extLst>
              <a:ext uri="{FF2B5EF4-FFF2-40B4-BE49-F238E27FC236}">
                <a16:creationId xmlns:a16="http://schemas.microsoft.com/office/drawing/2014/main" id="{C0A67A8D-7E35-2117-48C9-732DFB73AE15}"/>
              </a:ext>
            </a:extLst>
          </p:cNvPr>
          <p:cNvSpPr txBox="1"/>
          <p:nvPr/>
        </p:nvSpPr>
        <p:spPr>
          <a:xfrm>
            <a:off x="1245354" y="2610034"/>
            <a:ext cx="5350755" cy="1429306"/>
          </a:xfrm>
          <a:prstGeom prst="rect">
            <a:avLst/>
          </a:prstGeom>
        </p:spPr>
        <p:txBody>
          <a:bodyPr vert="horz" lIns="91440" tIns="45720" rIns="91440" bIns="45720" rtlCol="0">
            <a:normAutofit/>
          </a:bodyPr>
          <a:lstStyle>
            <a:lvl1pPr indent="0">
              <a:spcBef>
                <a:spcPts val="0"/>
              </a:spcBef>
              <a:spcAft>
                <a:spcPts val="0"/>
              </a:spcAft>
              <a:buClr>
                <a:schemeClr val="bg2">
                  <a:lumMod val="40000"/>
                  <a:lumOff val="60000"/>
                </a:schemeClr>
              </a:buClr>
              <a:buSzPct val="80000"/>
              <a:buFont typeface="Wingdings 3" charset="2"/>
              <a:buNone/>
              <a:defRPr sz="2400" b="0" i="0">
                <a:latin typeface="Times New Roman" panose="02020603050405020304" pitchFamily="18" charset="0"/>
                <a:ea typeface="+mj-ea"/>
                <a:cs typeface="+mj-cs"/>
              </a:defRPr>
            </a:lvl1pPr>
            <a:lvl2pPr marL="742950" indent="-285750">
              <a:spcBef>
                <a:spcPts val="1000"/>
              </a:spcBef>
              <a:spcAft>
                <a:spcPts val="0"/>
              </a:spcAft>
              <a:buClr>
                <a:schemeClr val="bg2">
                  <a:lumMod val="40000"/>
                  <a:lumOff val="60000"/>
                </a:schemeClr>
              </a:buClr>
              <a:buSzPct val="80000"/>
              <a:buFont typeface="Wingdings 3" charset="2"/>
              <a:buChar char=""/>
              <a:defRPr b="0" i="0">
                <a:latin typeface="+mj-lt"/>
                <a:ea typeface="+mj-ea"/>
                <a:cs typeface="+mj-cs"/>
              </a:defRPr>
            </a:lvl2pPr>
            <a:lvl3pPr marL="1143000" indent="-228600">
              <a:spcBef>
                <a:spcPts val="1000"/>
              </a:spcBef>
              <a:spcAft>
                <a:spcPts val="0"/>
              </a:spcAft>
              <a:buClr>
                <a:schemeClr val="bg2">
                  <a:lumMod val="40000"/>
                  <a:lumOff val="60000"/>
                </a:schemeClr>
              </a:buClr>
              <a:buSzPct val="80000"/>
              <a:buFont typeface="Wingdings 3" charset="2"/>
              <a:buChar char=""/>
              <a:defRPr sz="1600" b="0" i="0">
                <a:latin typeface="+mj-lt"/>
                <a:ea typeface="+mj-ea"/>
                <a:cs typeface="+mj-cs"/>
              </a:defRPr>
            </a:lvl3pPr>
            <a:lvl4pPr marL="16002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4pPr>
            <a:lvl5pPr marL="20574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5pPr>
            <a:lvl6pPr marL="25060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6pPr>
            <a:lvl7pPr marL="29718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7pPr>
            <a:lvl8pPr marL="34290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8pPr>
            <a:lvl9pPr marL="38862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9pPr>
          </a:lstStyle>
          <a:p>
            <a:pPr marL="171450" indent="-457200">
              <a:buFont typeface="+mj-lt"/>
              <a:buAutoNum type="alphaLcParenR" startAt="6"/>
            </a:pPr>
            <a:r>
              <a:rPr lang="en-US" dirty="0"/>
              <a:t>MOV CX,0FFFFH</a:t>
            </a:r>
            <a:br>
              <a:rPr lang="en-US" dirty="0"/>
            </a:br>
            <a:r>
              <a:rPr lang="en-US" dirty="0"/>
              <a:t>	STC</a:t>
            </a:r>
            <a:br>
              <a:rPr lang="en-US" dirty="0"/>
            </a:br>
            <a:r>
              <a:rPr lang="en-US" dirty="0"/>
              <a:t>	ADC CX,00</a:t>
            </a:r>
          </a:p>
        </p:txBody>
      </p:sp>
      <p:graphicFrame>
        <p:nvGraphicFramePr>
          <p:cNvPr id="5" name="Table 8">
            <a:extLst>
              <a:ext uri="{FF2B5EF4-FFF2-40B4-BE49-F238E27FC236}">
                <a16:creationId xmlns:a16="http://schemas.microsoft.com/office/drawing/2014/main" id="{10EA0F5F-A4FA-4217-B209-351447817D38}"/>
              </a:ext>
            </a:extLst>
          </p:cNvPr>
          <p:cNvGraphicFramePr>
            <a:graphicFrameLocks noGrp="1"/>
          </p:cNvGraphicFramePr>
          <p:nvPr>
            <p:extLst>
              <p:ext uri="{D42A27DB-BD31-4B8C-83A1-F6EECF244321}">
                <p14:modId xmlns:p14="http://schemas.microsoft.com/office/powerpoint/2010/main" val="1873606415"/>
              </p:ext>
            </p:extLst>
          </p:nvPr>
        </p:nvGraphicFramePr>
        <p:xfrm>
          <a:off x="2467006" y="4518734"/>
          <a:ext cx="4564110" cy="736600"/>
        </p:xfrm>
        <a:graphic>
          <a:graphicData uri="http://schemas.openxmlformats.org/drawingml/2006/table">
            <a:tbl>
              <a:tblPr firstRow="1" bandRow="1">
                <a:tableStyleId>{5C22544A-7EE6-4342-B048-85BDC9FD1C3A}</a:tableStyleId>
              </a:tblPr>
              <a:tblGrid>
                <a:gridCol w="1521370">
                  <a:extLst>
                    <a:ext uri="{9D8B030D-6E8A-4147-A177-3AD203B41FA5}">
                      <a16:colId xmlns:a16="http://schemas.microsoft.com/office/drawing/2014/main" val="3613960081"/>
                    </a:ext>
                  </a:extLst>
                </a:gridCol>
                <a:gridCol w="1521370">
                  <a:extLst>
                    <a:ext uri="{9D8B030D-6E8A-4147-A177-3AD203B41FA5}">
                      <a16:colId xmlns:a16="http://schemas.microsoft.com/office/drawing/2014/main" val="4139411549"/>
                    </a:ext>
                  </a:extLst>
                </a:gridCol>
                <a:gridCol w="1521370">
                  <a:extLst>
                    <a:ext uri="{9D8B030D-6E8A-4147-A177-3AD203B41FA5}">
                      <a16:colId xmlns:a16="http://schemas.microsoft.com/office/drawing/2014/main" val="2342331875"/>
                    </a:ext>
                  </a:extLst>
                </a:gridCol>
              </a:tblGrid>
              <a:tr h="358565">
                <a:tc>
                  <a:txBody>
                    <a:bodyPr/>
                    <a:lstStyle/>
                    <a:p>
                      <a:pPr algn="ctr"/>
                      <a:r>
                        <a:rPr lang="en-US" dirty="0"/>
                        <a:t>CF</a:t>
                      </a:r>
                    </a:p>
                  </a:txBody>
                  <a:tcPr/>
                </a:tc>
                <a:tc>
                  <a:txBody>
                    <a:bodyPr/>
                    <a:lstStyle/>
                    <a:p>
                      <a:pPr algn="ctr"/>
                      <a:r>
                        <a:rPr lang="en-US" dirty="0"/>
                        <a:t>ZF</a:t>
                      </a:r>
                    </a:p>
                  </a:txBody>
                  <a:tcPr/>
                </a:tc>
                <a:tc>
                  <a:txBody>
                    <a:bodyPr/>
                    <a:lstStyle/>
                    <a:p>
                      <a:pPr algn="ctr"/>
                      <a:r>
                        <a:rPr lang="en-US" dirty="0"/>
                        <a:t>AF</a:t>
                      </a:r>
                    </a:p>
                  </a:txBody>
                  <a:tcPr/>
                </a:tc>
                <a:extLst>
                  <a:ext uri="{0D108BD9-81ED-4DB2-BD59-A6C34878D82A}">
                    <a16:rowId xmlns:a16="http://schemas.microsoft.com/office/drawing/2014/main" val="1383217334"/>
                  </a:ext>
                </a:extLst>
              </a:tr>
              <a:tr h="370840">
                <a:tc>
                  <a:txBody>
                    <a:bodyPr/>
                    <a:lstStyle/>
                    <a:p>
                      <a:pPr algn="ctr"/>
                      <a:r>
                        <a:rPr lang="en-US" dirty="0"/>
                        <a:t>1</a:t>
                      </a:r>
                    </a:p>
                  </a:txBody>
                  <a:tcPr/>
                </a:tc>
                <a:tc>
                  <a:txBody>
                    <a:bodyPr/>
                    <a:lstStyle/>
                    <a:p>
                      <a:pPr algn="ctr"/>
                      <a:r>
                        <a:rPr lang="en-US" dirty="0"/>
                        <a:t>1</a:t>
                      </a:r>
                    </a:p>
                  </a:txBody>
                  <a:tcPr/>
                </a:tc>
                <a:tc>
                  <a:txBody>
                    <a:bodyPr/>
                    <a:lstStyle/>
                    <a:p>
                      <a:pPr algn="ctr"/>
                      <a:r>
                        <a:rPr lang="en-US" dirty="0"/>
                        <a:t>1</a:t>
                      </a:r>
                    </a:p>
                  </a:txBody>
                  <a:tcPr/>
                </a:tc>
                <a:extLst>
                  <a:ext uri="{0D108BD9-81ED-4DB2-BD59-A6C34878D82A}">
                    <a16:rowId xmlns:a16="http://schemas.microsoft.com/office/drawing/2014/main" val="4212303573"/>
                  </a:ext>
                </a:extLst>
              </a:tr>
            </a:tbl>
          </a:graphicData>
        </a:graphic>
      </p:graphicFrame>
      <p:pic>
        <p:nvPicPr>
          <p:cNvPr id="7" name="Picture 6">
            <a:extLst>
              <a:ext uri="{FF2B5EF4-FFF2-40B4-BE49-F238E27FC236}">
                <a16:creationId xmlns:a16="http://schemas.microsoft.com/office/drawing/2014/main" id="{EAF2B077-A781-DBD5-AD90-85A6FE67D191}"/>
              </a:ext>
            </a:extLst>
          </p:cNvPr>
          <p:cNvPicPr>
            <a:picLocks noChangeAspect="1"/>
          </p:cNvPicPr>
          <p:nvPr/>
        </p:nvPicPr>
        <p:blipFill>
          <a:blip r:embed="rId2"/>
          <a:stretch>
            <a:fillRect/>
          </a:stretch>
        </p:blipFill>
        <p:spPr>
          <a:xfrm>
            <a:off x="7235972" y="2777397"/>
            <a:ext cx="3470977" cy="1553161"/>
          </a:xfrm>
          <a:prstGeom prst="rect">
            <a:avLst/>
          </a:prstGeom>
        </p:spPr>
      </p:pic>
      <p:sp>
        <p:nvSpPr>
          <p:cNvPr id="8" name="TextBox 7">
            <a:extLst>
              <a:ext uri="{FF2B5EF4-FFF2-40B4-BE49-F238E27FC236}">
                <a16:creationId xmlns:a16="http://schemas.microsoft.com/office/drawing/2014/main" id="{4A7C210C-BD05-8F49-7AB0-6EE635CF2768}"/>
              </a:ext>
            </a:extLst>
          </p:cNvPr>
          <p:cNvSpPr txBox="1"/>
          <p:nvPr/>
        </p:nvSpPr>
        <p:spPr>
          <a:xfrm>
            <a:off x="2467006" y="5477522"/>
            <a:ext cx="4564110" cy="369332"/>
          </a:xfrm>
          <a:prstGeom prst="rect">
            <a:avLst/>
          </a:prstGeom>
          <a:noFill/>
        </p:spPr>
        <p:txBody>
          <a:bodyPr wrap="square" rtlCol="0">
            <a:spAutoFit/>
          </a:bodyPr>
          <a:lstStyle/>
          <a:p>
            <a:r>
              <a:rPr lang="en-US" dirty="0">
                <a:solidFill>
                  <a:schemeClr val="accent3">
                    <a:lumMod val="60000"/>
                    <a:lumOff val="40000"/>
                  </a:schemeClr>
                </a:solidFill>
              </a:rPr>
              <a:t>The result will be stored in: CX</a:t>
            </a:r>
          </a:p>
        </p:txBody>
      </p:sp>
    </p:spTree>
    <p:extLst>
      <p:ext uri="{BB962C8B-B14F-4D97-AF65-F5344CB8AC3E}">
        <p14:creationId xmlns:p14="http://schemas.microsoft.com/office/powerpoint/2010/main" val="3270079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3F513-9F73-F52B-9D3D-7970AF2C4D2D}"/>
              </a:ext>
            </a:extLst>
          </p:cNvPr>
          <p:cNvSpPr>
            <a:spLocks noGrp="1"/>
          </p:cNvSpPr>
          <p:nvPr>
            <p:ph type="title"/>
          </p:nvPr>
        </p:nvSpPr>
        <p:spPr/>
        <p:txBody>
          <a:bodyPr/>
          <a:lstStyle/>
          <a:p>
            <a:r>
              <a:rPr lang="en-US" dirty="0"/>
              <a:t>Problem 6</a:t>
            </a:r>
          </a:p>
        </p:txBody>
      </p:sp>
      <p:sp>
        <p:nvSpPr>
          <p:cNvPr id="4" name="Content Placeholder 2">
            <a:extLst>
              <a:ext uri="{FF2B5EF4-FFF2-40B4-BE49-F238E27FC236}">
                <a16:creationId xmlns:a16="http://schemas.microsoft.com/office/drawing/2014/main" id="{7B218895-A253-CE62-29B8-2E3B2C733301}"/>
              </a:ext>
            </a:extLst>
          </p:cNvPr>
          <p:cNvSpPr txBox="1">
            <a:spLocks/>
          </p:cNvSpPr>
          <p:nvPr/>
        </p:nvSpPr>
        <p:spPr>
          <a:xfrm>
            <a:off x="987902" y="1502503"/>
            <a:ext cx="9629791" cy="1657947"/>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marL="0" indent="0">
              <a:spcBef>
                <a:spcPts val="0"/>
              </a:spcBef>
              <a:buFont typeface="Wingdings 3" charset="2"/>
              <a:buNone/>
            </a:pPr>
            <a:r>
              <a:rPr lang="en-US" sz="2400" dirty="0">
                <a:latin typeface="Times New Roman" panose="02020603050405020304" pitchFamily="18" charset="0"/>
              </a:rPr>
              <a:t>Assume that the following registers contain these HEX contents: </a:t>
            </a:r>
            <a:r>
              <a:rPr lang="en-US" sz="2400" dirty="0">
                <a:solidFill>
                  <a:schemeClr val="accent3">
                    <a:lumMod val="60000"/>
                    <a:lumOff val="40000"/>
                  </a:schemeClr>
                </a:solidFill>
                <a:latin typeface="Times New Roman" panose="02020603050405020304" pitchFamily="18" charset="0"/>
              </a:rPr>
              <a:t>AX = F000, BX = 3456, </a:t>
            </a:r>
            <a:r>
              <a:rPr lang="en-US" sz="2400" dirty="0">
                <a:latin typeface="Times New Roman" panose="02020603050405020304" pitchFamily="18" charset="0"/>
              </a:rPr>
              <a:t>and</a:t>
            </a:r>
            <a:r>
              <a:rPr lang="en-US" sz="2400" dirty="0">
                <a:solidFill>
                  <a:schemeClr val="accent3">
                    <a:lumMod val="60000"/>
                    <a:lumOff val="40000"/>
                  </a:schemeClr>
                </a:solidFill>
                <a:latin typeface="Times New Roman" panose="02020603050405020304" pitchFamily="18" charset="0"/>
              </a:rPr>
              <a:t> DX = E390.</a:t>
            </a:r>
            <a:r>
              <a:rPr lang="en-US" sz="2400" dirty="0">
                <a:latin typeface="Times New Roman" panose="02020603050405020304" pitchFamily="18" charset="0"/>
              </a:rPr>
              <a:t> Perform the following operations. Indicate the result and the register where it is stored. Give also ZF and CF in each case.</a:t>
            </a:r>
          </a:p>
          <a:p>
            <a:pPr marL="0" indent="0">
              <a:spcBef>
                <a:spcPts val="0"/>
              </a:spcBef>
              <a:buFont typeface="Wingdings 3" charset="2"/>
              <a:buNone/>
            </a:pPr>
            <a:r>
              <a:rPr lang="en-US" sz="2400" dirty="0">
                <a:latin typeface="Times New Roman" panose="02020603050405020304" pitchFamily="18" charset="0"/>
              </a:rPr>
              <a:t>Note: the operations are independent of each other.</a:t>
            </a:r>
          </a:p>
        </p:txBody>
      </p:sp>
      <p:sp>
        <p:nvSpPr>
          <p:cNvPr id="6" name="TextBox 5">
            <a:extLst>
              <a:ext uri="{FF2B5EF4-FFF2-40B4-BE49-F238E27FC236}">
                <a16:creationId xmlns:a16="http://schemas.microsoft.com/office/drawing/2014/main" id="{1C320EC3-5167-1A26-1006-6E42C86BB0F6}"/>
              </a:ext>
            </a:extLst>
          </p:cNvPr>
          <p:cNvSpPr txBox="1"/>
          <p:nvPr/>
        </p:nvSpPr>
        <p:spPr>
          <a:xfrm>
            <a:off x="1245354" y="3169333"/>
            <a:ext cx="5377388" cy="1162975"/>
          </a:xfrm>
          <a:prstGeom prst="rect">
            <a:avLst/>
          </a:prstGeom>
        </p:spPr>
        <p:txBody>
          <a:bodyPr vert="horz" lIns="91440" tIns="45720" rIns="91440" bIns="45720" rtlCol="0">
            <a:normAutofit/>
          </a:bodyPr>
          <a:lstStyle>
            <a:lvl1pPr indent="0">
              <a:spcBef>
                <a:spcPts val="0"/>
              </a:spcBef>
              <a:spcAft>
                <a:spcPts val="0"/>
              </a:spcAft>
              <a:buClr>
                <a:schemeClr val="bg2">
                  <a:lumMod val="40000"/>
                  <a:lumOff val="60000"/>
                </a:schemeClr>
              </a:buClr>
              <a:buSzPct val="80000"/>
              <a:buFont typeface="Wingdings 3" charset="2"/>
              <a:buNone/>
              <a:defRPr sz="2400" b="0" i="0">
                <a:latin typeface="Times New Roman" panose="02020603050405020304" pitchFamily="18" charset="0"/>
                <a:ea typeface="+mj-ea"/>
                <a:cs typeface="+mj-cs"/>
              </a:defRPr>
            </a:lvl1pPr>
            <a:lvl2pPr marL="742950" indent="-285750">
              <a:spcBef>
                <a:spcPts val="1000"/>
              </a:spcBef>
              <a:spcAft>
                <a:spcPts val="0"/>
              </a:spcAft>
              <a:buClr>
                <a:schemeClr val="bg2">
                  <a:lumMod val="40000"/>
                  <a:lumOff val="60000"/>
                </a:schemeClr>
              </a:buClr>
              <a:buSzPct val="80000"/>
              <a:buFont typeface="Wingdings 3" charset="2"/>
              <a:buChar char=""/>
              <a:defRPr b="0" i="0">
                <a:latin typeface="+mj-lt"/>
                <a:ea typeface="+mj-ea"/>
                <a:cs typeface="+mj-cs"/>
              </a:defRPr>
            </a:lvl2pPr>
            <a:lvl3pPr marL="1143000" indent="-228600">
              <a:spcBef>
                <a:spcPts val="1000"/>
              </a:spcBef>
              <a:spcAft>
                <a:spcPts val="0"/>
              </a:spcAft>
              <a:buClr>
                <a:schemeClr val="bg2">
                  <a:lumMod val="40000"/>
                  <a:lumOff val="60000"/>
                </a:schemeClr>
              </a:buClr>
              <a:buSzPct val="80000"/>
              <a:buFont typeface="Wingdings 3" charset="2"/>
              <a:buChar char=""/>
              <a:defRPr sz="1600" b="0" i="0">
                <a:latin typeface="+mj-lt"/>
                <a:ea typeface="+mj-ea"/>
                <a:cs typeface="+mj-cs"/>
              </a:defRPr>
            </a:lvl3pPr>
            <a:lvl4pPr marL="16002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4pPr>
            <a:lvl5pPr marL="20574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5pPr>
            <a:lvl6pPr marL="25060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6pPr>
            <a:lvl7pPr marL="29718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7pPr>
            <a:lvl8pPr marL="34290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8pPr>
            <a:lvl9pPr marL="38862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9pPr>
          </a:lstStyle>
          <a:p>
            <a:pPr marL="171450" indent="-457200">
              <a:buFont typeface="+mj-lt"/>
              <a:buAutoNum type="alphaLcParenR"/>
            </a:pPr>
            <a:r>
              <a:rPr lang="en-US" dirty="0"/>
              <a:t>AND DX,AX</a:t>
            </a:r>
          </a:p>
        </p:txBody>
      </p:sp>
      <p:graphicFrame>
        <p:nvGraphicFramePr>
          <p:cNvPr id="3" name="Table 8">
            <a:extLst>
              <a:ext uri="{FF2B5EF4-FFF2-40B4-BE49-F238E27FC236}">
                <a16:creationId xmlns:a16="http://schemas.microsoft.com/office/drawing/2014/main" id="{4311CB22-336B-E692-8556-74BC9E56BC33}"/>
              </a:ext>
            </a:extLst>
          </p:cNvPr>
          <p:cNvGraphicFramePr>
            <a:graphicFrameLocks noGrp="1"/>
          </p:cNvGraphicFramePr>
          <p:nvPr>
            <p:extLst>
              <p:ext uri="{D42A27DB-BD31-4B8C-83A1-F6EECF244321}">
                <p14:modId xmlns:p14="http://schemas.microsoft.com/office/powerpoint/2010/main" val="1048116205"/>
              </p:ext>
            </p:extLst>
          </p:nvPr>
        </p:nvGraphicFramePr>
        <p:xfrm>
          <a:off x="2467006" y="4518734"/>
          <a:ext cx="3042740" cy="736600"/>
        </p:xfrm>
        <a:graphic>
          <a:graphicData uri="http://schemas.openxmlformats.org/drawingml/2006/table">
            <a:tbl>
              <a:tblPr firstRow="1" bandRow="1">
                <a:tableStyleId>{5C22544A-7EE6-4342-B048-85BDC9FD1C3A}</a:tableStyleId>
              </a:tblPr>
              <a:tblGrid>
                <a:gridCol w="1521370">
                  <a:extLst>
                    <a:ext uri="{9D8B030D-6E8A-4147-A177-3AD203B41FA5}">
                      <a16:colId xmlns:a16="http://schemas.microsoft.com/office/drawing/2014/main" val="3613960081"/>
                    </a:ext>
                  </a:extLst>
                </a:gridCol>
                <a:gridCol w="1521370">
                  <a:extLst>
                    <a:ext uri="{9D8B030D-6E8A-4147-A177-3AD203B41FA5}">
                      <a16:colId xmlns:a16="http://schemas.microsoft.com/office/drawing/2014/main" val="4139411549"/>
                    </a:ext>
                  </a:extLst>
                </a:gridCol>
              </a:tblGrid>
              <a:tr h="358565">
                <a:tc>
                  <a:txBody>
                    <a:bodyPr/>
                    <a:lstStyle/>
                    <a:p>
                      <a:pPr algn="ctr"/>
                      <a:r>
                        <a:rPr lang="en-US" dirty="0"/>
                        <a:t>CF</a:t>
                      </a:r>
                    </a:p>
                  </a:txBody>
                  <a:tcPr/>
                </a:tc>
                <a:tc>
                  <a:txBody>
                    <a:bodyPr/>
                    <a:lstStyle/>
                    <a:p>
                      <a:pPr algn="ctr"/>
                      <a:r>
                        <a:rPr lang="en-US" dirty="0"/>
                        <a:t>ZF</a:t>
                      </a:r>
                    </a:p>
                  </a:txBody>
                  <a:tcPr/>
                </a:tc>
                <a:extLst>
                  <a:ext uri="{0D108BD9-81ED-4DB2-BD59-A6C34878D82A}">
                    <a16:rowId xmlns:a16="http://schemas.microsoft.com/office/drawing/2014/main" val="1383217334"/>
                  </a:ext>
                </a:extLst>
              </a:tr>
              <a:tr h="370840">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4212303573"/>
                  </a:ext>
                </a:extLst>
              </a:tr>
            </a:tbl>
          </a:graphicData>
        </a:graphic>
      </p:graphicFrame>
      <p:sp>
        <p:nvSpPr>
          <p:cNvPr id="5" name="TextBox 4">
            <a:extLst>
              <a:ext uri="{FF2B5EF4-FFF2-40B4-BE49-F238E27FC236}">
                <a16:creationId xmlns:a16="http://schemas.microsoft.com/office/drawing/2014/main" id="{DC56C822-DCEB-C92D-1C9E-F3CDB8A5A4D3}"/>
              </a:ext>
            </a:extLst>
          </p:cNvPr>
          <p:cNvSpPr txBox="1"/>
          <p:nvPr/>
        </p:nvSpPr>
        <p:spPr>
          <a:xfrm>
            <a:off x="2467006" y="5477522"/>
            <a:ext cx="4564110" cy="369332"/>
          </a:xfrm>
          <a:prstGeom prst="rect">
            <a:avLst/>
          </a:prstGeom>
          <a:noFill/>
        </p:spPr>
        <p:txBody>
          <a:bodyPr wrap="square" rtlCol="0">
            <a:spAutoFit/>
          </a:bodyPr>
          <a:lstStyle/>
          <a:p>
            <a:r>
              <a:rPr lang="en-US" dirty="0">
                <a:solidFill>
                  <a:schemeClr val="accent3">
                    <a:lumMod val="60000"/>
                    <a:lumOff val="40000"/>
                  </a:schemeClr>
                </a:solidFill>
              </a:rPr>
              <a:t>The result will be stored in: DX</a:t>
            </a:r>
          </a:p>
        </p:txBody>
      </p:sp>
      <p:pic>
        <p:nvPicPr>
          <p:cNvPr id="10" name="Picture 9">
            <a:extLst>
              <a:ext uri="{FF2B5EF4-FFF2-40B4-BE49-F238E27FC236}">
                <a16:creationId xmlns:a16="http://schemas.microsoft.com/office/drawing/2014/main" id="{2B78F9FB-7812-D07D-4977-6D548661CDAA}"/>
              </a:ext>
            </a:extLst>
          </p:cNvPr>
          <p:cNvPicPr>
            <a:picLocks noChangeAspect="1"/>
          </p:cNvPicPr>
          <p:nvPr/>
        </p:nvPicPr>
        <p:blipFill>
          <a:blip r:embed="rId2"/>
          <a:stretch>
            <a:fillRect/>
          </a:stretch>
        </p:blipFill>
        <p:spPr>
          <a:xfrm>
            <a:off x="7547936" y="3384022"/>
            <a:ext cx="3669369" cy="1467747"/>
          </a:xfrm>
          <a:prstGeom prst="rect">
            <a:avLst/>
          </a:prstGeom>
        </p:spPr>
      </p:pic>
    </p:spTree>
    <p:extLst>
      <p:ext uri="{BB962C8B-B14F-4D97-AF65-F5344CB8AC3E}">
        <p14:creationId xmlns:p14="http://schemas.microsoft.com/office/powerpoint/2010/main" val="2819489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3F513-9F73-F52B-9D3D-7970AF2C4D2D}"/>
              </a:ext>
            </a:extLst>
          </p:cNvPr>
          <p:cNvSpPr>
            <a:spLocks noGrp="1"/>
          </p:cNvSpPr>
          <p:nvPr>
            <p:ph type="title"/>
          </p:nvPr>
        </p:nvSpPr>
        <p:spPr/>
        <p:txBody>
          <a:bodyPr/>
          <a:lstStyle/>
          <a:p>
            <a:r>
              <a:rPr lang="en-US" dirty="0"/>
              <a:t>Problem 6</a:t>
            </a:r>
          </a:p>
        </p:txBody>
      </p:sp>
      <p:sp>
        <p:nvSpPr>
          <p:cNvPr id="4" name="Content Placeholder 2">
            <a:extLst>
              <a:ext uri="{FF2B5EF4-FFF2-40B4-BE49-F238E27FC236}">
                <a16:creationId xmlns:a16="http://schemas.microsoft.com/office/drawing/2014/main" id="{7B218895-A253-CE62-29B8-2E3B2C733301}"/>
              </a:ext>
            </a:extLst>
          </p:cNvPr>
          <p:cNvSpPr txBox="1">
            <a:spLocks/>
          </p:cNvSpPr>
          <p:nvPr/>
        </p:nvSpPr>
        <p:spPr>
          <a:xfrm>
            <a:off x="987902" y="1502503"/>
            <a:ext cx="9629791" cy="1657947"/>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marL="0" indent="0">
              <a:spcBef>
                <a:spcPts val="0"/>
              </a:spcBef>
              <a:buFont typeface="Wingdings 3" charset="2"/>
              <a:buNone/>
            </a:pPr>
            <a:r>
              <a:rPr lang="en-US" sz="2400" dirty="0">
                <a:latin typeface="Times New Roman" panose="02020603050405020304" pitchFamily="18" charset="0"/>
              </a:rPr>
              <a:t>Assume that the following registers contain these HEX contents: </a:t>
            </a:r>
            <a:r>
              <a:rPr lang="en-US" sz="2400" dirty="0">
                <a:solidFill>
                  <a:schemeClr val="accent3">
                    <a:lumMod val="60000"/>
                    <a:lumOff val="40000"/>
                  </a:schemeClr>
                </a:solidFill>
                <a:latin typeface="Times New Roman" panose="02020603050405020304" pitchFamily="18" charset="0"/>
              </a:rPr>
              <a:t>AX = F000, BX = 3456, </a:t>
            </a:r>
            <a:r>
              <a:rPr lang="en-US" sz="2400" dirty="0">
                <a:latin typeface="Times New Roman" panose="02020603050405020304" pitchFamily="18" charset="0"/>
              </a:rPr>
              <a:t>and</a:t>
            </a:r>
            <a:r>
              <a:rPr lang="en-US" sz="2400" dirty="0">
                <a:solidFill>
                  <a:schemeClr val="accent3">
                    <a:lumMod val="60000"/>
                    <a:lumOff val="40000"/>
                  </a:schemeClr>
                </a:solidFill>
                <a:latin typeface="Times New Roman" panose="02020603050405020304" pitchFamily="18" charset="0"/>
              </a:rPr>
              <a:t> DX = E390.</a:t>
            </a:r>
            <a:r>
              <a:rPr lang="en-US" sz="2400" dirty="0">
                <a:latin typeface="Times New Roman" panose="02020603050405020304" pitchFamily="18" charset="0"/>
              </a:rPr>
              <a:t> Perform the following operations. Indicate the result and the register where it is stored. Give also ZF and CF in each case.</a:t>
            </a:r>
          </a:p>
          <a:p>
            <a:pPr marL="0" indent="0">
              <a:spcBef>
                <a:spcPts val="0"/>
              </a:spcBef>
              <a:buFont typeface="Wingdings 3" charset="2"/>
              <a:buNone/>
            </a:pPr>
            <a:r>
              <a:rPr lang="en-US" sz="2400" dirty="0">
                <a:latin typeface="Times New Roman" panose="02020603050405020304" pitchFamily="18" charset="0"/>
              </a:rPr>
              <a:t>Note: the operations are independent of each other.</a:t>
            </a:r>
          </a:p>
        </p:txBody>
      </p:sp>
      <p:sp>
        <p:nvSpPr>
          <p:cNvPr id="6" name="TextBox 5">
            <a:extLst>
              <a:ext uri="{FF2B5EF4-FFF2-40B4-BE49-F238E27FC236}">
                <a16:creationId xmlns:a16="http://schemas.microsoft.com/office/drawing/2014/main" id="{1C320EC3-5167-1A26-1006-6E42C86BB0F6}"/>
              </a:ext>
            </a:extLst>
          </p:cNvPr>
          <p:cNvSpPr txBox="1"/>
          <p:nvPr/>
        </p:nvSpPr>
        <p:spPr>
          <a:xfrm>
            <a:off x="1245354" y="3169333"/>
            <a:ext cx="5377388" cy="1162975"/>
          </a:xfrm>
          <a:prstGeom prst="rect">
            <a:avLst/>
          </a:prstGeom>
        </p:spPr>
        <p:txBody>
          <a:bodyPr vert="horz" lIns="91440" tIns="45720" rIns="91440" bIns="45720" rtlCol="0">
            <a:normAutofit/>
          </a:bodyPr>
          <a:lstStyle>
            <a:lvl1pPr indent="0">
              <a:spcBef>
                <a:spcPts val="0"/>
              </a:spcBef>
              <a:spcAft>
                <a:spcPts val="0"/>
              </a:spcAft>
              <a:buClr>
                <a:schemeClr val="bg2">
                  <a:lumMod val="40000"/>
                  <a:lumOff val="60000"/>
                </a:schemeClr>
              </a:buClr>
              <a:buSzPct val="80000"/>
              <a:buFont typeface="Wingdings 3" charset="2"/>
              <a:buNone/>
              <a:defRPr sz="2400" b="0" i="0">
                <a:latin typeface="Times New Roman" panose="02020603050405020304" pitchFamily="18" charset="0"/>
                <a:ea typeface="+mj-ea"/>
                <a:cs typeface="+mj-cs"/>
              </a:defRPr>
            </a:lvl1pPr>
            <a:lvl2pPr marL="742950" indent="-285750">
              <a:spcBef>
                <a:spcPts val="1000"/>
              </a:spcBef>
              <a:spcAft>
                <a:spcPts val="0"/>
              </a:spcAft>
              <a:buClr>
                <a:schemeClr val="bg2">
                  <a:lumMod val="40000"/>
                  <a:lumOff val="60000"/>
                </a:schemeClr>
              </a:buClr>
              <a:buSzPct val="80000"/>
              <a:buFont typeface="Wingdings 3" charset="2"/>
              <a:buChar char=""/>
              <a:defRPr b="0" i="0">
                <a:latin typeface="+mj-lt"/>
                <a:ea typeface="+mj-ea"/>
                <a:cs typeface="+mj-cs"/>
              </a:defRPr>
            </a:lvl2pPr>
            <a:lvl3pPr marL="1143000" indent="-228600">
              <a:spcBef>
                <a:spcPts val="1000"/>
              </a:spcBef>
              <a:spcAft>
                <a:spcPts val="0"/>
              </a:spcAft>
              <a:buClr>
                <a:schemeClr val="bg2">
                  <a:lumMod val="40000"/>
                  <a:lumOff val="60000"/>
                </a:schemeClr>
              </a:buClr>
              <a:buSzPct val="80000"/>
              <a:buFont typeface="Wingdings 3" charset="2"/>
              <a:buChar char=""/>
              <a:defRPr sz="1600" b="0" i="0">
                <a:latin typeface="+mj-lt"/>
                <a:ea typeface="+mj-ea"/>
                <a:cs typeface="+mj-cs"/>
              </a:defRPr>
            </a:lvl3pPr>
            <a:lvl4pPr marL="16002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4pPr>
            <a:lvl5pPr marL="20574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5pPr>
            <a:lvl6pPr marL="25060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6pPr>
            <a:lvl7pPr marL="29718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7pPr>
            <a:lvl8pPr marL="34290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8pPr>
            <a:lvl9pPr marL="38862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9pPr>
          </a:lstStyle>
          <a:p>
            <a:pPr marL="171450" indent="-457200">
              <a:buFont typeface="+mj-lt"/>
              <a:buAutoNum type="alphaLcParenR" startAt="2"/>
            </a:pPr>
            <a:r>
              <a:rPr lang="en-US" dirty="0"/>
              <a:t>XOR AL,76H</a:t>
            </a:r>
          </a:p>
        </p:txBody>
      </p:sp>
      <p:graphicFrame>
        <p:nvGraphicFramePr>
          <p:cNvPr id="3" name="Table 8">
            <a:extLst>
              <a:ext uri="{FF2B5EF4-FFF2-40B4-BE49-F238E27FC236}">
                <a16:creationId xmlns:a16="http://schemas.microsoft.com/office/drawing/2014/main" id="{7274C5E0-8EFF-F729-F5D1-56061707EB8B}"/>
              </a:ext>
            </a:extLst>
          </p:cNvPr>
          <p:cNvGraphicFramePr>
            <a:graphicFrameLocks noGrp="1"/>
          </p:cNvGraphicFramePr>
          <p:nvPr>
            <p:extLst>
              <p:ext uri="{D42A27DB-BD31-4B8C-83A1-F6EECF244321}">
                <p14:modId xmlns:p14="http://schemas.microsoft.com/office/powerpoint/2010/main" val="1042490681"/>
              </p:ext>
            </p:extLst>
          </p:nvPr>
        </p:nvGraphicFramePr>
        <p:xfrm>
          <a:off x="2467006" y="4518734"/>
          <a:ext cx="3042740" cy="736600"/>
        </p:xfrm>
        <a:graphic>
          <a:graphicData uri="http://schemas.openxmlformats.org/drawingml/2006/table">
            <a:tbl>
              <a:tblPr firstRow="1" bandRow="1">
                <a:tableStyleId>{5C22544A-7EE6-4342-B048-85BDC9FD1C3A}</a:tableStyleId>
              </a:tblPr>
              <a:tblGrid>
                <a:gridCol w="1521370">
                  <a:extLst>
                    <a:ext uri="{9D8B030D-6E8A-4147-A177-3AD203B41FA5}">
                      <a16:colId xmlns:a16="http://schemas.microsoft.com/office/drawing/2014/main" val="3613960081"/>
                    </a:ext>
                  </a:extLst>
                </a:gridCol>
                <a:gridCol w="1521370">
                  <a:extLst>
                    <a:ext uri="{9D8B030D-6E8A-4147-A177-3AD203B41FA5}">
                      <a16:colId xmlns:a16="http://schemas.microsoft.com/office/drawing/2014/main" val="4139411549"/>
                    </a:ext>
                  </a:extLst>
                </a:gridCol>
              </a:tblGrid>
              <a:tr h="358565">
                <a:tc>
                  <a:txBody>
                    <a:bodyPr/>
                    <a:lstStyle/>
                    <a:p>
                      <a:pPr algn="ctr"/>
                      <a:r>
                        <a:rPr lang="en-US" dirty="0"/>
                        <a:t>CF</a:t>
                      </a:r>
                    </a:p>
                  </a:txBody>
                  <a:tcPr/>
                </a:tc>
                <a:tc>
                  <a:txBody>
                    <a:bodyPr/>
                    <a:lstStyle/>
                    <a:p>
                      <a:pPr algn="ctr"/>
                      <a:r>
                        <a:rPr lang="en-US" dirty="0"/>
                        <a:t>ZF</a:t>
                      </a:r>
                    </a:p>
                  </a:txBody>
                  <a:tcPr/>
                </a:tc>
                <a:extLst>
                  <a:ext uri="{0D108BD9-81ED-4DB2-BD59-A6C34878D82A}">
                    <a16:rowId xmlns:a16="http://schemas.microsoft.com/office/drawing/2014/main" val="1383217334"/>
                  </a:ext>
                </a:extLst>
              </a:tr>
              <a:tr h="370840">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4212303573"/>
                  </a:ext>
                </a:extLst>
              </a:tr>
            </a:tbl>
          </a:graphicData>
        </a:graphic>
      </p:graphicFrame>
      <p:sp>
        <p:nvSpPr>
          <p:cNvPr id="5" name="TextBox 4">
            <a:extLst>
              <a:ext uri="{FF2B5EF4-FFF2-40B4-BE49-F238E27FC236}">
                <a16:creationId xmlns:a16="http://schemas.microsoft.com/office/drawing/2014/main" id="{DA328A80-5BBE-7B75-2DC7-008C93DCD393}"/>
              </a:ext>
            </a:extLst>
          </p:cNvPr>
          <p:cNvSpPr txBox="1"/>
          <p:nvPr/>
        </p:nvSpPr>
        <p:spPr>
          <a:xfrm>
            <a:off x="2467006" y="5477522"/>
            <a:ext cx="4564110" cy="369332"/>
          </a:xfrm>
          <a:prstGeom prst="rect">
            <a:avLst/>
          </a:prstGeom>
          <a:noFill/>
        </p:spPr>
        <p:txBody>
          <a:bodyPr wrap="square" rtlCol="0">
            <a:spAutoFit/>
          </a:bodyPr>
          <a:lstStyle/>
          <a:p>
            <a:r>
              <a:rPr lang="en-US" dirty="0">
                <a:solidFill>
                  <a:schemeClr val="accent3">
                    <a:lumMod val="60000"/>
                    <a:lumOff val="40000"/>
                  </a:schemeClr>
                </a:solidFill>
              </a:rPr>
              <a:t>The result will be stored in: AL</a:t>
            </a:r>
          </a:p>
        </p:txBody>
      </p:sp>
      <p:pic>
        <p:nvPicPr>
          <p:cNvPr id="8" name="Picture 7">
            <a:extLst>
              <a:ext uri="{FF2B5EF4-FFF2-40B4-BE49-F238E27FC236}">
                <a16:creationId xmlns:a16="http://schemas.microsoft.com/office/drawing/2014/main" id="{EAEFEC98-3A65-B69A-C37F-F781ABAE481B}"/>
              </a:ext>
            </a:extLst>
          </p:cNvPr>
          <p:cNvPicPr>
            <a:picLocks noChangeAspect="1"/>
          </p:cNvPicPr>
          <p:nvPr/>
        </p:nvPicPr>
        <p:blipFill>
          <a:blip r:embed="rId2"/>
          <a:stretch>
            <a:fillRect/>
          </a:stretch>
        </p:blipFill>
        <p:spPr>
          <a:xfrm>
            <a:off x="8024902" y="3356734"/>
            <a:ext cx="2166663" cy="1530300"/>
          </a:xfrm>
          <a:prstGeom prst="rect">
            <a:avLst/>
          </a:prstGeom>
        </p:spPr>
      </p:pic>
    </p:spTree>
    <p:extLst>
      <p:ext uri="{BB962C8B-B14F-4D97-AF65-F5344CB8AC3E}">
        <p14:creationId xmlns:p14="http://schemas.microsoft.com/office/powerpoint/2010/main" val="3733316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3F513-9F73-F52B-9D3D-7970AF2C4D2D}"/>
              </a:ext>
            </a:extLst>
          </p:cNvPr>
          <p:cNvSpPr>
            <a:spLocks noGrp="1"/>
          </p:cNvSpPr>
          <p:nvPr>
            <p:ph type="title"/>
          </p:nvPr>
        </p:nvSpPr>
        <p:spPr/>
        <p:txBody>
          <a:bodyPr/>
          <a:lstStyle/>
          <a:p>
            <a:r>
              <a:rPr lang="en-US" dirty="0"/>
              <a:t>Problem 6</a:t>
            </a:r>
          </a:p>
        </p:txBody>
      </p:sp>
      <p:sp>
        <p:nvSpPr>
          <p:cNvPr id="4" name="Content Placeholder 2">
            <a:extLst>
              <a:ext uri="{FF2B5EF4-FFF2-40B4-BE49-F238E27FC236}">
                <a16:creationId xmlns:a16="http://schemas.microsoft.com/office/drawing/2014/main" id="{7B218895-A253-CE62-29B8-2E3B2C733301}"/>
              </a:ext>
            </a:extLst>
          </p:cNvPr>
          <p:cNvSpPr txBox="1">
            <a:spLocks/>
          </p:cNvSpPr>
          <p:nvPr/>
        </p:nvSpPr>
        <p:spPr>
          <a:xfrm>
            <a:off x="987902" y="1502503"/>
            <a:ext cx="9629791" cy="1657947"/>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marL="0" indent="0">
              <a:spcBef>
                <a:spcPts val="0"/>
              </a:spcBef>
              <a:buFont typeface="Wingdings 3" charset="2"/>
              <a:buNone/>
            </a:pPr>
            <a:r>
              <a:rPr lang="en-US" sz="2400" dirty="0">
                <a:latin typeface="Times New Roman" panose="02020603050405020304" pitchFamily="18" charset="0"/>
              </a:rPr>
              <a:t>Assume that the following registers contain these HEX contents: </a:t>
            </a:r>
            <a:r>
              <a:rPr lang="en-US" sz="2400" dirty="0">
                <a:solidFill>
                  <a:schemeClr val="accent3">
                    <a:lumMod val="60000"/>
                    <a:lumOff val="40000"/>
                  </a:schemeClr>
                </a:solidFill>
                <a:latin typeface="Times New Roman" panose="02020603050405020304" pitchFamily="18" charset="0"/>
              </a:rPr>
              <a:t>AX = F000, BX = 3456, </a:t>
            </a:r>
            <a:r>
              <a:rPr lang="en-US" sz="2400" dirty="0">
                <a:latin typeface="Times New Roman" panose="02020603050405020304" pitchFamily="18" charset="0"/>
              </a:rPr>
              <a:t>and</a:t>
            </a:r>
            <a:r>
              <a:rPr lang="en-US" sz="2400" dirty="0">
                <a:solidFill>
                  <a:schemeClr val="accent3">
                    <a:lumMod val="60000"/>
                    <a:lumOff val="40000"/>
                  </a:schemeClr>
                </a:solidFill>
                <a:latin typeface="Times New Roman" panose="02020603050405020304" pitchFamily="18" charset="0"/>
              </a:rPr>
              <a:t> DX = E390.</a:t>
            </a:r>
            <a:r>
              <a:rPr lang="en-US" sz="2400" dirty="0">
                <a:latin typeface="Times New Roman" panose="02020603050405020304" pitchFamily="18" charset="0"/>
              </a:rPr>
              <a:t> Perform the following operations. Indicate the result and the register where it is stored. Give also ZF and CF in each case.</a:t>
            </a:r>
          </a:p>
          <a:p>
            <a:pPr marL="0" indent="0">
              <a:spcBef>
                <a:spcPts val="0"/>
              </a:spcBef>
              <a:buFont typeface="Wingdings 3" charset="2"/>
              <a:buNone/>
            </a:pPr>
            <a:r>
              <a:rPr lang="en-US" sz="2400" dirty="0">
                <a:latin typeface="Times New Roman" panose="02020603050405020304" pitchFamily="18" charset="0"/>
              </a:rPr>
              <a:t>Note: the operations are independent of each other.</a:t>
            </a:r>
          </a:p>
        </p:txBody>
      </p:sp>
      <p:sp>
        <p:nvSpPr>
          <p:cNvPr id="6" name="TextBox 5">
            <a:extLst>
              <a:ext uri="{FF2B5EF4-FFF2-40B4-BE49-F238E27FC236}">
                <a16:creationId xmlns:a16="http://schemas.microsoft.com/office/drawing/2014/main" id="{1C320EC3-5167-1A26-1006-6E42C86BB0F6}"/>
              </a:ext>
            </a:extLst>
          </p:cNvPr>
          <p:cNvSpPr txBox="1"/>
          <p:nvPr/>
        </p:nvSpPr>
        <p:spPr>
          <a:xfrm>
            <a:off x="1245354" y="3169333"/>
            <a:ext cx="5377388" cy="1162975"/>
          </a:xfrm>
          <a:prstGeom prst="rect">
            <a:avLst/>
          </a:prstGeom>
        </p:spPr>
        <p:txBody>
          <a:bodyPr vert="horz" lIns="91440" tIns="45720" rIns="91440" bIns="45720" rtlCol="0">
            <a:normAutofit/>
          </a:bodyPr>
          <a:lstStyle>
            <a:lvl1pPr indent="0">
              <a:spcBef>
                <a:spcPts val="0"/>
              </a:spcBef>
              <a:spcAft>
                <a:spcPts val="0"/>
              </a:spcAft>
              <a:buClr>
                <a:schemeClr val="bg2">
                  <a:lumMod val="40000"/>
                  <a:lumOff val="60000"/>
                </a:schemeClr>
              </a:buClr>
              <a:buSzPct val="80000"/>
              <a:buFont typeface="Wingdings 3" charset="2"/>
              <a:buNone/>
              <a:defRPr sz="2400" b="0" i="0">
                <a:latin typeface="Times New Roman" panose="02020603050405020304" pitchFamily="18" charset="0"/>
                <a:ea typeface="+mj-ea"/>
                <a:cs typeface="+mj-cs"/>
              </a:defRPr>
            </a:lvl1pPr>
            <a:lvl2pPr marL="742950" indent="-285750">
              <a:spcBef>
                <a:spcPts val="1000"/>
              </a:spcBef>
              <a:spcAft>
                <a:spcPts val="0"/>
              </a:spcAft>
              <a:buClr>
                <a:schemeClr val="bg2">
                  <a:lumMod val="40000"/>
                  <a:lumOff val="60000"/>
                </a:schemeClr>
              </a:buClr>
              <a:buSzPct val="80000"/>
              <a:buFont typeface="Wingdings 3" charset="2"/>
              <a:buChar char=""/>
              <a:defRPr b="0" i="0">
                <a:latin typeface="+mj-lt"/>
                <a:ea typeface="+mj-ea"/>
                <a:cs typeface="+mj-cs"/>
              </a:defRPr>
            </a:lvl2pPr>
            <a:lvl3pPr marL="1143000" indent="-228600">
              <a:spcBef>
                <a:spcPts val="1000"/>
              </a:spcBef>
              <a:spcAft>
                <a:spcPts val="0"/>
              </a:spcAft>
              <a:buClr>
                <a:schemeClr val="bg2">
                  <a:lumMod val="40000"/>
                  <a:lumOff val="60000"/>
                </a:schemeClr>
              </a:buClr>
              <a:buSzPct val="80000"/>
              <a:buFont typeface="Wingdings 3" charset="2"/>
              <a:buChar char=""/>
              <a:defRPr sz="1600" b="0" i="0">
                <a:latin typeface="+mj-lt"/>
                <a:ea typeface="+mj-ea"/>
                <a:cs typeface="+mj-cs"/>
              </a:defRPr>
            </a:lvl3pPr>
            <a:lvl4pPr marL="16002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4pPr>
            <a:lvl5pPr marL="20574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5pPr>
            <a:lvl6pPr marL="25060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6pPr>
            <a:lvl7pPr marL="29718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7pPr>
            <a:lvl8pPr marL="34290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8pPr>
            <a:lvl9pPr marL="38862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9pPr>
          </a:lstStyle>
          <a:p>
            <a:pPr marL="171450" indent="-457200">
              <a:buFont typeface="+mj-lt"/>
              <a:buAutoNum type="alphaLcParenR" startAt="3"/>
            </a:pPr>
            <a:r>
              <a:rPr lang="en-US" dirty="0"/>
              <a:t>XOR AX,AX</a:t>
            </a:r>
          </a:p>
        </p:txBody>
      </p:sp>
      <p:graphicFrame>
        <p:nvGraphicFramePr>
          <p:cNvPr id="3" name="Table 8">
            <a:extLst>
              <a:ext uri="{FF2B5EF4-FFF2-40B4-BE49-F238E27FC236}">
                <a16:creationId xmlns:a16="http://schemas.microsoft.com/office/drawing/2014/main" id="{EDAD8BB3-B380-6CB8-73D1-EF1C75ED2FD6}"/>
              </a:ext>
            </a:extLst>
          </p:cNvPr>
          <p:cNvGraphicFramePr>
            <a:graphicFrameLocks noGrp="1"/>
          </p:cNvGraphicFramePr>
          <p:nvPr>
            <p:extLst>
              <p:ext uri="{D42A27DB-BD31-4B8C-83A1-F6EECF244321}">
                <p14:modId xmlns:p14="http://schemas.microsoft.com/office/powerpoint/2010/main" val="2561510554"/>
              </p:ext>
            </p:extLst>
          </p:nvPr>
        </p:nvGraphicFramePr>
        <p:xfrm>
          <a:off x="2467006" y="4518734"/>
          <a:ext cx="3042740" cy="736600"/>
        </p:xfrm>
        <a:graphic>
          <a:graphicData uri="http://schemas.openxmlformats.org/drawingml/2006/table">
            <a:tbl>
              <a:tblPr firstRow="1" bandRow="1">
                <a:tableStyleId>{5C22544A-7EE6-4342-B048-85BDC9FD1C3A}</a:tableStyleId>
              </a:tblPr>
              <a:tblGrid>
                <a:gridCol w="1521370">
                  <a:extLst>
                    <a:ext uri="{9D8B030D-6E8A-4147-A177-3AD203B41FA5}">
                      <a16:colId xmlns:a16="http://schemas.microsoft.com/office/drawing/2014/main" val="3613960081"/>
                    </a:ext>
                  </a:extLst>
                </a:gridCol>
                <a:gridCol w="1521370">
                  <a:extLst>
                    <a:ext uri="{9D8B030D-6E8A-4147-A177-3AD203B41FA5}">
                      <a16:colId xmlns:a16="http://schemas.microsoft.com/office/drawing/2014/main" val="4139411549"/>
                    </a:ext>
                  </a:extLst>
                </a:gridCol>
              </a:tblGrid>
              <a:tr h="358565">
                <a:tc>
                  <a:txBody>
                    <a:bodyPr/>
                    <a:lstStyle/>
                    <a:p>
                      <a:pPr algn="ctr"/>
                      <a:r>
                        <a:rPr lang="en-US" dirty="0"/>
                        <a:t>CF</a:t>
                      </a:r>
                    </a:p>
                  </a:txBody>
                  <a:tcPr/>
                </a:tc>
                <a:tc>
                  <a:txBody>
                    <a:bodyPr/>
                    <a:lstStyle/>
                    <a:p>
                      <a:pPr algn="ctr"/>
                      <a:r>
                        <a:rPr lang="en-US" dirty="0"/>
                        <a:t>ZF</a:t>
                      </a:r>
                    </a:p>
                  </a:txBody>
                  <a:tcPr/>
                </a:tc>
                <a:extLst>
                  <a:ext uri="{0D108BD9-81ED-4DB2-BD59-A6C34878D82A}">
                    <a16:rowId xmlns:a16="http://schemas.microsoft.com/office/drawing/2014/main" val="1383217334"/>
                  </a:ext>
                </a:extLst>
              </a:tr>
              <a:tr h="370840">
                <a:tc>
                  <a:txBody>
                    <a:bodyPr/>
                    <a:lstStyle/>
                    <a:p>
                      <a:pPr algn="ctr"/>
                      <a:r>
                        <a:rPr lang="en-US" dirty="0"/>
                        <a:t>0</a:t>
                      </a:r>
                    </a:p>
                  </a:txBody>
                  <a:tcPr/>
                </a:tc>
                <a:tc>
                  <a:txBody>
                    <a:bodyPr/>
                    <a:lstStyle/>
                    <a:p>
                      <a:pPr algn="ctr"/>
                      <a:r>
                        <a:rPr lang="en-US" dirty="0"/>
                        <a:t>1</a:t>
                      </a:r>
                    </a:p>
                  </a:txBody>
                  <a:tcPr/>
                </a:tc>
                <a:extLst>
                  <a:ext uri="{0D108BD9-81ED-4DB2-BD59-A6C34878D82A}">
                    <a16:rowId xmlns:a16="http://schemas.microsoft.com/office/drawing/2014/main" val="4212303573"/>
                  </a:ext>
                </a:extLst>
              </a:tr>
            </a:tbl>
          </a:graphicData>
        </a:graphic>
      </p:graphicFrame>
      <p:sp>
        <p:nvSpPr>
          <p:cNvPr id="5" name="TextBox 4">
            <a:extLst>
              <a:ext uri="{FF2B5EF4-FFF2-40B4-BE49-F238E27FC236}">
                <a16:creationId xmlns:a16="http://schemas.microsoft.com/office/drawing/2014/main" id="{C4944F73-A62C-20B4-95BF-90691FD29C92}"/>
              </a:ext>
            </a:extLst>
          </p:cNvPr>
          <p:cNvSpPr txBox="1"/>
          <p:nvPr/>
        </p:nvSpPr>
        <p:spPr>
          <a:xfrm>
            <a:off x="2467006" y="5477522"/>
            <a:ext cx="4564110" cy="369332"/>
          </a:xfrm>
          <a:prstGeom prst="rect">
            <a:avLst/>
          </a:prstGeom>
          <a:noFill/>
        </p:spPr>
        <p:txBody>
          <a:bodyPr wrap="square" rtlCol="0">
            <a:spAutoFit/>
          </a:bodyPr>
          <a:lstStyle/>
          <a:p>
            <a:r>
              <a:rPr lang="en-US" dirty="0">
                <a:solidFill>
                  <a:schemeClr val="accent3">
                    <a:lumMod val="60000"/>
                    <a:lumOff val="40000"/>
                  </a:schemeClr>
                </a:solidFill>
              </a:rPr>
              <a:t>The result will be stored in: AX</a:t>
            </a:r>
          </a:p>
        </p:txBody>
      </p:sp>
      <p:sp>
        <p:nvSpPr>
          <p:cNvPr id="8" name="TextBox 7">
            <a:extLst>
              <a:ext uri="{FF2B5EF4-FFF2-40B4-BE49-F238E27FC236}">
                <a16:creationId xmlns:a16="http://schemas.microsoft.com/office/drawing/2014/main" id="{E150C139-3584-010B-BB15-945F77275984}"/>
              </a:ext>
            </a:extLst>
          </p:cNvPr>
          <p:cNvSpPr txBox="1"/>
          <p:nvPr/>
        </p:nvSpPr>
        <p:spPr>
          <a:xfrm>
            <a:off x="8602464" y="3825514"/>
            <a:ext cx="470516" cy="769441"/>
          </a:xfrm>
          <a:prstGeom prst="rect">
            <a:avLst/>
          </a:prstGeom>
          <a:noFill/>
        </p:spPr>
        <p:txBody>
          <a:bodyPr wrap="square" rtlCol="0">
            <a:spAutoFit/>
          </a:bodyPr>
          <a:lstStyle/>
          <a:p>
            <a:r>
              <a:rPr lang="en-US" sz="4400" dirty="0"/>
              <a:t>0</a:t>
            </a:r>
          </a:p>
        </p:txBody>
      </p:sp>
    </p:spTree>
    <p:extLst>
      <p:ext uri="{BB962C8B-B14F-4D97-AF65-F5344CB8AC3E}">
        <p14:creationId xmlns:p14="http://schemas.microsoft.com/office/powerpoint/2010/main" val="3493657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3F513-9F73-F52B-9D3D-7970AF2C4D2D}"/>
              </a:ext>
            </a:extLst>
          </p:cNvPr>
          <p:cNvSpPr>
            <a:spLocks noGrp="1"/>
          </p:cNvSpPr>
          <p:nvPr>
            <p:ph type="title"/>
          </p:nvPr>
        </p:nvSpPr>
        <p:spPr/>
        <p:txBody>
          <a:bodyPr/>
          <a:lstStyle/>
          <a:p>
            <a:r>
              <a:rPr lang="en-US" dirty="0"/>
              <a:t>Problem 6</a:t>
            </a:r>
          </a:p>
        </p:txBody>
      </p:sp>
      <p:sp>
        <p:nvSpPr>
          <p:cNvPr id="4" name="Content Placeholder 2">
            <a:extLst>
              <a:ext uri="{FF2B5EF4-FFF2-40B4-BE49-F238E27FC236}">
                <a16:creationId xmlns:a16="http://schemas.microsoft.com/office/drawing/2014/main" id="{7B218895-A253-CE62-29B8-2E3B2C733301}"/>
              </a:ext>
            </a:extLst>
          </p:cNvPr>
          <p:cNvSpPr txBox="1">
            <a:spLocks/>
          </p:cNvSpPr>
          <p:nvPr/>
        </p:nvSpPr>
        <p:spPr>
          <a:xfrm>
            <a:off x="987902" y="1502503"/>
            <a:ext cx="9629791" cy="1657947"/>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marL="0" indent="0">
              <a:spcBef>
                <a:spcPts val="0"/>
              </a:spcBef>
              <a:buFont typeface="Wingdings 3" charset="2"/>
              <a:buNone/>
            </a:pPr>
            <a:r>
              <a:rPr lang="en-US" sz="2400" dirty="0">
                <a:latin typeface="Times New Roman" panose="02020603050405020304" pitchFamily="18" charset="0"/>
              </a:rPr>
              <a:t>Assume that the following registers contain these HEX contents: </a:t>
            </a:r>
            <a:r>
              <a:rPr lang="en-US" sz="2400" dirty="0">
                <a:solidFill>
                  <a:schemeClr val="accent3">
                    <a:lumMod val="60000"/>
                    <a:lumOff val="40000"/>
                  </a:schemeClr>
                </a:solidFill>
                <a:latin typeface="Times New Roman" panose="02020603050405020304" pitchFamily="18" charset="0"/>
              </a:rPr>
              <a:t>AX = F000, BX = 3456, </a:t>
            </a:r>
            <a:r>
              <a:rPr lang="en-US" sz="2400" dirty="0">
                <a:latin typeface="Times New Roman" panose="02020603050405020304" pitchFamily="18" charset="0"/>
              </a:rPr>
              <a:t>and</a:t>
            </a:r>
            <a:r>
              <a:rPr lang="en-US" sz="2400" dirty="0">
                <a:solidFill>
                  <a:schemeClr val="accent3">
                    <a:lumMod val="60000"/>
                    <a:lumOff val="40000"/>
                  </a:schemeClr>
                </a:solidFill>
                <a:latin typeface="Times New Roman" panose="02020603050405020304" pitchFamily="18" charset="0"/>
              </a:rPr>
              <a:t> DX = E390.</a:t>
            </a:r>
            <a:r>
              <a:rPr lang="en-US" sz="2400" dirty="0">
                <a:latin typeface="Times New Roman" panose="02020603050405020304" pitchFamily="18" charset="0"/>
              </a:rPr>
              <a:t> Perform the following operations. Indicate the result and the register where it is stored. Give also ZF and CF in each case.</a:t>
            </a:r>
          </a:p>
          <a:p>
            <a:pPr marL="0" indent="0">
              <a:spcBef>
                <a:spcPts val="0"/>
              </a:spcBef>
              <a:buFont typeface="Wingdings 3" charset="2"/>
              <a:buNone/>
            </a:pPr>
            <a:r>
              <a:rPr lang="en-US" sz="2400" dirty="0">
                <a:latin typeface="Times New Roman" panose="02020603050405020304" pitchFamily="18" charset="0"/>
              </a:rPr>
              <a:t>Note: the operations are independent of each other.</a:t>
            </a:r>
          </a:p>
        </p:txBody>
      </p:sp>
      <p:sp>
        <p:nvSpPr>
          <p:cNvPr id="6" name="TextBox 5">
            <a:extLst>
              <a:ext uri="{FF2B5EF4-FFF2-40B4-BE49-F238E27FC236}">
                <a16:creationId xmlns:a16="http://schemas.microsoft.com/office/drawing/2014/main" id="{1C320EC3-5167-1A26-1006-6E42C86BB0F6}"/>
              </a:ext>
            </a:extLst>
          </p:cNvPr>
          <p:cNvSpPr txBox="1"/>
          <p:nvPr/>
        </p:nvSpPr>
        <p:spPr>
          <a:xfrm>
            <a:off x="1245354" y="3169333"/>
            <a:ext cx="5377388" cy="1162975"/>
          </a:xfrm>
          <a:prstGeom prst="rect">
            <a:avLst/>
          </a:prstGeom>
        </p:spPr>
        <p:txBody>
          <a:bodyPr vert="horz" lIns="91440" tIns="45720" rIns="91440" bIns="45720" rtlCol="0">
            <a:normAutofit/>
          </a:bodyPr>
          <a:lstStyle>
            <a:lvl1pPr indent="0">
              <a:spcBef>
                <a:spcPts val="0"/>
              </a:spcBef>
              <a:spcAft>
                <a:spcPts val="0"/>
              </a:spcAft>
              <a:buClr>
                <a:schemeClr val="bg2">
                  <a:lumMod val="40000"/>
                  <a:lumOff val="60000"/>
                </a:schemeClr>
              </a:buClr>
              <a:buSzPct val="80000"/>
              <a:buFont typeface="Wingdings 3" charset="2"/>
              <a:buNone/>
              <a:defRPr sz="2400" b="0" i="0">
                <a:latin typeface="Times New Roman" panose="02020603050405020304" pitchFamily="18" charset="0"/>
                <a:ea typeface="+mj-ea"/>
                <a:cs typeface="+mj-cs"/>
              </a:defRPr>
            </a:lvl1pPr>
            <a:lvl2pPr marL="742950" indent="-285750">
              <a:spcBef>
                <a:spcPts val="1000"/>
              </a:spcBef>
              <a:spcAft>
                <a:spcPts val="0"/>
              </a:spcAft>
              <a:buClr>
                <a:schemeClr val="bg2">
                  <a:lumMod val="40000"/>
                  <a:lumOff val="60000"/>
                </a:schemeClr>
              </a:buClr>
              <a:buSzPct val="80000"/>
              <a:buFont typeface="Wingdings 3" charset="2"/>
              <a:buChar char=""/>
              <a:defRPr b="0" i="0">
                <a:latin typeface="+mj-lt"/>
                <a:ea typeface="+mj-ea"/>
                <a:cs typeface="+mj-cs"/>
              </a:defRPr>
            </a:lvl2pPr>
            <a:lvl3pPr marL="1143000" indent="-228600">
              <a:spcBef>
                <a:spcPts val="1000"/>
              </a:spcBef>
              <a:spcAft>
                <a:spcPts val="0"/>
              </a:spcAft>
              <a:buClr>
                <a:schemeClr val="bg2">
                  <a:lumMod val="40000"/>
                  <a:lumOff val="60000"/>
                </a:schemeClr>
              </a:buClr>
              <a:buSzPct val="80000"/>
              <a:buFont typeface="Wingdings 3" charset="2"/>
              <a:buChar char=""/>
              <a:defRPr sz="1600" b="0" i="0">
                <a:latin typeface="+mj-lt"/>
                <a:ea typeface="+mj-ea"/>
                <a:cs typeface="+mj-cs"/>
              </a:defRPr>
            </a:lvl3pPr>
            <a:lvl4pPr marL="16002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4pPr>
            <a:lvl5pPr marL="20574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5pPr>
            <a:lvl6pPr marL="25060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6pPr>
            <a:lvl7pPr marL="29718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7pPr>
            <a:lvl8pPr marL="34290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8pPr>
            <a:lvl9pPr marL="38862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9pPr>
          </a:lstStyle>
          <a:p>
            <a:pPr marL="171450" indent="-457200">
              <a:buFont typeface="+mj-lt"/>
              <a:buAutoNum type="alphaLcParenR" startAt="4"/>
            </a:pPr>
            <a:r>
              <a:rPr lang="en-US" dirty="0"/>
              <a:t>AND AH,0FF</a:t>
            </a:r>
          </a:p>
        </p:txBody>
      </p:sp>
      <p:graphicFrame>
        <p:nvGraphicFramePr>
          <p:cNvPr id="3" name="Table 8">
            <a:extLst>
              <a:ext uri="{FF2B5EF4-FFF2-40B4-BE49-F238E27FC236}">
                <a16:creationId xmlns:a16="http://schemas.microsoft.com/office/drawing/2014/main" id="{B6C946C5-898D-8CD5-0EEA-C21989066E97}"/>
              </a:ext>
            </a:extLst>
          </p:cNvPr>
          <p:cNvGraphicFramePr>
            <a:graphicFrameLocks noGrp="1"/>
          </p:cNvGraphicFramePr>
          <p:nvPr>
            <p:extLst>
              <p:ext uri="{D42A27DB-BD31-4B8C-83A1-F6EECF244321}">
                <p14:modId xmlns:p14="http://schemas.microsoft.com/office/powerpoint/2010/main" val="4218228689"/>
              </p:ext>
            </p:extLst>
          </p:nvPr>
        </p:nvGraphicFramePr>
        <p:xfrm>
          <a:off x="2467006" y="4518734"/>
          <a:ext cx="3042740" cy="736600"/>
        </p:xfrm>
        <a:graphic>
          <a:graphicData uri="http://schemas.openxmlformats.org/drawingml/2006/table">
            <a:tbl>
              <a:tblPr firstRow="1" bandRow="1">
                <a:tableStyleId>{5C22544A-7EE6-4342-B048-85BDC9FD1C3A}</a:tableStyleId>
              </a:tblPr>
              <a:tblGrid>
                <a:gridCol w="1521370">
                  <a:extLst>
                    <a:ext uri="{9D8B030D-6E8A-4147-A177-3AD203B41FA5}">
                      <a16:colId xmlns:a16="http://schemas.microsoft.com/office/drawing/2014/main" val="3613960081"/>
                    </a:ext>
                  </a:extLst>
                </a:gridCol>
                <a:gridCol w="1521370">
                  <a:extLst>
                    <a:ext uri="{9D8B030D-6E8A-4147-A177-3AD203B41FA5}">
                      <a16:colId xmlns:a16="http://schemas.microsoft.com/office/drawing/2014/main" val="4139411549"/>
                    </a:ext>
                  </a:extLst>
                </a:gridCol>
              </a:tblGrid>
              <a:tr h="358565">
                <a:tc>
                  <a:txBody>
                    <a:bodyPr/>
                    <a:lstStyle/>
                    <a:p>
                      <a:pPr algn="ctr"/>
                      <a:r>
                        <a:rPr lang="en-US" dirty="0"/>
                        <a:t>CF</a:t>
                      </a:r>
                    </a:p>
                  </a:txBody>
                  <a:tcPr/>
                </a:tc>
                <a:tc>
                  <a:txBody>
                    <a:bodyPr/>
                    <a:lstStyle/>
                    <a:p>
                      <a:pPr algn="ctr"/>
                      <a:r>
                        <a:rPr lang="en-US" dirty="0"/>
                        <a:t>ZF</a:t>
                      </a:r>
                    </a:p>
                  </a:txBody>
                  <a:tcPr/>
                </a:tc>
                <a:extLst>
                  <a:ext uri="{0D108BD9-81ED-4DB2-BD59-A6C34878D82A}">
                    <a16:rowId xmlns:a16="http://schemas.microsoft.com/office/drawing/2014/main" val="1383217334"/>
                  </a:ext>
                </a:extLst>
              </a:tr>
              <a:tr h="370840">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4212303573"/>
                  </a:ext>
                </a:extLst>
              </a:tr>
            </a:tbl>
          </a:graphicData>
        </a:graphic>
      </p:graphicFrame>
      <p:sp>
        <p:nvSpPr>
          <p:cNvPr id="5" name="TextBox 4">
            <a:extLst>
              <a:ext uri="{FF2B5EF4-FFF2-40B4-BE49-F238E27FC236}">
                <a16:creationId xmlns:a16="http://schemas.microsoft.com/office/drawing/2014/main" id="{DE0F0270-32F0-FF5D-0E28-AD7325F2CF13}"/>
              </a:ext>
            </a:extLst>
          </p:cNvPr>
          <p:cNvSpPr txBox="1"/>
          <p:nvPr/>
        </p:nvSpPr>
        <p:spPr>
          <a:xfrm>
            <a:off x="2467006" y="5477522"/>
            <a:ext cx="4564110" cy="369332"/>
          </a:xfrm>
          <a:prstGeom prst="rect">
            <a:avLst/>
          </a:prstGeom>
          <a:noFill/>
        </p:spPr>
        <p:txBody>
          <a:bodyPr wrap="square" rtlCol="0">
            <a:spAutoFit/>
          </a:bodyPr>
          <a:lstStyle/>
          <a:p>
            <a:r>
              <a:rPr lang="en-US" dirty="0">
                <a:solidFill>
                  <a:schemeClr val="accent3">
                    <a:lumMod val="60000"/>
                    <a:lumOff val="40000"/>
                  </a:schemeClr>
                </a:solidFill>
              </a:rPr>
              <a:t>The result will be stored in: AH</a:t>
            </a:r>
          </a:p>
        </p:txBody>
      </p:sp>
      <p:sp>
        <p:nvSpPr>
          <p:cNvPr id="7" name="TextBox 6">
            <a:extLst>
              <a:ext uri="{FF2B5EF4-FFF2-40B4-BE49-F238E27FC236}">
                <a16:creationId xmlns:a16="http://schemas.microsoft.com/office/drawing/2014/main" id="{6420811C-80CE-03D5-4DA8-1B407FEC4819}"/>
              </a:ext>
            </a:extLst>
          </p:cNvPr>
          <p:cNvSpPr txBox="1"/>
          <p:nvPr/>
        </p:nvSpPr>
        <p:spPr>
          <a:xfrm>
            <a:off x="8602464" y="3825514"/>
            <a:ext cx="816744" cy="769441"/>
          </a:xfrm>
          <a:prstGeom prst="rect">
            <a:avLst/>
          </a:prstGeom>
          <a:noFill/>
        </p:spPr>
        <p:txBody>
          <a:bodyPr wrap="square" rtlCol="0">
            <a:spAutoFit/>
          </a:bodyPr>
          <a:lstStyle/>
          <a:p>
            <a:r>
              <a:rPr lang="en-US" sz="4400" dirty="0"/>
              <a:t>F0</a:t>
            </a:r>
          </a:p>
        </p:txBody>
      </p:sp>
    </p:spTree>
    <p:extLst>
      <p:ext uri="{BB962C8B-B14F-4D97-AF65-F5344CB8AC3E}">
        <p14:creationId xmlns:p14="http://schemas.microsoft.com/office/powerpoint/2010/main" val="2742211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3F513-9F73-F52B-9D3D-7970AF2C4D2D}"/>
              </a:ext>
            </a:extLst>
          </p:cNvPr>
          <p:cNvSpPr>
            <a:spLocks noGrp="1"/>
          </p:cNvSpPr>
          <p:nvPr>
            <p:ph type="title"/>
          </p:nvPr>
        </p:nvSpPr>
        <p:spPr/>
        <p:txBody>
          <a:bodyPr/>
          <a:lstStyle/>
          <a:p>
            <a:r>
              <a:rPr lang="en-US" dirty="0"/>
              <a:t>Problem 6</a:t>
            </a:r>
          </a:p>
        </p:txBody>
      </p:sp>
      <p:sp>
        <p:nvSpPr>
          <p:cNvPr id="4" name="Content Placeholder 2">
            <a:extLst>
              <a:ext uri="{FF2B5EF4-FFF2-40B4-BE49-F238E27FC236}">
                <a16:creationId xmlns:a16="http://schemas.microsoft.com/office/drawing/2014/main" id="{7B218895-A253-CE62-29B8-2E3B2C733301}"/>
              </a:ext>
            </a:extLst>
          </p:cNvPr>
          <p:cNvSpPr txBox="1">
            <a:spLocks/>
          </p:cNvSpPr>
          <p:nvPr/>
        </p:nvSpPr>
        <p:spPr>
          <a:xfrm>
            <a:off x="987902" y="1502503"/>
            <a:ext cx="9629791" cy="1657947"/>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marL="0" indent="0">
              <a:spcBef>
                <a:spcPts val="0"/>
              </a:spcBef>
              <a:buFont typeface="Wingdings 3" charset="2"/>
              <a:buNone/>
            </a:pPr>
            <a:r>
              <a:rPr lang="en-US" sz="2400" dirty="0">
                <a:latin typeface="Times New Roman" panose="02020603050405020304" pitchFamily="18" charset="0"/>
              </a:rPr>
              <a:t>Assume that the following registers contain these HEX contents: </a:t>
            </a:r>
            <a:r>
              <a:rPr lang="en-US" sz="2400" dirty="0">
                <a:solidFill>
                  <a:schemeClr val="accent3">
                    <a:lumMod val="60000"/>
                    <a:lumOff val="40000"/>
                  </a:schemeClr>
                </a:solidFill>
                <a:latin typeface="Times New Roman" panose="02020603050405020304" pitchFamily="18" charset="0"/>
              </a:rPr>
              <a:t>AX = F000, BX = 3456, </a:t>
            </a:r>
            <a:r>
              <a:rPr lang="en-US" sz="2400" dirty="0">
                <a:latin typeface="Times New Roman" panose="02020603050405020304" pitchFamily="18" charset="0"/>
              </a:rPr>
              <a:t>and</a:t>
            </a:r>
            <a:r>
              <a:rPr lang="en-US" sz="2400" dirty="0">
                <a:solidFill>
                  <a:schemeClr val="accent3">
                    <a:lumMod val="60000"/>
                    <a:lumOff val="40000"/>
                  </a:schemeClr>
                </a:solidFill>
                <a:latin typeface="Times New Roman" panose="02020603050405020304" pitchFamily="18" charset="0"/>
              </a:rPr>
              <a:t> DX = E390.</a:t>
            </a:r>
            <a:r>
              <a:rPr lang="en-US" sz="2400" dirty="0">
                <a:latin typeface="Times New Roman" panose="02020603050405020304" pitchFamily="18" charset="0"/>
              </a:rPr>
              <a:t> Perform the following operations. Indicate the result and the register where it is stored. Give also ZF and CF in each case.</a:t>
            </a:r>
          </a:p>
          <a:p>
            <a:pPr marL="0" indent="0">
              <a:spcBef>
                <a:spcPts val="0"/>
              </a:spcBef>
              <a:buFont typeface="Wingdings 3" charset="2"/>
              <a:buNone/>
            </a:pPr>
            <a:r>
              <a:rPr lang="en-US" sz="2400" dirty="0">
                <a:latin typeface="Times New Roman" panose="02020603050405020304" pitchFamily="18" charset="0"/>
              </a:rPr>
              <a:t>Note: the operations are independent of each other.</a:t>
            </a:r>
          </a:p>
        </p:txBody>
      </p:sp>
      <p:sp>
        <p:nvSpPr>
          <p:cNvPr id="6" name="TextBox 5">
            <a:extLst>
              <a:ext uri="{FF2B5EF4-FFF2-40B4-BE49-F238E27FC236}">
                <a16:creationId xmlns:a16="http://schemas.microsoft.com/office/drawing/2014/main" id="{1C320EC3-5167-1A26-1006-6E42C86BB0F6}"/>
              </a:ext>
            </a:extLst>
          </p:cNvPr>
          <p:cNvSpPr txBox="1"/>
          <p:nvPr/>
        </p:nvSpPr>
        <p:spPr>
          <a:xfrm>
            <a:off x="1245354" y="3169333"/>
            <a:ext cx="5377388" cy="1162975"/>
          </a:xfrm>
          <a:prstGeom prst="rect">
            <a:avLst/>
          </a:prstGeom>
        </p:spPr>
        <p:txBody>
          <a:bodyPr vert="horz" lIns="91440" tIns="45720" rIns="91440" bIns="45720" rtlCol="0">
            <a:normAutofit/>
          </a:bodyPr>
          <a:lstStyle>
            <a:lvl1pPr indent="0">
              <a:spcBef>
                <a:spcPts val="0"/>
              </a:spcBef>
              <a:spcAft>
                <a:spcPts val="0"/>
              </a:spcAft>
              <a:buClr>
                <a:schemeClr val="bg2">
                  <a:lumMod val="40000"/>
                  <a:lumOff val="60000"/>
                </a:schemeClr>
              </a:buClr>
              <a:buSzPct val="80000"/>
              <a:buFont typeface="Wingdings 3" charset="2"/>
              <a:buNone/>
              <a:defRPr sz="2400" b="0" i="0">
                <a:latin typeface="Times New Roman" panose="02020603050405020304" pitchFamily="18" charset="0"/>
                <a:ea typeface="+mj-ea"/>
                <a:cs typeface="+mj-cs"/>
              </a:defRPr>
            </a:lvl1pPr>
            <a:lvl2pPr marL="742950" indent="-285750">
              <a:spcBef>
                <a:spcPts val="1000"/>
              </a:spcBef>
              <a:spcAft>
                <a:spcPts val="0"/>
              </a:spcAft>
              <a:buClr>
                <a:schemeClr val="bg2">
                  <a:lumMod val="40000"/>
                  <a:lumOff val="60000"/>
                </a:schemeClr>
              </a:buClr>
              <a:buSzPct val="80000"/>
              <a:buFont typeface="Wingdings 3" charset="2"/>
              <a:buChar char=""/>
              <a:defRPr b="0" i="0">
                <a:latin typeface="+mj-lt"/>
                <a:ea typeface="+mj-ea"/>
                <a:cs typeface="+mj-cs"/>
              </a:defRPr>
            </a:lvl2pPr>
            <a:lvl3pPr marL="1143000" indent="-228600">
              <a:spcBef>
                <a:spcPts val="1000"/>
              </a:spcBef>
              <a:spcAft>
                <a:spcPts val="0"/>
              </a:spcAft>
              <a:buClr>
                <a:schemeClr val="bg2">
                  <a:lumMod val="40000"/>
                  <a:lumOff val="60000"/>
                </a:schemeClr>
              </a:buClr>
              <a:buSzPct val="80000"/>
              <a:buFont typeface="Wingdings 3" charset="2"/>
              <a:buChar char=""/>
              <a:defRPr sz="1600" b="0" i="0">
                <a:latin typeface="+mj-lt"/>
                <a:ea typeface="+mj-ea"/>
                <a:cs typeface="+mj-cs"/>
              </a:defRPr>
            </a:lvl3pPr>
            <a:lvl4pPr marL="16002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4pPr>
            <a:lvl5pPr marL="20574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5pPr>
            <a:lvl6pPr marL="25060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6pPr>
            <a:lvl7pPr marL="29718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7pPr>
            <a:lvl8pPr marL="34290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8pPr>
            <a:lvl9pPr marL="38862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9pPr>
          </a:lstStyle>
          <a:p>
            <a:pPr marL="171450" indent="-457200">
              <a:buFont typeface="+mj-lt"/>
              <a:buAutoNum type="alphaLcParenR" startAt="5"/>
            </a:pPr>
            <a:r>
              <a:rPr lang="en-US" dirty="0"/>
              <a:t>XOR DX,0EEEEH</a:t>
            </a:r>
          </a:p>
        </p:txBody>
      </p:sp>
      <p:graphicFrame>
        <p:nvGraphicFramePr>
          <p:cNvPr id="3" name="Table 8">
            <a:extLst>
              <a:ext uri="{FF2B5EF4-FFF2-40B4-BE49-F238E27FC236}">
                <a16:creationId xmlns:a16="http://schemas.microsoft.com/office/drawing/2014/main" id="{AEEFF889-FEBB-2E13-43B4-A4C6AE2286EC}"/>
              </a:ext>
            </a:extLst>
          </p:cNvPr>
          <p:cNvGraphicFramePr>
            <a:graphicFrameLocks noGrp="1"/>
          </p:cNvGraphicFramePr>
          <p:nvPr>
            <p:extLst>
              <p:ext uri="{D42A27DB-BD31-4B8C-83A1-F6EECF244321}">
                <p14:modId xmlns:p14="http://schemas.microsoft.com/office/powerpoint/2010/main" val="1690450174"/>
              </p:ext>
            </p:extLst>
          </p:nvPr>
        </p:nvGraphicFramePr>
        <p:xfrm>
          <a:off x="2467006" y="4518734"/>
          <a:ext cx="3042740" cy="736600"/>
        </p:xfrm>
        <a:graphic>
          <a:graphicData uri="http://schemas.openxmlformats.org/drawingml/2006/table">
            <a:tbl>
              <a:tblPr firstRow="1" bandRow="1">
                <a:tableStyleId>{5C22544A-7EE6-4342-B048-85BDC9FD1C3A}</a:tableStyleId>
              </a:tblPr>
              <a:tblGrid>
                <a:gridCol w="1521370">
                  <a:extLst>
                    <a:ext uri="{9D8B030D-6E8A-4147-A177-3AD203B41FA5}">
                      <a16:colId xmlns:a16="http://schemas.microsoft.com/office/drawing/2014/main" val="3613960081"/>
                    </a:ext>
                  </a:extLst>
                </a:gridCol>
                <a:gridCol w="1521370">
                  <a:extLst>
                    <a:ext uri="{9D8B030D-6E8A-4147-A177-3AD203B41FA5}">
                      <a16:colId xmlns:a16="http://schemas.microsoft.com/office/drawing/2014/main" val="4139411549"/>
                    </a:ext>
                  </a:extLst>
                </a:gridCol>
              </a:tblGrid>
              <a:tr h="358565">
                <a:tc>
                  <a:txBody>
                    <a:bodyPr/>
                    <a:lstStyle/>
                    <a:p>
                      <a:pPr algn="ctr"/>
                      <a:r>
                        <a:rPr lang="en-US" dirty="0"/>
                        <a:t>CF</a:t>
                      </a:r>
                    </a:p>
                  </a:txBody>
                  <a:tcPr/>
                </a:tc>
                <a:tc>
                  <a:txBody>
                    <a:bodyPr/>
                    <a:lstStyle/>
                    <a:p>
                      <a:pPr algn="ctr"/>
                      <a:r>
                        <a:rPr lang="en-US" dirty="0"/>
                        <a:t>ZF</a:t>
                      </a:r>
                    </a:p>
                  </a:txBody>
                  <a:tcPr/>
                </a:tc>
                <a:extLst>
                  <a:ext uri="{0D108BD9-81ED-4DB2-BD59-A6C34878D82A}">
                    <a16:rowId xmlns:a16="http://schemas.microsoft.com/office/drawing/2014/main" val="1383217334"/>
                  </a:ext>
                </a:extLst>
              </a:tr>
              <a:tr h="370840">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4212303573"/>
                  </a:ext>
                </a:extLst>
              </a:tr>
            </a:tbl>
          </a:graphicData>
        </a:graphic>
      </p:graphicFrame>
      <p:sp>
        <p:nvSpPr>
          <p:cNvPr id="5" name="TextBox 4">
            <a:extLst>
              <a:ext uri="{FF2B5EF4-FFF2-40B4-BE49-F238E27FC236}">
                <a16:creationId xmlns:a16="http://schemas.microsoft.com/office/drawing/2014/main" id="{F10815FE-2957-0C92-1E7B-C28AE52A7628}"/>
              </a:ext>
            </a:extLst>
          </p:cNvPr>
          <p:cNvSpPr txBox="1"/>
          <p:nvPr/>
        </p:nvSpPr>
        <p:spPr>
          <a:xfrm>
            <a:off x="2467006" y="5477522"/>
            <a:ext cx="4564110" cy="369332"/>
          </a:xfrm>
          <a:prstGeom prst="rect">
            <a:avLst/>
          </a:prstGeom>
          <a:noFill/>
        </p:spPr>
        <p:txBody>
          <a:bodyPr wrap="square" rtlCol="0">
            <a:spAutoFit/>
          </a:bodyPr>
          <a:lstStyle/>
          <a:p>
            <a:r>
              <a:rPr lang="en-US" dirty="0">
                <a:solidFill>
                  <a:schemeClr val="accent3">
                    <a:lumMod val="60000"/>
                    <a:lumOff val="40000"/>
                  </a:schemeClr>
                </a:solidFill>
              </a:rPr>
              <a:t>The result will be stored in: DX</a:t>
            </a:r>
          </a:p>
        </p:txBody>
      </p:sp>
      <p:pic>
        <p:nvPicPr>
          <p:cNvPr id="8" name="Picture 7">
            <a:extLst>
              <a:ext uri="{FF2B5EF4-FFF2-40B4-BE49-F238E27FC236}">
                <a16:creationId xmlns:a16="http://schemas.microsoft.com/office/drawing/2014/main" id="{D5D95DAD-DAB3-9529-3415-3DE750C55DA9}"/>
              </a:ext>
            </a:extLst>
          </p:cNvPr>
          <p:cNvPicPr>
            <a:picLocks noChangeAspect="1"/>
          </p:cNvPicPr>
          <p:nvPr/>
        </p:nvPicPr>
        <p:blipFill>
          <a:blip r:embed="rId2"/>
          <a:stretch>
            <a:fillRect/>
          </a:stretch>
        </p:blipFill>
        <p:spPr>
          <a:xfrm>
            <a:off x="7532022" y="3429000"/>
            <a:ext cx="3414624" cy="1400530"/>
          </a:xfrm>
          <a:prstGeom prst="rect">
            <a:avLst/>
          </a:prstGeom>
        </p:spPr>
      </p:pic>
    </p:spTree>
    <p:extLst>
      <p:ext uri="{BB962C8B-B14F-4D97-AF65-F5344CB8AC3E}">
        <p14:creationId xmlns:p14="http://schemas.microsoft.com/office/powerpoint/2010/main" val="457884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3F513-9F73-F52B-9D3D-7970AF2C4D2D}"/>
              </a:ext>
            </a:extLst>
          </p:cNvPr>
          <p:cNvSpPr>
            <a:spLocks noGrp="1"/>
          </p:cNvSpPr>
          <p:nvPr>
            <p:ph type="title"/>
          </p:nvPr>
        </p:nvSpPr>
        <p:spPr/>
        <p:txBody>
          <a:bodyPr/>
          <a:lstStyle/>
          <a:p>
            <a:r>
              <a:rPr lang="en-US" dirty="0"/>
              <a:t>Problem 6</a:t>
            </a:r>
          </a:p>
        </p:txBody>
      </p:sp>
      <p:sp>
        <p:nvSpPr>
          <p:cNvPr id="4" name="Content Placeholder 2">
            <a:extLst>
              <a:ext uri="{FF2B5EF4-FFF2-40B4-BE49-F238E27FC236}">
                <a16:creationId xmlns:a16="http://schemas.microsoft.com/office/drawing/2014/main" id="{7B218895-A253-CE62-29B8-2E3B2C733301}"/>
              </a:ext>
            </a:extLst>
          </p:cNvPr>
          <p:cNvSpPr txBox="1">
            <a:spLocks/>
          </p:cNvSpPr>
          <p:nvPr/>
        </p:nvSpPr>
        <p:spPr>
          <a:xfrm>
            <a:off x="987902" y="1502503"/>
            <a:ext cx="9629791" cy="1657947"/>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marL="0" indent="0">
              <a:spcBef>
                <a:spcPts val="0"/>
              </a:spcBef>
              <a:buFont typeface="Wingdings 3" charset="2"/>
              <a:buNone/>
            </a:pPr>
            <a:r>
              <a:rPr lang="en-US" sz="2400" dirty="0">
                <a:latin typeface="Times New Roman" panose="02020603050405020304" pitchFamily="18" charset="0"/>
              </a:rPr>
              <a:t>Assume that the following registers contain these HEX contents: </a:t>
            </a:r>
            <a:r>
              <a:rPr lang="en-US" sz="2400" dirty="0">
                <a:solidFill>
                  <a:schemeClr val="accent3">
                    <a:lumMod val="60000"/>
                    <a:lumOff val="40000"/>
                  </a:schemeClr>
                </a:solidFill>
                <a:latin typeface="Times New Roman" panose="02020603050405020304" pitchFamily="18" charset="0"/>
              </a:rPr>
              <a:t>AX = F000, BX = 3456, </a:t>
            </a:r>
            <a:r>
              <a:rPr lang="en-US" sz="2400" dirty="0">
                <a:latin typeface="Times New Roman" panose="02020603050405020304" pitchFamily="18" charset="0"/>
              </a:rPr>
              <a:t>and</a:t>
            </a:r>
            <a:r>
              <a:rPr lang="en-US" sz="2400" dirty="0">
                <a:solidFill>
                  <a:schemeClr val="accent3">
                    <a:lumMod val="60000"/>
                    <a:lumOff val="40000"/>
                  </a:schemeClr>
                </a:solidFill>
                <a:latin typeface="Times New Roman" panose="02020603050405020304" pitchFamily="18" charset="0"/>
              </a:rPr>
              <a:t> DX = E390.</a:t>
            </a:r>
            <a:r>
              <a:rPr lang="en-US" sz="2400" dirty="0">
                <a:latin typeface="Times New Roman" panose="02020603050405020304" pitchFamily="18" charset="0"/>
              </a:rPr>
              <a:t> Perform the following operations. Indicate the result and the register where it is stored. Give also ZF and CF in each case.</a:t>
            </a:r>
          </a:p>
          <a:p>
            <a:pPr marL="0" indent="0">
              <a:spcBef>
                <a:spcPts val="0"/>
              </a:spcBef>
              <a:buFont typeface="Wingdings 3" charset="2"/>
              <a:buNone/>
            </a:pPr>
            <a:r>
              <a:rPr lang="en-US" sz="2400" dirty="0">
                <a:latin typeface="Times New Roman" panose="02020603050405020304" pitchFamily="18" charset="0"/>
              </a:rPr>
              <a:t>Note: the operations are independent of each other.</a:t>
            </a:r>
          </a:p>
        </p:txBody>
      </p:sp>
      <p:sp>
        <p:nvSpPr>
          <p:cNvPr id="6" name="TextBox 5">
            <a:extLst>
              <a:ext uri="{FF2B5EF4-FFF2-40B4-BE49-F238E27FC236}">
                <a16:creationId xmlns:a16="http://schemas.microsoft.com/office/drawing/2014/main" id="{1C320EC3-5167-1A26-1006-6E42C86BB0F6}"/>
              </a:ext>
            </a:extLst>
          </p:cNvPr>
          <p:cNvSpPr txBox="1"/>
          <p:nvPr/>
        </p:nvSpPr>
        <p:spPr>
          <a:xfrm>
            <a:off x="1245354" y="3169333"/>
            <a:ext cx="5377388" cy="1162975"/>
          </a:xfrm>
          <a:prstGeom prst="rect">
            <a:avLst/>
          </a:prstGeom>
        </p:spPr>
        <p:txBody>
          <a:bodyPr vert="horz" lIns="91440" tIns="45720" rIns="91440" bIns="45720" rtlCol="0">
            <a:normAutofit/>
          </a:bodyPr>
          <a:lstStyle>
            <a:lvl1pPr indent="0">
              <a:spcBef>
                <a:spcPts val="0"/>
              </a:spcBef>
              <a:spcAft>
                <a:spcPts val="0"/>
              </a:spcAft>
              <a:buClr>
                <a:schemeClr val="bg2">
                  <a:lumMod val="40000"/>
                  <a:lumOff val="60000"/>
                </a:schemeClr>
              </a:buClr>
              <a:buSzPct val="80000"/>
              <a:buFont typeface="Wingdings 3" charset="2"/>
              <a:buNone/>
              <a:defRPr sz="2400" b="0" i="0">
                <a:latin typeface="Times New Roman" panose="02020603050405020304" pitchFamily="18" charset="0"/>
                <a:ea typeface="+mj-ea"/>
                <a:cs typeface="+mj-cs"/>
              </a:defRPr>
            </a:lvl1pPr>
            <a:lvl2pPr marL="742950" indent="-285750">
              <a:spcBef>
                <a:spcPts val="1000"/>
              </a:spcBef>
              <a:spcAft>
                <a:spcPts val="0"/>
              </a:spcAft>
              <a:buClr>
                <a:schemeClr val="bg2">
                  <a:lumMod val="40000"/>
                  <a:lumOff val="60000"/>
                </a:schemeClr>
              </a:buClr>
              <a:buSzPct val="80000"/>
              <a:buFont typeface="Wingdings 3" charset="2"/>
              <a:buChar char=""/>
              <a:defRPr b="0" i="0">
                <a:latin typeface="+mj-lt"/>
                <a:ea typeface="+mj-ea"/>
                <a:cs typeface="+mj-cs"/>
              </a:defRPr>
            </a:lvl2pPr>
            <a:lvl3pPr marL="1143000" indent="-228600">
              <a:spcBef>
                <a:spcPts val="1000"/>
              </a:spcBef>
              <a:spcAft>
                <a:spcPts val="0"/>
              </a:spcAft>
              <a:buClr>
                <a:schemeClr val="bg2">
                  <a:lumMod val="40000"/>
                  <a:lumOff val="60000"/>
                </a:schemeClr>
              </a:buClr>
              <a:buSzPct val="80000"/>
              <a:buFont typeface="Wingdings 3" charset="2"/>
              <a:buChar char=""/>
              <a:defRPr sz="1600" b="0" i="0">
                <a:latin typeface="+mj-lt"/>
                <a:ea typeface="+mj-ea"/>
                <a:cs typeface="+mj-cs"/>
              </a:defRPr>
            </a:lvl3pPr>
            <a:lvl4pPr marL="16002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4pPr>
            <a:lvl5pPr marL="20574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5pPr>
            <a:lvl6pPr marL="25060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6pPr>
            <a:lvl7pPr marL="29718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7pPr>
            <a:lvl8pPr marL="34290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8pPr>
            <a:lvl9pPr marL="38862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9pPr>
          </a:lstStyle>
          <a:p>
            <a:pPr marL="171450" indent="-457200">
              <a:buFont typeface="+mj-lt"/>
              <a:buAutoNum type="alphaLcParenR" startAt="6"/>
            </a:pPr>
            <a:r>
              <a:rPr lang="en-US" dirty="0"/>
              <a:t>MOV CL,04</a:t>
            </a:r>
            <a:br>
              <a:rPr lang="en-US" dirty="0"/>
            </a:br>
            <a:r>
              <a:rPr lang="en-US" dirty="0"/>
              <a:t>	SHL AL,CL</a:t>
            </a:r>
          </a:p>
        </p:txBody>
      </p:sp>
      <p:graphicFrame>
        <p:nvGraphicFramePr>
          <p:cNvPr id="3" name="Table 8">
            <a:extLst>
              <a:ext uri="{FF2B5EF4-FFF2-40B4-BE49-F238E27FC236}">
                <a16:creationId xmlns:a16="http://schemas.microsoft.com/office/drawing/2014/main" id="{27572204-AB98-B0B2-C0A0-39002CD6CB35}"/>
              </a:ext>
            </a:extLst>
          </p:cNvPr>
          <p:cNvGraphicFramePr>
            <a:graphicFrameLocks noGrp="1"/>
          </p:cNvGraphicFramePr>
          <p:nvPr>
            <p:extLst>
              <p:ext uri="{D42A27DB-BD31-4B8C-83A1-F6EECF244321}">
                <p14:modId xmlns:p14="http://schemas.microsoft.com/office/powerpoint/2010/main" val="2357593797"/>
              </p:ext>
            </p:extLst>
          </p:nvPr>
        </p:nvGraphicFramePr>
        <p:xfrm>
          <a:off x="2467006" y="4518734"/>
          <a:ext cx="3042740" cy="736600"/>
        </p:xfrm>
        <a:graphic>
          <a:graphicData uri="http://schemas.openxmlformats.org/drawingml/2006/table">
            <a:tbl>
              <a:tblPr firstRow="1" bandRow="1">
                <a:tableStyleId>{5C22544A-7EE6-4342-B048-85BDC9FD1C3A}</a:tableStyleId>
              </a:tblPr>
              <a:tblGrid>
                <a:gridCol w="1521370">
                  <a:extLst>
                    <a:ext uri="{9D8B030D-6E8A-4147-A177-3AD203B41FA5}">
                      <a16:colId xmlns:a16="http://schemas.microsoft.com/office/drawing/2014/main" val="3613960081"/>
                    </a:ext>
                  </a:extLst>
                </a:gridCol>
                <a:gridCol w="1521370">
                  <a:extLst>
                    <a:ext uri="{9D8B030D-6E8A-4147-A177-3AD203B41FA5}">
                      <a16:colId xmlns:a16="http://schemas.microsoft.com/office/drawing/2014/main" val="4139411549"/>
                    </a:ext>
                  </a:extLst>
                </a:gridCol>
              </a:tblGrid>
              <a:tr h="358565">
                <a:tc>
                  <a:txBody>
                    <a:bodyPr/>
                    <a:lstStyle/>
                    <a:p>
                      <a:pPr algn="ctr"/>
                      <a:r>
                        <a:rPr lang="en-US" dirty="0"/>
                        <a:t>CF</a:t>
                      </a:r>
                    </a:p>
                  </a:txBody>
                  <a:tcPr/>
                </a:tc>
                <a:tc>
                  <a:txBody>
                    <a:bodyPr/>
                    <a:lstStyle/>
                    <a:p>
                      <a:pPr algn="ctr"/>
                      <a:r>
                        <a:rPr lang="en-US" dirty="0"/>
                        <a:t>ZF</a:t>
                      </a:r>
                    </a:p>
                  </a:txBody>
                  <a:tcPr/>
                </a:tc>
                <a:extLst>
                  <a:ext uri="{0D108BD9-81ED-4DB2-BD59-A6C34878D82A}">
                    <a16:rowId xmlns:a16="http://schemas.microsoft.com/office/drawing/2014/main" val="1383217334"/>
                  </a:ext>
                </a:extLst>
              </a:tr>
              <a:tr h="370840">
                <a:tc>
                  <a:txBody>
                    <a:bodyPr/>
                    <a:lstStyle/>
                    <a:p>
                      <a:pPr algn="ctr"/>
                      <a:r>
                        <a:rPr lang="en-US" dirty="0"/>
                        <a:t>0</a:t>
                      </a:r>
                    </a:p>
                  </a:txBody>
                  <a:tcPr/>
                </a:tc>
                <a:tc>
                  <a:txBody>
                    <a:bodyPr/>
                    <a:lstStyle/>
                    <a:p>
                      <a:pPr algn="ctr"/>
                      <a:r>
                        <a:rPr lang="en-US" dirty="0"/>
                        <a:t>1</a:t>
                      </a:r>
                    </a:p>
                  </a:txBody>
                  <a:tcPr/>
                </a:tc>
                <a:extLst>
                  <a:ext uri="{0D108BD9-81ED-4DB2-BD59-A6C34878D82A}">
                    <a16:rowId xmlns:a16="http://schemas.microsoft.com/office/drawing/2014/main" val="4212303573"/>
                  </a:ext>
                </a:extLst>
              </a:tr>
            </a:tbl>
          </a:graphicData>
        </a:graphic>
      </p:graphicFrame>
      <p:sp>
        <p:nvSpPr>
          <p:cNvPr id="5" name="TextBox 4">
            <a:extLst>
              <a:ext uri="{FF2B5EF4-FFF2-40B4-BE49-F238E27FC236}">
                <a16:creationId xmlns:a16="http://schemas.microsoft.com/office/drawing/2014/main" id="{C173A521-B079-2826-E99F-88684F527842}"/>
              </a:ext>
            </a:extLst>
          </p:cNvPr>
          <p:cNvSpPr txBox="1"/>
          <p:nvPr/>
        </p:nvSpPr>
        <p:spPr>
          <a:xfrm>
            <a:off x="2467006" y="5477522"/>
            <a:ext cx="4564110" cy="369332"/>
          </a:xfrm>
          <a:prstGeom prst="rect">
            <a:avLst/>
          </a:prstGeom>
          <a:noFill/>
        </p:spPr>
        <p:txBody>
          <a:bodyPr wrap="square" rtlCol="0">
            <a:spAutoFit/>
          </a:bodyPr>
          <a:lstStyle/>
          <a:p>
            <a:r>
              <a:rPr lang="en-US" dirty="0">
                <a:solidFill>
                  <a:schemeClr val="accent3">
                    <a:lumMod val="60000"/>
                    <a:lumOff val="40000"/>
                  </a:schemeClr>
                </a:solidFill>
              </a:rPr>
              <a:t>The result will be stored in: AL</a:t>
            </a:r>
          </a:p>
        </p:txBody>
      </p:sp>
      <p:pic>
        <p:nvPicPr>
          <p:cNvPr id="8" name="Picture 7">
            <a:extLst>
              <a:ext uri="{FF2B5EF4-FFF2-40B4-BE49-F238E27FC236}">
                <a16:creationId xmlns:a16="http://schemas.microsoft.com/office/drawing/2014/main" id="{608E3970-6FA9-0538-9B0F-E95782441188}"/>
              </a:ext>
            </a:extLst>
          </p:cNvPr>
          <p:cNvPicPr>
            <a:picLocks noChangeAspect="1"/>
          </p:cNvPicPr>
          <p:nvPr/>
        </p:nvPicPr>
        <p:blipFill>
          <a:blip r:embed="rId2"/>
          <a:stretch>
            <a:fillRect/>
          </a:stretch>
        </p:blipFill>
        <p:spPr>
          <a:xfrm>
            <a:off x="4460173" y="3346876"/>
            <a:ext cx="5141885" cy="540482"/>
          </a:xfrm>
          <a:prstGeom prst="rect">
            <a:avLst/>
          </a:prstGeom>
        </p:spPr>
      </p:pic>
      <p:sp>
        <p:nvSpPr>
          <p:cNvPr id="9" name="TextBox 8">
            <a:extLst>
              <a:ext uri="{FF2B5EF4-FFF2-40B4-BE49-F238E27FC236}">
                <a16:creationId xmlns:a16="http://schemas.microsoft.com/office/drawing/2014/main" id="{5AA7C3CE-6257-0DCC-06C5-361487FB9E5B}"/>
              </a:ext>
            </a:extLst>
          </p:cNvPr>
          <p:cNvSpPr txBox="1"/>
          <p:nvPr/>
        </p:nvSpPr>
        <p:spPr>
          <a:xfrm>
            <a:off x="8602464" y="4297719"/>
            <a:ext cx="470516" cy="769441"/>
          </a:xfrm>
          <a:prstGeom prst="rect">
            <a:avLst/>
          </a:prstGeom>
          <a:noFill/>
        </p:spPr>
        <p:txBody>
          <a:bodyPr wrap="square" rtlCol="0">
            <a:spAutoFit/>
          </a:bodyPr>
          <a:lstStyle/>
          <a:p>
            <a:r>
              <a:rPr lang="en-US" sz="4400" dirty="0"/>
              <a:t>0</a:t>
            </a:r>
          </a:p>
        </p:txBody>
      </p:sp>
    </p:spTree>
    <p:extLst>
      <p:ext uri="{BB962C8B-B14F-4D97-AF65-F5344CB8AC3E}">
        <p14:creationId xmlns:p14="http://schemas.microsoft.com/office/powerpoint/2010/main" val="1529985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3F513-9F73-F52B-9D3D-7970AF2C4D2D}"/>
              </a:ext>
            </a:extLst>
          </p:cNvPr>
          <p:cNvSpPr>
            <a:spLocks noGrp="1"/>
          </p:cNvSpPr>
          <p:nvPr>
            <p:ph type="title"/>
          </p:nvPr>
        </p:nvSpPr>
        <p:spPr/>
        <p:txBody>
          <a:bodyPr/>
          <a:lstStyle/>
          <a:p>
            <a:r>
              <a:rPr lang="en-US" dirty="0"/>
              <a:t>Problem 6</a:t>
            </a:r>
          </a:p>
        </p:txBody>
      </p:sp>
      <p:sp>
        <p:nvSpPr>
          <p:cNvPr id="4" name="Content Placeholder 2">
            <a:extLst>
              <a:ext uri="{FF2B5EF4-FFF2-40B4-BE49-F238E27FC236}">
                <a16:creationId xmlns:a16="http://schemas.microsoft.com/office/drawing/2014/main" id="{7B218895-A253-CE62-29B8-2E3B2C733301}"/>
              </a:ext>
            </a:extLst>
          </p:cNvPr>
          <p:cNvSpPr txBox="1">
            <a:spLocks/>
          </p:cNvSpPr>
          <p:nvPr/>
        </p:nvSpPr>
        <p:spPr>
          <a:xfrm>
            <a:off x="987902" y="1502503"/>
            <a:ext cx="9629791" cy="1657947"/>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marL="0" indent="0">
              <a:spcBef>
                <a:spcPts val="0"/>
              </a:spcBef>
              <a:buFont typeface="Wingdings 3" charset="2"/>
              <a:buNone/>
            </a:pPr>
            <a:r>
              <a:rPr lang="en-US" sz="2400" dirty="0">
                <a:latin typeface="Times New Roman" panose="02020603050405020304" pitchFamily="18" charset="0"/>
              </a:rPr>
              <a:t>Assume that the following registers contain these HEX contents: </a:t>
            </a:r>
            <a:r>
              <a:rPr lang="en-US" sz="2400" dirty="0">
                <a:solidFill>
                  <a:schemeClr val="accent3">
                    <a:lumMod val="60000"/>
                    <a:lumOff val="40000"/>
                  </a:schemeClr>
                </a:solidFill>
                <a:latin typeface="Times New Roman" panose="02020603050405020304" pitchFamily="18" charset="0"/>
              </a:rPr>
              <a:t>AX = F000, BX = 3456, </a:t>
            </a:r>
            <a:r>
              <a:rPr lang="en-US" sz="2400" dirty="0">
                <a:latin typeface="Times New Roman" panose="02020603050405020304" pitchFamily="18" charset="0"/>
              </a:rPr>
              <a:t>and</a:t>
            </a:r>
            <a:r>
              <a:rPr lang="en-US" sz="2400" dirty="0">
                <a:solidFill>
                  <a:schemeClr val="accent3">
                    <a:lumMod val="60000"/>
                    <a:lumOff val="40000"/>
                  </a:schemeClr>
                </a:solidFill>
                <a:latin typeface="Times New Roman" panose="02020603050405020304" pitchFamily="18" charset="0"/>
              </a:rPr>
              <a:t> DX = E390.</a:t>
            </a:r>
            <a:r>
              <a:rPr lang="en-US" sz="2400" dirty="0">
                <a:latin typeface="Times New Roman" panose="02020603050405020304" pitchFamily="18" charset="0"/>
              </a:rPr>
              <a:t> Perform the following operations. Indicate the result and the register where it is stored. Give also ZF and CF in each case.</a:t>
            </a:r>
          </a:p>
          <a:p>
            <a:pPr marL="0" indent="0">
              <a:spcBef>
                <a:spcPts val="0"/>
              </a:spcBef>
              <a:buFont typeface="Wingdings 3" charset="2"/>
              <a:buNone/>
            </a:pPr>
            <a:r>
              <a:rPr lang="en-US" sz="2400" dirty="0">
                <a:latin typeface="Times New Roman" panose="02020603050405020304" pitchFamily="18" charset="0"/>
              </a:rPr>
              <a:t>Note: the operations are independent of each other.</a:t>
            </a:r>
          </a:p>
        </p:txBody>
      </p:sp>
      <p:sp>
        <p:nvSpPr>
          <p:cNvPr id="6" name="TextBox 5">
            <a:extLst>
              <a:ext uri="{FF2B5EF4-FFF2-40B4-BE49-F238E27FC236}">
                <a16:creationId xmlns:a16="http://schemas.microsoft.com/office/drawing/2014/main" id="{1C320EC3-5167-1A26-1006-6E42C86BB0F6}"/>
              </a:ext>
            </a:extLst>
          </p:cNvPr>
          <p:cNvSpPr txBox="1"/>
          <p:nvPr/>
        </p:nvSpPr>
        <p:spPr>
          <a:xfrm>
            <a:off x="1245354" y="3169333"/>
            <a:ext cx="5377388" cy="1162975"/>
          </a:xfrm>
          <a:prstGeom prst="rect">
            <a:avLst/>
          </a:prstGeom>
        </p:spPr>
        <p:txBody>
          <a:bodyPr vert="horz" lIns="91440" tIns="45720" rIns="91440" bIns="45720" rtlCol="0">
            <a:normAutofit/>
          </a:bodyPr>
          <a:lstStyle>
            <a:lvl1pPr indent="0">
              <a:spcBef>
                <a:spcPts val="0"/>
              </a:spcBef>
              <a:spcAft>
                <a:spcPts val="0"/>
              </a:spcAft>
              <a:buClr>
                <a:schemeClr val="bg2">
                  <a:lumMod val="40000"/>
                  <a:lumOff val="60000"/>
                </a:schemeClr>
              </a:buClr>
              <a:buSzPct val="80000"/>
              <a:buFont typeface="Wingdings 3" charset="2"/>
              <a:buNone/>
              <a:defRPr sz="2400" b="0" i="0">
                <a:latin typeface="Times New Roman" panose="02020603050405020304" pitchFamily="18" charset="0"/>
                <a:ea typeface="+mj-ea"/>
                <a:cs typeface="+mj-cs"/>
              </a:defRPr>
            </a:lvl1pPr>
            <a:lvl2pPr marL="742950" indent="-285750">
              <a:spcBef>
                <a:spcPts val="1000"/>
              </a:spcBef>
              <a:spcAft>
                <a:spcPts val="0"/>
              </a:spcAft>
              <a:buClr>
                <a:schemeClr val="bg2">
                  <a:lumMod val="40000"/>
                  <a:lumOff val="60000"/>
                </a:schemeClr>
              </a:buClr>
              <a:buSzPct val="80000"/>
              <a:buFont typeface="Wingdings 3" charset="2"/>
              <a:buChar char=""/>
              <a:defRPr b="0" i="0">
                <a:latin typeface="+mj-lt"/>
                <a:ea typeface="+mj-ea"/>
                <a:cs typeface="+mj-cs"/>
              </a:defRPr>
            </a:lvl2pPr>
            <a:lvl3pPr marL="1143000" indent="-228600">
              <a:spcBef>
                <a:spcPts val="1000"/>
              </a:spcBef>
              <a:spcAft>
                <a:spcPts val="0"/>
              </a:spcAft>
              <a:buClr>
                <a:schemeClr val="bg2">
                  <a:lumMod val="40000"/>
                  <a:lumOff val="60000"/>
                </a:schemeClr>
              </a:buClr>
              <a:buSzPct val="80000"/>
              <a:buFont typeface="Wingdings 3" charset="2"/>
              <a:buChar char=""/>
              <a:defRPr sz="1600" b="0" i="0">
                <a:latin typeface="+mj-lt"/>
                <a:ea typeface="+mj-ea"/>
                <a:cs typeface="+mj-cs"/>
              </a:defRPr>
            </a:lvl3pPr>
            <a:lvl4pPr marL="16002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4pPr>
            <a:lvl5pPr marL="20574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5pPr>
            <a:lvl6pPr marL="25060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6pPr>
            <a:lvl7pPr marL="29718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7pPr>
            <a:lvl8pPr marL="34290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8pPr>
            <a:lvl9pPr marL="38862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9pPr>
          </a:lstStyle>
          <a:p>
            <a:pPr marL="171450" indent="-457200">
              <a:buFont typeface="+mj-lt"/>
              <a:buAutoNum type="alphaLcParenR" startAt="7"/>
            </a:pPr>
            <a:r>
              <a:rPr lang="en-US" dirty="0"/>
              <a:t>MOV CL,3</a:t>
            </a:r>
            <a:br>
              <a:rPr lang="en-US" dirty="0"/>
            </a:br>
            <a:r>
              <a:rPr lang="en-US" dirty="0"/>
              <a:t>	SHR DL,CL</a:t>
            </a:r>
          </a:p>
        </p:txBody>
      </p:sp>
      <p:graphicFrame>
        <p:nvGraphicFramePr>
          <p:cNvPr id="3" name="Table 8">
            <a:extLst>
              <a:ext uri="{FF2B5EF4-FFF2-40B4-BE49-F238E27FC236}">
                <a16:creationId xmlns:a16="http://schemas.microsoft.com/office/drawing/2014/main" id="{FFA39B5E-92B2-7D42-6809-F770B094E33C}"/>
              </a:ext>
            </a:extLst>
          </p:cNvPr>
          <p:cNvGraphicFramePr>
            <a:graphicFrameLocks noGrp="1"/>
          </p:cNvGraphicFramePr>
          <p:nvPr>
            <p:extLst>
              <p:ext uri="{D42A27DB-BD31-4B8C-83A1-F6EECF244321}">
                <p14:modId xmlns:p14="http://schemas.microsoft.com/office/powerpoint/2010/main" val="71888389"/>
              </p:ext>
            </p:extLst>
          </p:nvPr>
        </p:nvGraphicFramePr>
        <p:xfrm>
          <a:off x="2467006" y="4518734"/>
          <a:ext cx="3042740" cy="736600"/>
        </p:xfrm>
        <a:graphic>
          <a:graphicData uri="http://schemas.openxmlformats.org/drawingml/2006/table">
            <a:tbl>
              <a:tblPr firstRow="1" bandRow="1">
                <a:tableStyleId>{5C22544A-7EE6-4342-B048-85BDC9FD1C3A}</a:tableStyleId>
              </a:tblPr>
              <a:tblGrid>
                <a:gridCol w="1521370">
                  <a:extLst>
                    <a:ext uri="{9D8B030D-6E8A-4147-A177-3AD203B41FA5}">
                      <a16:colId xmlns:a16="http://schemas.microsoft.com/office/drawing/2014/main" val="3613960081"/>
                    </a:ext>
                  </a:extLst>
                </a:gridCol>
                <a:gridCol w="1521370">
                  <a:extLst>
                    <a:ext uri="{9D8B030D-6E8A-4147-A177-3AD203B41FA5}">
                      <a16:colId xmlns:a16="http://schemas.microsoft.com/office/drawing/2014/main" val="4139411549"/>
                    </a:ext>
                  </a:extLst>
                </a:gridCol>
              </a:tblGrid>
              <a:tr h="358565">
                <a:tc>
                  <a:txBody>
                    <a:bodyPr/>
                    <a:lstStyle/>
                    <a:p>
                      <a:pPr algn="ctr"/>
                      <a:r>
                        <a:rPr lang="en-US" dirty="0"/>
                        <a:t>CF</a:t>
                      </a:r>
                    </a:p>
                  </a:txBody>
                  <a:tcPr/>
                </a:tc>
                <a:tc>
                  <a:txBody>
                    <a:bodyPr/>
                    <a:lstStyle/>
                    <a:p>
                      <a:pPr algn="ctr"/>
                      <a:r>
                        <a:rPr lang="en-US" dirty="0"/>
                        <a:t>ZF</a:t>
                      </a:r>
                    </a:p>
                  </a:txBody>
                  <a:tcPr/>
                </a:tc>
                <a:extLst>
                  <a:ext uri="{0D108BD9-81ED-4DB2-BD59-A6C34878D82A}">
                    <a16:rowId xmlns:a16="http://schemas.microsoft.com/office/drawing/2014/main" val="1383217334"/>
                  </a:ext>
                </a:extLst>
              </a:tr>
              <a:tr h="370840">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4212303573"/>
                  </a:ext>
                </a:extLst>
              </a:tr>
            </a:tbl>
          </a:graphicData>
        </a:graphic>
      </p:graphicFrame>
      <p:sp>
        <p:nvSpPr>
          <p:cNvPr id="5" name="TextBox 4">
            <a:extLst>
              <a:ext uri="{FF2B5EF4-FFF2-40B4-BE49-F238E27FC236}">
                <a16:creationId xmlns:a16="http://schemas.microsoft.com/office/drawing/2014/main" id="{71B0B995-F562-E54A-BE46-B2514ACE7246}"/>
              </a:ext>
            </a:extLst>
          </p:cNvPr>
          <p:cNvSpPr txBox="1"/>
          <p:nvPr/>
        </p:nvSpPr>
        <p:spPr>
          <a:xfrm>
            <a:off x="2467006" y="5477522"/>
            <a:ext cx="4564110" cy="369332"/>
          </a:xfrm>
          <a:prstGeom prst="rect">
            <a:avLst/>
          </a:prstGeom>
          <a:noFill/>
        </p:spPr>
        <p:txBody>
          <a:bodyPr wrap="square" rtlCol="0">
            <a:spAutoFit/>
          </a:bodyPr>
          <a:lstStyle/>
          <a:p>
            <a:r>
              <a:rPr lang="en-US" dirty="0">
                <a:solidFill>
                  <a:schemeClr val="accent3">
                    <a:lumMod val="60000"/>
                    <a:lumOff val="40000"/>
                  </a:schemeClr>
                </a:solidFill>
              </a:rPr>
              <a:t>The result will be stored in: DL</a:t>
            </a:r>
          </a:p>
        </p:txBody>
      </p:sp>
      <p:pic>
        <p:nvPicPr>
          <p:cNvPr id="7" name="Picture 6">
            <a:extLst>
              <a:ext uri="{FF2B5EF4-FFF2-40B4-BE49-F238E27FC236}">
                <a16:creationId xmlns:a16="http://schemas.microsoft.com/office/drawing/2014/main" id="{774E8587-E54A-069A-4028-CC4A1D317113}"/>
              </a:ext>
            </a:extLst>
          </p:cNvPr>
          <p:cNvPicPr>
            <a:picLocks noChangeAspect="1"/>
          </p:cNvPicPr>
          <p:nvPr/>
        </p:nvPicPr>
        <p:blipFill>
          <a:blip r:embed="rId2"/>
          <a:stretch>
            <a:fillRect/>
          </a:stretch>
        </p:blipFill>
        <p:spPr>
          <a:xfrm>
            <a:off x="4460173" y="3346876"/>
            <a:ext cx="5141885" cy="540482"/>
          </a:xfrm>
          <a:prstGeom prst="rect">
            <a:avLst/>
          </a:prstGeom>
        </p:spPr>
      </p:pic>
      <p:pic>
        <p:nvPicPr>
          <p:cNvPr id="9" name="Picture 8">
            <a:extLst>
              <a:ext uri="{FF2B5EF4-FFF2-40B4-BE49-F238E27FC236}">
                <a16:creationId xmlns:a16="http://schemas.microsoft.com/office/drawing/2014/main" id="{0076F678-8E0E-068D-276E-8DBBEAEF50CB}"/>
              </a:ext>
            </a:extLst>
          </p:cNvPr>
          <p:cNvPicPr>
            <a:picLocks noChangeAspect="1"/>
          </p:cNvPicPr>
          <p:nvPr/>
        </p:nvPicPr>
        <p:blipFill>
          <a:blip r:embed="rId3"/>
          <a:stretch>
            <a:fillRect/>
          </a:stretch>
        </p:blipFill>
        <p:spPr>
          <a:xfrm>
            <a:off x="8076970" y="4171024"/>
            <a:ext cx="1973864" cy="1432020"/>
          </a:xfrm>
          <a:prstGeom prst="rect">
            <a:avLst/>
          </a:prstGeom>
        </p:spPr>
      </p:pic>
    </p:spTree>
    <p:extLst>
      <p:ext uri="{BB962C8B-B14F-4D97-AF65-F5344CB8AC3E}">
        <p14:creationId xmlns:p14="http://schemas.microsoft.com/office/powerpoint/2010/main" val="2037245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3F513-9F73-F52B-9D3D-7970AF2C4D2D}"/>
              </a:ext>
            </a:extLst>
          </p:cNvPr>
          <p:cNvSpPr>
            <a:spLocks noGrp="1"/>
          </p:cNvSpPr>
          <p:nvPr>
            <p:ph type="title"/>
          </p:nvPr>
        </p:nvSpPr>
        <p:spPr/>
        <p:txBody>
          <a:bodyPr/>
          <a:lstStyle/>
          <a:p>
            <a:r>
              <a:rPr lang="en-US" dirty="0"/>
              <a:t>Problem 6</a:t>
            </a:r>
          </a:p>
        </p:txBody>
      </p:sp>
      <p:sp>
        <p:nvSpPr>
          <p:cNvPr id="4" name="Content Placeholder 2">
            <a:extLst>
              <a:ext uri="{FF2B5EF4-FFF2-40B4-BE49-F238E27FC236}">
                <a16:creationId xmlns:a16="http://schemas.microsoft.com/office/drawing/2014/main" id="{7B218895-A253-CE62-29B8-2E3B2C733301}"/>
              </a:ext>
            </a:extLst>
          </p:cNvPr>
          <p:cNvSpPr txBox="1">
            <a:spLocks/>
          </p:cNvSpPr>
          <p:nvPr/>
        </p:nvSpPr>
        <p:spPr>
          <a:xfrm>
            <a:off x="987902" y="1502503"/>
            <a:ext cx="9629791" cy="1657947"/>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marL="0" indent="0">
              <a:spcBef>
                <a:spcPts val="0"/>
              </a:spcBef>
              <a:buFont typeface="Wingdings 3" charset="2"/>
              <a:buNone/>
            </a:pPr>
            <a:r>
              <a:rPr lang="en-US" sz="2400" dirty="0">
                <a:latin typeface="Times New Roman" panose="02020603050405020304" pitchFamily="18" charset="0"/>
              </a:rPr>
              <a:t>Assume that the following registers contain these HEX contents: </a:t>
            </a:r>
            <a:r>
              <a:rPr lang="en-US" sz="2400" dirty="0">
                <a:solidFill>
                  <a:schemeClr val="accent3">
                    <a:lumMod val="60000"/>
                    <a:lumOff val="40000"/>
                  </a:schemeClr>
                </a:solidFill>
                <a:latin typeface="Times New Roman" panose="02020603050405020304" pitchFamily="18" charset="0"/>
              </a:rPr>
              <a:t>AX = F000, BX = 3456, </a:t>
            </a:r>
            <a:r>
              <a:rPr lang="en-US" sz="2400" dirty="0">
                <a:latin typeface="Times New Roman" panose="02020603050405020304" pitchFamily="18" charset="0"/>
              </a:rPr>
              <a:t>and</a:t>
            </a:r>
            <a:r>
              <a:rPr lang="en-US" sz="2400" dirty="0">
                <a:solidFill>
                  <a:schemeClr val="accent3">
                    <a:lumMod val="60000"/>
                    <a:lumOff val="40000"/>
                  </a:schemeClr>
                </a:solidFill>
                <a:latin typeface="Times New Roman" panose="02020603050405020304" pitchFamily="18" charset="0"/>
              </a:rPr>
              <a:t> DX = E390.</a:t>
            </a:r>
            <a:r>
              <a:rPr lang="en-US" sz="2400" dirty="0">
                <a:latin typeface="Times New Roman" panose="02020603050405020304" pitchFamily="18" charset="0"/>
              </a:rPr>
              <a:t> Perform the following operations. Indicate the result and the register where it is stored. Give also ZF and CF in each case.</a:t>
            </a:r>
          </a:p>
          <a:p>
            <a:pPr marL="0" indent="0">
              <a:spcBef>
                <a:spcPts val="0"/>
              </a:spcBef>
              <a:buFont typeface="Wingdings 3" charset="2"/>
              <a:buNone/>
            </a:pPr>
            <a:r>
              <a:rPr lang="en-US" sz="2400" dirty="0">
                <a:latin typeface="Times New Roman" panose="02020603050405020304" pitchFamily="18" charset="0"/>
              </a:rPr>
              <a:t>Note: the operations are independent of each other.</a:t>
            </a:r>
          </a:p>
        </p:txBody>
      </p:sp>
      <p:sp>
        <p:nvSpPr>
          <p:cNvPr id="6" name="TextBox 5">
            <a:extLst>
              <a:ext uri="{FF2B5EF4-FFF2-40B4-BE49-F238E27FC236}">
                <a16:creationId xmlns:a16="http://schemas.microsoft.com/office/drawing/2014/main" id="{1C320EC3-5167-1A26-1006-6E42C86BB0F6}"/>
              </a:ext>
            </a:extLst>
          </p:cNvPr>
          <p:cNvSpPr txBox="1"/>
          <p:nvPr/>
        </p:nvSpPr>
        <p:spPr>
          <a:xfrm>
            <a:off x="1245354" y="3169333"/>
            <a:ext cx="5377388" cy="1162975"/>
          </a:xfrm>
          <a:prstGeom prst="rect">
            <a:avLst/>
          </a:prstGeom>
        </p:spPr>
        <p:txBody>
          <a:bodyPr vert="horz" lIns="91440" tIns="45720" rIns="91440" bIns="45720" rtlCol="0">
            <a:normAutofit/>
          </a:bodyPr>
          <a:lstStyle>
            <a:lvl1pPr indent="0">
              <a:spcBef>
                <a:spcPts val="0"/>
              </a:spcBef>
              <a:spcAft>
                <a:spcPts val="0"/>
              </a:spcAft>
              <a:buClr>
                <a:schemeClr val="bg2">
                  <a:lumMod val="40000"/>
                  <a:lumOff val="60000"/>
                </a:schemeClr>
              </a:buClr>
              <a:buSzPct val="80000"/>
              <a:buFont typeface="Wingdings 3" charset="2"/>
              <a:buNone/>
              <a:defRPr sz="2400" b="0" i="0">
                <a:latin typeface="Times New Roman" panose="02020603050405020304" pitchFamily="18" charset="0"/>
                <a:ea typeface="+mj-ea"/>
                <a:cs typeface="+mj-cs"/>
              </a:defRPr>
            </a:lvl1pPr>
            <a:lvl2pPr marL="742950" indent="-285750">
              <a:spcBef>
                <a:spcPts val="1000"/>
              </a:spcBef>
              <a:spcAft>
                <a:spcPts val="0"/>
              </a:spcAft>
              <a:buClr>
                <a:schemeClr val="bg2">
                  <a:lumMod val="40000"/>
                  <a:lumOff val="60000"/>
                </a:schemeClr>
              </a:buClr>
              <a:buSzPct val="80000"/>
              <a:buFont typeface="Wingdings 3" charset="2"/>
              <a:buChar char=""/>
              <a:defRPr b="0" i="0">
                <a:latin typeface="+mj-lt"/>
                <a:ea typeface="+mj-ea"/>
                <a:cs typeface="+mj-cs"/>
              </a:defRPr>
            </a:lvl2pPr>
            <a:lvl3pPr marL="1143000" indent="-228600">
              <a:spcBef>
                <a:spcPts val="1000"/>
              </a:spcBef>
              <a:spcAft>
                <a:spcPts val="0"/>
              </a:spcAft>
              <a:buClr>
                <a:schemeClr val="bg2">
                  <a:lumMod val="40000"/>
                  <a:lumOff val="60000"/>
                </a:schemeClr>
              </a:buClr>
              <a:buSzPct val="80000"/>
              <a:buFont typeface="Wingdings 3" charset="2"/>
              <a:buChar char=""/>
              <a:defRPr sz="1600" b="0" i="0">
                <a:latin typeface="+mj-lt"/>
                <a:ea typeface="+mj-ea"/>
                <a:cs typeface="+mj-cs"/>
              </a:defRPr>
            </a:lvl3pPr>
            <a:lvl4pPr marL="16002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4pPr>
            <a:lvl5pPr marL="20574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5pPr>
            <a:lvl6pPr marL="25060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6pPr>
            <a:lvl7pPr marL="29718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7pPr>
            <a:lvl8pPr marL="34290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8pPr>
            <a:lvl9pPr marL="38862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9pPr>
          </a:lstStyle>
          <a:p>
            <a:pPr marL="171450" indent="-457200">
              <a:buFont typeface="+mj-lt"/>
              <a:buAutoNum type="alphaLcParenR" startAt="8"/>
            </a:pPr>
            <a:r>
              <a:rPr lang="en-US" dirty="0"/>
              <a:t>MOV CL,6</a:t>
            </a:r>
            <a:br>
              <a:rPr lang="en-US" dirty="0"/>
            </a:br>
            <a:r>
              <a:rPr lang="en-US" dirty="0"/>
              <a:t>	SHL DX,CL</a:t>
            </a:r>
          </a:p>
        </p:txBody>
      </p:sp>
      <p:graphicFrame>
        <p:nvGraphicFramePr>
          <p:cNvPr id="3" name="Table 8">
            <a:extLst>
              <a:ext uri="{FF2B5EF4-FFF2-40B4-BE49-F238E27FC236}">
                <a16:creationId xmlns:a16="http://schemas.microsoft.com/office/drawing/2014/main" id="{CF538224-B369-041A-B1A4-13ACC56413A5}"/>
              </a:ext>
            </a:extLst>
          </p:cNvPr>
          <p:cNvGraphicFramePr>
            <a:graphicFrameLocks noGrp="1"/>
          </p:cNvGraphicFramePr>
          <p:nvPr>
            <p:extLst>
              <p:ext uri="{D42A27DB-BD31-4B8C-83A1-F6EECF244321}">
                <p14:modId xmlns:p14="http://schemas.microsoft.com/office/powerpoint/2010/main" val="4111601525"/>
              </p:ext>
            </p:extLst>
          </p:nvPr>
        </p:nvGraphicFramePr>
        <p:xfrm>
          <a:off x="2467006" y="4518734"/>
          <a:ext cx="3042740" cy="736600"/>
        </p:xfrm>
        <a:graphic>
          <a:graphicData uri="http://schemas.openxmlformats.org/drawingml/2006/table">
            <a:tbl>
              <a:tblPr firstRow="1" bandRow="1">
                <a:tableStyleId>{5C22544A-7EE6-4342-B048-85BDC9FD1C3A}</a:tableStyleId>
              </a:tblPr>
              <a:tblGrid>
                <a:gridCol w="1521370">
                  <a:extLst>
                    <a:ext uri="{9D8B030D-6E8A-4147-A177-3AD203B41FA5}">
                      <a16:colId xmlns:a16="http://schemas.microsoft.com/office/drawing/2014/main" val="3613960081"/>
                    </a:ext>
                  </a:extLst>
                </a:gridCol>
                <a:gridCol w="1521370">
                  <a:extLst>
                    <a:ext uri="{9D8B030D-6E8A-4147-A177-3AD203B41FA5}">
                      <a16:colId xmlns:a16="http://schemas.microsoft.com/office/drawing/2014/main" val="4139411549"/>
                    </a:ext>
                  </a:extLst>
                </a:gridCol>
              </a:tblGrid>
              <a:tr h="358565">
                <a:tc>
                  <a:txBody>
                    <a:bodyPr/>
                    <a:lstStyle/>
                    <a:p>
                      <a:pPr algn="ctr"/>
                      <a:r>
                        <a:rPr lang="en-US" dirty="0"/>
                        <a:t>CF</a:t>
                      </a:r>
                    </a:p>
                  </a:txBody>
                  <a:tcPr/>
                </a:tc>
                <a:tc>
                  <a:txBody>
                    <a:bodyPr/>
                    <a:lstStyle/>
                    <a:p>
                      <a:pPr algn="ctr"/>
                      <a:r>
                        <a:rPr lang="en-US" dirty="0"/>
                        <a:t>ZF</a:t>
                      </a:r>
                    </a:p>
                  </a:txBody>
                  <a:tcPr/>
                </a:tc>
                <a:extLst>
                  <a:ext uri="{0D108BD9-81ED-4DB2-BD59-A6C34878D82A}">
                    <a16:rowId xmlns:a16="http://schemas.microsoft.com/office/drawing/2014/main" val="1383217334"/>
                  </a:ext>
                </a:extLst>
              </a:tr>
              <a:tr h="370840">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4212303573"/>
                  </a:ext>
                </a:extLst>
              </a:tr>
            </a:tbl>
          </a:graphicData>
        </a:graphic>
      </p:graphicFrame>
      <p:sp>
        <p:nvSpPr>
          <p:cNvPr id="5" name="TextBox 4">
            <a:extLst>
              <a:ext uri="{FF2B5EF4-FFF2-40B4-BE49-F238E27FC236}">
                <a16:creationId xmlns:a16="http://schemas.microsoft.com/office/drawing/2014/main" id="{381FDA7B-BD24-F39A-7369-D844C2FFC173}"/>
              </a:ext>
            </a:extLst>
          </p:cNvPr>
          <p:cNvSpPr txBox="1"/>
          <p:nvPr/>
        </p:nvSpPr>
        <p:spPr>
          <a:xfrm>
            <a:off x="2467006" y="5477522"/>
            <a:ext cx="4564110" cy="369332"/>
          </a:xfrm>
          <a:prstGeom prst="rect">
            <a:avLst/>
          </a:prstGeom>
          <a:noFill/>
        </p:spPr>
        <p:txBody>
          <a:bodyPr wrap="square" rtlCol="0">
            <a:spAutoFit/>
          </a:bodyPr>
          <a:lstStyle/>
          <a:p>
            <a:r>
              <a:rPr lang="en-US" dirty="0">
                <a:solidFill>
                  <a:schemeClr val="accent3">
                    <a:lumMod val="60000"/>
                    <a:lumOff val="40000"/>
                  </a:schemeClr>
                </a:solidFill>
              </a:rPr>
              <a:t>The result will be stored in: DX</a:t>
            </a:r>
          </a:p>
        </p:txBody>
      </p:sp>
      <p:pic>
        <p:nvPicPr>
          <p:cNvPr id="8" name="Picture 7">
            <a:extLst>
              <a:ext uri="{FF2B5EF4-FFF2-40B4-BE49-F238E27FC236}">
                <a16:creationId xmlns:a16="http://schemas.microsoft.com/office/drawing/2014/main" id="{2BED5396-A327-6232-6F82-6DA8B93E388E}"/>
              </a:ext>
            </a:extLst>
          </p:cNvPr>
          <p:cNvPicPr>
            <a:picLocks noChangeAspect="1"/>
          </p:cNvPicPr>
          <p:nvPr/>
        </p:nvPicPr>
        <p:blipFill>
          <a:blip r:embed="rId2"/>
          <a:stretch>
            <a:fillRect/>
          </a:stretch>
        </p:blipFill>
        <p:spPr>
          <a:xfrm>
            <a:off x="7483531" y="3360622"/>
            <a:ext cx="3134162" cy="1158112"/>
          </a:xfrm>
          <a:prstGeom prst="rect">
            <a:avLst/>
          </a:prstGeom>
        </p:spPr>
      </p:pic>
      <p:sp>
        <p:nvSpPr>
          <p:cNvPr id="9" name="Rectangle: Rounded Corners 8">
            <a:extLst>
              <a:ext uri="{FF2B5EF4-FFF2-40B4-BE49-F238E27FC236}">
                <a16:creationId xmlns:a16="http://schemas.microsoft.com/office/drawing/2014/main" id="{C2D700E3-B980-6A6D-53EA-0625D64CB9AF}"/>
              </a:ext>
            </a:extLst>
          </p:cNvPr>
          <p:cNvSpPr/>
          <p:nvPr/>
        </p:nvSpPr>
        <p:spPr>
          <a:xfrm>
            <a:off x="8637973" y="4172505"/>
            <a:ext cx="1882066" cy="230819"/>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64524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4CA9A-99E3-F520-37D7-802DEB61E463}"/>
              </a:ext>
            </a:extLst>
          </p:cNvPr>
          <p:cNvSpPr>
            <a:spLocks noGrp="1"/>
          </p:cNvSpPr>
          <p:nvPr>
            <p:ph type="title"/>
          </p:nvPr>
        </p:nvSpPr>
        <p:spPr/>
        <p:txBody>
          <a:bodyPr/>
          <a:lstStyle/>
          <a:p>
            <a:r>
              <a:rPr lang="en-US" dirty="0"/>
              <a:t>Problem 7</a:t>
            </a:r>
          </a:p>
        </p:txBody>
      </p:sp>
      <p:sp>
        <p:nvSpPr>
          <p:cNvPr id="3" name="Content Placeholder 2">
            <a:extLst>
              <a:ext uri="{FF2B5EF4-FFF2-40B4-BE49-F238E27FC236}">
                <a16:creationId xmlns:a16="http://schemas.microsoft.com/office/drawing/2014/main" id="{58CE03A7-C73E-6A38-F6FF-20C03230CD7A}"/>
              </a:ext>
            </a:extLst>
          </p:cNvPr>
          <p:cNvSpPr>
            <a:spLocks noGrp="1"/>
          </p:cNvSpPr>
          <p:nvPr>
            <p:ph idx="1"/>
          </p:nvPr>
        </p:nvSpPr>
        <p:spPr>
          <a:xfrm>
            <a:off x="987902" y="1502503"/>
            <a:ext cx="8946541" cy="921101"/>
          </a:xfrm>
        </p:spPr>
        <p:txBody>
          <a:bodyPr vert="horz" lIns="91440" tIns="45720" rIns="91440" bIns="45720" rtlCol="0">
            <a:normAutofit/>
          </a:bodyPr>
          <a:lstStyle/>
          <a:p>
            <a:pPr marL="0" indent="0">
              <a:spcBef>
                <a:spcPts val="0"/>
              </a:spcBef>
              <a:buNone/>
            </a:pPr>
            <a:r>
              <a:rPr lang="en-US" sz="2400" dirty="0">
                <a:latin typeface="Times New Roman" panose="02020603050405020304" pitchFamily="18" charset="0"/>
              </a:rPr>
              <a:t>Indicate the status of ZF and CF after CMP is executed in each of the following cases.</a:t>
            </a:r>
          </a:p>
        </p:txBody>
      </p:sp>
      <p:sp>
        <p:nvSpPr>
          <p:cNvPr id="4" name="TextBox 3">
            <a:extLst>
              <a:ext uri="{FF2B5EF4-FFF2-40B4-BE49-F238E27FC236}">
                <a16:creationId xmlns:a16="http://schemas.microsoft.com/office/drawing/2014/main" id="{C0A67A8D-7E35-2117-48C9-732DFB73AE15}"/>
              </a:ext>
            </a:extLst>
          </p:cNvPr>
          <p:cNvSpPr txBox="1"/>
          <p:nvPr/>
        </p:nvSpPr>
        <p:spPr>
          <a:xfrm>
            <a:off x="1245354" y="2610034"/>
            <a:ext cx="5377388" cy="1162975"/>
          </a:xfrm>
          <a:prstGeom prst="rect">
            <a:avLst/>
          </a:prstGeom>
        </p:spPr>
        <p:txBody>
          <a:bodyPr vert="horz" lIns="91440" tIns="45720" rIns="91440" bIns="45720" rtlCol="0">
            <a:normAutofit/>
          </a:bodyPr>
          <a:lstStyle>
            <a:lvl1pPr indent="0">
              <a:spcBef>
                <a:spcPts val="0"/>
              </a:spcBef>
              <a:spcAft>
                <a:spcPts val="0"/>
              </a:spcAft>
              <a:buClr>
                <a:schemeClr val="bg2">
                  <a:lumMod val="40000"/>
                  <a:lumOff val="60000"/>
                </a:schemeClr>
              </a:buClr>
              <a:buSzPct val="80000"/>
              <a:buFont typeface="Wingdings 3" charset="2"/>
              <a:buNone/>
              <a:defRPr sz="2400" b="0" i="0">
                <a:latin typeface="Times New Roman" panose="02020603050405020304" pitchFamily="18" charset="0"/>
                <a:ea typeface="+mj-ea"/>
                <a:cs typeface="+mj-cs"/>
              </a:defRPr>
            </a:lvl1pPr>
            <a:lvl2pPr marL="742950" indent="-285750">
              <a:spcBef>
                <a:spcPts val="1000"/>
              </a:spcBef>
              <a:spcAft>
                <a:spcPts val="0"/>
              </a:spcAft>
              <a:buClr>
                <a:schemeClr val="bg2">
                  <a:lumMod val="40000"/>
                  <a:lumOff val="60000"/>
                </a:schemeClr>
              </a:buClr>
              <a:buSzPct val="80000"/>
              <a:buFont typeface="Wingdings 3" charset="2"/>
              <a:buChar char=""/>
              <a:defRPr b="0" i="0">
                <a:latin typeface="+mj-lt"/>
                <a:ea typeface="+mj-ea"/>
                <a:cs typeface="+mj-cs"/>
              </a:defRPr>
            </a:lvl2pPr>
            <a:lvl3pPr marL="1143000" indent="-228600">
              <a:spcBef>
                <a:spcPts val="1000"/>
              </a:spcBef>
              <a:spcAft>
                <a:spcPts val="0"/>
              </a:spcAft>
              <a:buClr>
                <a:schemeClr val="bg2">
                  <a:lumMod val="40000"/>
                  <a:lumOff val="60000"/>
                </a:schemeClr>
              </a:buClr>
              <a:buSzPct val="80000"/>
              <a:buFont typeface="Wingdings 3" charset="2"/>
              <a:buChar char=""/>
              <a:defRPr sz="1600" b="0" i="0">
                <a:latin typeface="+mj-lt"/>
                <a:ea typeface="+mj-ea"/>
                <a:cs typeface="+mj-cs"/>
              </a:defRPr>
            </a:lvl3pPr>
            <a:lvl4pPr marL="16002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4pPr>
            <a:lvl5pPr marL="20574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5pPr>
            <a:lvl6pPr marL="25060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6pPr>
            <a:lvl7pPr marL="29718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7pPr>
            <a:lvl8pPr marL="34290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8pPr>
            <a:lvl9pPr marL="38862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9pPr>
          </a:lstStyle>
          <a:p>
            <a:pPr marL="171450" indent="-457200">
              <a:buFont typeface="+mj-lt"/>
              <a:buAutoNum type="alphaLcParenR"/>
            </a:pPr>
            <a:r>
              <a:rPr lang="en-US" dirty="0"/>
              <a:t>MOV BX,2500</a:t>
            </a:r>
            <a:br>
              <a:rPr lang="en-US" dirty="0"/>
            </a:br>
            <a:r>
              <a:rPr lang="en-US" dirty="0"/>
              <a:t>	CMP BX,1400 </a:t>
            </a:r>
          </a:p>
        </p:txBody>
      </p:sp>
      <p:graphicFrame>
        <p:nvGraphicFramePr>
          <p:cNvPr id="5" name="Table 8">
            <a:extLst>
              <a:ext uri="{FF2B5EF4-FFF2-40B4-BE49-F238E27FC236}">
                <a16:creationId xmlns:a16="http://schemas.microsoft.com/office/drawing/2014/main" id="{EB75AA13-D862-043C-88B1-B388A1576CAE}"/>
              </a:ext>
            </a:extLst>
          </p:cNvPr>
          <p:cNvGraphicFramePr>
            <a:graphicFrameLocks noGrp="1"/>
          </p:cNvGraphicFramePr>
          <p:nvPr>
            <p:extLst>
              <p:ext uri="{D42A27DB-BD31-4B8C-83A1-F6EECF244321}">
                <p14:modId xmlns:p14="http://schemas.microsoft.com/office/powerpoint/2010/main" val="3156254864"/>
              </p:ext>
            </p:extLst>
          </p:nvPr>
        </p:nvGraphicFramePr>
        <p:xfrm>
          <a:off x="2467006" y="4518734"/>
          <a:ext cx="3042740" cy="736600"/>
        </p:xfrm>
        <a:graphic>
          <a:graphicData uri="http://schemas.openxmlformats.org/drawingml/2006/table">
            <a:tbl>
              <a:tblPr firstRow="1" bandRow="1">
                <a:tableStyleId>{5C22544A-7EE6-4342-B048-85BDC9FD1C3A}</a:tableStyleId>
              </a:tblPr>
              <a:tblGrid>
                <a:gridCol w="1521370">
                  <a:extLst>
                    <a:ext uri="{9D8B030D-6E8A-4147-A177-3AD203B41FA5}">
                      <a16:colId xmlns:a16="http://schemas.microsoft.com/office/drawing/2014/main" val="3613960081"/>
                    </a:ext>
                  </a:extLst>
                </a:gridCol>
                <a:gridCol w="1521370">
                  <a:extLst>
                    <a:ext uri="{9D8B030D-6E8A-4147-A177-3AD203B41FA5}">
                      <a16:colId xmlns:a16="http://schemas.microsoft.com/office/drawing/2014/main" val="4139411549"/>
                    </a:ext>
                  </a:extLst>
                </a:gridCol>
              </a:tblGrid>
              <a:tr h="358565">
                <a:tc>
                  <a:txBody>
                    <a:bodyPr/>
                    <a:lstStyle/>
                    <a:p>
                      <a:pPr algn="ctr"/>
                      <a:r>
                        <a:rPr lang="en-US" dirty="0"/>
                        <a:t>CF</a:t>
                      </a:r>
                    </a:p>
                  </a:txBody>
                  <a:tcPr/>
                </a:tc>
                <a:tc>
                  <a:txBody>
                    <a:bodyPr/>
                    <a:lstStyle/>
                    <a:p>
                      <a:pPr algn="ctr"/>
                      <a:r>
                        <a:rPr lang="en-US" dirty="0"/>
                        <a:t>ZF</a:t>
                      </a:r>
                    </a:p>
                  </a:txBody>
                  <a:tcPr/>
                </a:tc>
                <a:extLst>
                  <a:ext uri="{0D108BD9-81ED-4DB2-BD59-A6C34878D82A}">
                    <a16:rowId xmlns:a16="http://schemas.microsoft.com/office/drawing/2014/main" val="1383217334"/>
                  </a:ext>
                </a:extLst>
              </a:tr>
              <a:tr h="370840">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4212303573"/>
                  </a:ext>
                </a:extLst>
              </a:tr>
            </a:tbl>
          </a:graphicData>
        </a:graphic>
      </p:graphicFrame>
      <p:sp>
        <p:nvSpPr>
          <p:cNvPr id="6" name="TextBox 5">
            <a:extLst>
              <a:ext uri="{FF2B5EF4-FFF2-40B4-BE49-F238E27FC236}">
                <a16:creationId xmlns:a16="http://schemas.microsoft.com/office/drawing/2014/main" id="{675AFC66-0482-3984-6816-1B5FDA4259C9}"/>
              </a:ext>
            </a:extLst>
          </p:cNvPr>
          <p:cNvSpPr txBox="1"/>
          <p:nvPr/>
        </p:nvSpPr>
        <p:spPr>
          <a:xfrm>
            <a:off x="6960093" y="2698812"/>
            <a:ext cx="2778711" cy="923330"/>
          </a:xfrm>
          <a:prstGeom prst="rect">
            <a:avLst/>
          </a:prstGeom>
          <a:noFill/>
        </p:spPr>
        <p:txBody>
          <a:bodyPr wrap="square" rtlCol="0">
            <a:spAutoFit/>
          </a:bodyPr>
          <a:lstStyle/>
          <a:p>
            <a:r>
              <a:rPr lang="en-US" dirty="0">
                <a:solidFill>
                  <a:schemeClr val="accent3">
                    <a:lumMod val="60000"/>
                    <a:lumOff val="40000"/>
                  </a:schemeClr>
                </a:solidFill>
              </a:rPr>
              <a:t>No need to calculate</a:t>
            </a:r>
          </a:p>
          <a:p>
            <a:r>
              <a:rPr lang="en-US" dirty="0">
                <a:solidFill>
                  <a:schemeClr val="accent3">
                    <a:lumMod val="60000"/>
                    <a:lumOff val="40000"/>
                  </a:schemeClr>
                </a:solidFill>
              </a:rPr>
              <a:t>No borrow</a:t>
            </a:r>
          </a:p>
          <a:p>
            <a:r>
              <a:rPr lang="en-US" dirty="0">
                <a:solidFill>
                  <a:schemeClr val="accent3">
                    <a:lumMod val="60000"/>
                    <a:lumOff val="40000"/>
                  </a:schemeClr>
                </a:solidFill>
              </a:rPr>
              <a:t>And not zero</a:t>
            </a:r>
          </a:p>
        </p:txBody>
      </p:sp>
    </p:spTree>
    <p:extLst>
      <p:ext uri="{BB962C8B-B14F-4D97-AF65-F5344CB8AC3E}">
        <p14:creationId xmlns:p14="http://schemas.microsoft.com/office/powerpoint/2010/main" val="2848122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0A67A8D-7E35-2117-48C9-732DFB73AE15}"/>
              </a:ext>
            </a:extLst>
          </p:cNvPr>
          <p:cNvSpPr txBox="1"/>
          <p:nvPr/>
        </p:nvSpPr>
        <p:spPr>
          <a:xfrm>
            <a:off x="1245354" y="2610034"/>
            <a:ext cx="5377388" cy="1162975"/>
          </a:xfrm>
          <a:prstGeom prst="rect">
            <a:avLst/>
          </a:prstGeom>
        </p:spPr>
        <p:txBody>
          <a:bodyPr vert="horz" lIns="91440" tIns="45720" rIns="91440" bIns="45720" rtlCol="0">
            <a:normAutofit/>
          </a:bodyPr>
          <a:lstStyle>
            <a:lvl1pPr indent="0">
              <a:spcBef>
                <a:spcPts val="0"/>
              </a:spcBef>
              <a:spcAft>
                <a:spcPts val="0"/>
              </a:spcAft>
              <a:buClr>
                <a:schemeClr val="bg2">
                  <a:lumMod val="40000"/>
                  <a:lumOff val="60000"/>
                </a:schemeClr>
              </a:buClr>
              <a:buSzPct val="80000"/>
              <a:buFont typeface="Wingdings 3" charset="2"/>
              <a:buNone/>
              <a:defRPr sz="2400" b="0" i="0">
                <a:latin typeface="Times New Roman" panose="02020603050405020304" pitchFamily="18" charset="0"/>
                <a:ea typeface="+mj-ea"/>
                <a:cs typeface="+mj-cs"/>
              </a:defRPr>
            </a:lvl1pPr>
            <a:lvl2pPr marL="742950" indent="-285750">
              <a:spcBef>
                <a:spcPts val="1000"/>
              </a:spcBef>
              <a:spcAft>
                <a:spcPts val="0"/>
              </a:spcAft>
              <a:buClr>
                <a:schemeClr val="bg2">
                  <a:lumMod val="40000"/>
                  <a:lumOff val="60000"/>
                </a:schemeClr>
              </a:buClr>
              <a:buSzPct val="80000"/>
              <a:buFont typeface="Wingdings 3" charset="2"/>
              <a:buChar char=""/>
              <a:defRPr b="0" i="0">
                <a:latin typeface="+mj-lt"/>
                <a:ea typeface="+mj-ea"/>
                <a:cs typeface="+mj-cs"/>
              </a:defRPr>
            </a:lvl2pPr>
            <a:lvl3pPr marL="1143000" indent="-228600">
              <a:spcBef>
                <a:spcPts val="1000"/>
              </a:spcBef>
              <a:spcAft>
                <a:spcPts val="0"/>
              </a:spcAft>
              <a:buClr>
                <a:schemeClr val="bg2">
                  <a:lumMod val="40000"/>
                  <a:lumOff val="60000"/>
                </a:schemeClr>
              </a:buClr>
              <a:buSzPct val="80000"/>
              <a:buFont typeface="Wingdings 3" charset="2"/>
              <a:buChar char=""/>
              <a:defRPr sz="1600" b="0" i="0">
                <a:latin typeface="+mj-lt"/>
                <a:ea typeface="+mj-ea"/>
                <a:cs typeface="+mj-cs"/>
              </a:defRPr>
            </a:lvl3pPr>
            <a:lvl4pPr marL="16002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4pPr>
            <a:lvl5pPr marL="20574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5pPr>
            <a:lvl6pPr marL="25060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6pPr>
            <a:lvl7pPr marL="29718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7pPr>
            <a:lvl8pPr marL="34290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8pPr>
            <a:lvl9pPr marL="38862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9pPr>
          </a:lstStyle>
          <a:p>
            <a:pPr marL="171450" indent="-457200">
              <a:buFont typeface="+mj-lt"/>
              <a:buAutoNum type="alphaLcParenR" startAt="2"/>
            </a:pPr>
            <a:r>
              <a:rPr lang="en-US" dirty="0"/>
              <a:t>SUB AX,AX </a:t>
            </a:r>
            <a:br>
              <a:rPr lang="en-US" dirty="0"/>
            </a:br>
            <a:r>
              <a:rPr lang="en-US" dirty="0"/>
              <a:t>    CMP AX,0000</a:t>
            </a:r>
          </a:p>
        </p:txBody>
      </p:sp>
      <p:sp>
        <p:nvSpPr>
          <p:cNvPr id="9" name="Title 1">
            <a:extLst>
              <a:ext uri="{FF2B5EF4-FFF2-40B4-BE49-F238E27FC236}">
                <a16:creationId xmlns:a16="http://schemas.microsoft.com/office/drawing/2014/main" id="{FB084546-C908-C56E-25E4-649A8CF90239}"/>
              </a:ext>
            </a:extLst>
          </p:cNvPr>
          <p:cNvSpPr>
            <a:spLocks noGrp="1"/>
          </p:cNvSpPr>
          <p:nvPr>
            <p:ph type="title"/>
          </p:nvPr>
        </p:nvSpPr>
        <p:spPr>
          <a:xfrm>
            <a:off x="646111" y="452718"/>
            <a:ext cx="9404723" cy="1400530"/>
          </a:xfrm>
        </p:spPr>
        <p:txBody>
          <a:bodyPr/>
          <a:lstStyle/>
          <a:p>
            <a:r>
              <a:rPr lang="en-US" dirty="0"/>
              <a:t>Problem 7</a:t>
            </a:r>
          </a:p>
        </p:txBody>
      </p:sp>
      <p:sp>
        <p:nvSpPr>
          <p:cNvPr id="10" name="Content Placeholder 2">
            <a:extLst>
              <a:ext uri="{FF2B5EF4-FFF2-40B4-BE49-F238E27FC236}">
                <a16:creationId xmlns:a16="http://schemas.microsoft.com/office/drawing/2014/main" id="{2C98D943-647C-4C24-5031-106F113642B7}"/>
              </a:ext>
            </a:extLst>
          </p:cNvPr>
          <p:cNvSpPr>
            <a:spLocks noGrp="1"/>
          </p:cNvSpPr>
          <p:nvPr>
            <p:ph idx="1"/>
          </p:nvPr>
        </p:nvSpPr>
        <p:spPr>
          <a:xfrm>
            <a:off x="987902" y="1502503"/>
            <a:ext cx="8946541" cy="921101"/>
          </a:xfrm>
        </p:spPr>
        <p:txBody>
          <a:bodyPr vert="horz" lIns="91440" tIns="45720" rIns="91440" bIns="45720" rtlCol="0">
            <a:normAutofit/>
          </a:bodyPr>
          <a:lstStyle/>
          <a:p>
            <a:pPr marL="0" indent="0">
              <a:spcBef>
                <a:spcPts val="0"/>
              </a:spcBef>
              <a:buNone/>
            </a:pPr>
            <a:r>
              <a:rPr lang="en-US" sz="2400" dirty="0">
                <a:latin typeface="Times New Roman" panose="02020603050405020304" pitchFamily="18" charset="0"/>
              </a:rPr>
              <a:t>Indicate the status of ZF and CF after CMP is executed in each of the following cases.</a:t>
            </a:r>
          </a:p>
        </p:txBody>
      </p:sp>
      <p:graphicFrame>
        <p:nvGraphicFramePr>
          <p:cNvPr id="2" name="Table 8">
            <a:extLst>
              <a:ext uri="{FF2B5EF4-FFF2-40B4-BE49-F238E27FC236}">
                <a16:creationId xmlns:a16="http://schemas.microsoft.com/office/drawing/2014/main" id="{560FFFCE-BCC4-0E15-A650-C4B3B4752F12}"/>
              </a:ext>
            </a:extLst>
          </p:cNvPr>
          <p:cNvGraphicFramePr>
            <a:graphicFrameLocks noGrp="1"/>
          </p:cNvGraphicFramePr>
          <p:nvPr>
            <p:extLst>
              <p:ext uri="{D42A27DB-BD31-4B8C-83A1-F6EECF244321}">
                <p14:modId xmlns:p14="http://schemas.microsoft.com/office/powerpoint/2010/main" val="3209159684"/>
              </p:ext>
            </p:extLst>
          </p:nvPr>
        </p:nvGraphicFramePr>
        <p:xfrm>
          <a:off x="2467006" y="4518734"/>
          <a:ext cx="3042740" cy="736600"/>
        </p:xfrm>
        <a:graphic>
          <a:graphicData uri="http://schemas.openxmlformats.org/drawingml/2006/table">
            <a:tbl>
              <a:tblPr firstRow="1" bandRow="1">
                <a:tableStyleId>{5C22544A-7EE6-4342-B048-85BDC9FD1C3A}</a:tableStyleId>
              </a:tblPr>
              <a:tblGrid>
                <a:gridCol w="1521370">
                  <a:extLst>
                    <a:ext uri="{9D8B030D-6E8A-4147-A177-3AD203B41FA5}">
                      <a16:colId xmlns:a16="http://schemas.microsoft.com/office/drawing/2014/main" val="3613960081"/>
                    </a:ext>
                  </a:extLst>
                </a:gridCol>
                <a:gridCol w="1521370">
                  <a:extLst>
                    <a:ext uri="{9D8B030D-6E8A-4147-A177-3AD203B41FA5}">
                      <a16:colId xmlns:a16="http://schemas.microsoft.com/office/drawing/2014/main" val="4139411549"/>
                    </a:ext>
                  </a:extLst>
                </a:gridCol>
              </a:tblGrid>
              <a:tr h="358565">
                <a:tc>
                  <a:txBody>
                    <a:bodyPr/>
                    <a:lstStyle/>
                    <a:p>
                      <a:pPr algn="ctr"/>
                      <a:r>
                        <a:rPr lang="en-US" dirty="0"/>
                        <a:t>CF</a:t>
                      </a:r>
                    </a:p>
                  </a:txBody>
                  <a:tcPr/>
                </a:tc>
                <a:tc>
                  <a:txBody>
                    <a:bodyPr/>
                    <a:lstStyle/>
                    <a:p>
                      <a:pPr algn="ctr"/>
                      <a:r>
                        <a:rPr lang="en-US" dirty="0"/>
                        <a:t>ZF</a:t>
                      </a:r>
                    </a:p>
                  </a:txBody>
                  <a:tcPr/>
                </a:tc>
                <a:extLst>
                  <a:ext uri="{0D108BD9-81ED-4DB2-BD59-A6C34878D82A}">
                    <a16:rowId xmlns:a16="http://schemas.microsoft.com/office/drawing/2014/main" val="1383217334"/>
                  </a:ext>
                </a:extLst>
              </a:tr>
              <a:tr h="370840">
                <a:tc>
                  <a:txBody>
                    <a:bodyPr/>
                    <a:lstStyle/>
                    <a:p>
                      <a:pPr algn="ctr"/>
                      <a:r>
                        <a:rPr lang="en-US" dirty="0"/>
                        <a:t>0</a:t>
                      </a:r>
                    </a:p>
                  </a:txBody>
                  <a:tcPr/>
                </a:tc>
                <a:tc>
                  <a:txBody>
                    <a:bodyPr/>
                    <a:lstStyle/>
                    <a:p>
                      <a:pPr algn="ctr"/>
                      <a:r>
                        <a:rPr lang="en-US" dirty="0"/>
                        <a:t>1</a:t>
                      </a:r>
                    </a:p>
                  </a:txBody>
                  <a:tcPr/>
                </a:tc>
                <a:extLst>
                  <a:ext uri="{0D108BD9-81ED-4DB2-BD59-A6C34878D82A}">
                    <a16:rowId xmlns:a16="http://schemas.microsoft.com/office/drawing/2014/main" val="4212303573"/>
                  </a:ext>
                </a:extLst>
              </a:tr>
            </a:tbl>
          </a:graphicData>
        </a:graphic>
      </p:graphicFrame>
      <p:sp>
        <p:nvSpPr>
          <p:cNvPr id="3" name="TextBox 2">
            <a:extLst>
              <a:ext uri="{FF2B5EF4-FFF2-40B4-BE49-F238E27FC236}">
                <a16:creationId xmlns:a16="http://schemas.microsoft.com/office/drawing/2014/main" id="{D550C292-081F-2852-B3E2-641CE28899D9}"/>
              </a:ext>
            </a:extLst>
          </p:cNvPr>
          <p:cNvSpPr txBox="1"/>
          <p:nvPr/>
        </p:nvSpPr>
        <p:spPr>
          <a:xfrm>
            <a:off x="8602464" y="4297719"/>
            <a:ext cx="470516" cy="769441"/>
          </a:xfrm>
          <a:prstGeom prst="rect">
            <a:avLst/>
          </a:prstGeom>
          <a:noFill/>
        </p:spPr>
        <p:txBody>
          <a:bodyPr wrap="square" rtlCol="0">
            <a:spAutoFit/>
          </a:bodyPr>
          <a:lstStyle/>
          <a:p>
            <a:r>
              <a:rPr lang="en-US" sz="4400" dirty="0"/>
              <a:t>0</a:t>
            </a:r>
          </a:p>
        </p:txBody>
      </p:sp>
    </p:spTree>
    <p:extLst>
      <p:ext uri="{BB962C8B-B14F-4D97-AF65-F5344CB8AC3E}">
        <p14:creationId xmlns:p14="http://schemas.microsoft.com/office/powerpoint/2010/main" val="3434350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0A67A8D-7E35-2117-48C9-732DFB73AE15}"/>
              </a:ext>
            </a:extLst>
          </p:cNvPr>
          <p:cNvSpPr txBox="1"/>
          <p:nvPr/>
        </p:nvSpPr>
        <p:spPr>
          <a:xfrm>
            <a:off x="1245354" y="2610034"/>
            <a:ext cx="5377388" cy="1162975"/>
          </a:xfrm>
          <a:prstGeom prst="rect">
            <a:avLst/>
          </a:prstGeom>
        </p:spPr>
        <p:txBody>
          <a:bodyPr vert="horz" lIns="91440" tIns="45720" rIns="91440" bIns="45720" rtlCol="0">
            <a:normAutofit/>
          </a:bodyPr>
          <a:lstStyle>
            <a:lvl1pPr indent="0">
              <a:spcBef>
                <a:spcPts val="0"/>
              </a:spcBef>
              <a:spcAft>
                <a:spcPts val="0"/>
              </a:spcAft>
              <a:buClr>
                <a:schemeClr val="bg2">
                  <a:lumMod val="40000"/>
                  <a:lumOff val="60000"/>
                </a:schemeClr>
              </a:buClr>
              <a:buSzPct val="80000"/>
              <a:buFont typeface="Wingdings 3" charset="2"/>
              <a:buNone/>
              <a:defRPr sz="2400" b="0" i="0">
                <a:latin typeface="Times New Roman" panose="02020603050405020304" pitchFamily="18" charset="0"/>
                <a:ea typeface="+mj-ea"/>
                <a:cs typeface="+mj-cs"/>
              </a:defRPr>
            </a:lvl1pPr>
            <a:lvl2pPr marL="742950" indent="-285750">
              <a:spcBef>
                <a:spcPts val="1000"/>
              </a:spcBef>
              <a:spcAft>
                <a:spcPts val="0"/>
              </a:spcAft>
              <a:buClr>
                <a:schemeClr val="bg2">
                  <a:lumMod val="40000"/>
                  <a:lumOff val="60000"/>
                </a:schemeClr>
              </a:buClr>
              <a:buSzPct val="80000"/>
              <a:buFont typeface="Wingdings 3" charset="2"/>
              <a:buChar char=""/>
              <a:defRPr b="0" i="0">
                <a:latin typeface="+mj-lt"/>
                <a:ea typeface="+mj-ea"/>
                <a:cs typeface="+mj-cs"/>
              </a:defRPr>
            </a:lvl2pPr>
            <a:lvl3pPr marL="1143000" indent="-228600">
              <a:spcBef>
                <a:spcPts val="1000"/>
              </a:spcBef>
              <a:spcAft>
                <a:spcPts val="0"/>
              </a:spcAft>
              <a:buClr>
                <a:schemeClr val="bg2">
                  <a:lumMod val="40000"/>
                  <a:lumOff val="60000"/>
                </a:schemeClr>
              </a:buClr>
              <a:buSzPct val="80000"/>
              <a:buFont typeface="Wingdings 3" charset="2"/>
              <a:buChar char=""/>
              <a:defRPr sz="1600" b="0" i="0">
                <a:latin typeface="+mj-lt"/>
                <a:ea typeface="+mj-ea"/>
                <a:cs typeface="+mj-cs"/>
              </a:defRPr>
            </a:lvl3pPr>
            <a:lvl4pPr marL="16002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4pPr>
            <a:lvl5pPr marL="20574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5pPr>
            <a:lvl6pPr marL="25060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6pPr>
            <a:lvl7pPr marL="29718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7pPr>
            <a:lvl8pPr marL="34290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8pPr>
            <a:lvl9pPr marL="38862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9pPr>
          </a:lstStyle>
          <a:p>
            <a:pPr marL="171450" indent="-457200">
              <a:buFont typeface="+mj-lt"/>
              <a:buAutoNum type="alphaLcParenR" startAt="3"/>
            </a:pPr>
            <a:r>
              <a:rPr lang="en-US" dirty="0"/>
              <a:t>MOV DL,34</a:t>
            </a:r>
            <a:br>
              <a:rPr lang="en-US" dirty="0"/>
            </a:br>
            <a:r>
              <a:rPr lang="en-US" dirty="0"/>
              <a:t>	CMP DL,88</a:t>
            </a:r>
          </a:p>
        </p:txBody>
      </p:sp>
      <p:sp>
        <p:nvSpPr>
          <p:cNvPr id="9" name="Title 1">
            <a:extLst>
              <a:ext uri="{FF2B5EF4-FFF2-40B4-BE49-F238E27FC236}">
                <a16:creationId xmlns:a16="http://schemas.microsoft.com/office/drawing/2014/main" id="{8436EC18-876C-1183-8CBF-C2D34D7525F5}"/>
              </a:ext>
            </a:extLst>
          </p:cNvPr>
          <p:cNvSpPr>
            <a:spLocks noGrp="1"/>
          </p:cNvSpPr>
          <p:nvPr>
            <p:ph type="title"/>
          </p:nvPr>
        </p:nvSpPr>
        <p:spPr>
          <a:xfrm>
            <a:off x="646111" y="452718"/>
            <a:ext cx="9404723" cy="1400530"/>
          </a:xfrm>
        </p:spPr>
        <p:txBody>
          <a:bodyPr/>
          <a:lstStyle/>
          <a:p>
            <a:r>
              <a:rPr lang="en-US" dirty="0"/>
              <a:t>Problem 7</a:t>
            </a:r>
          </a:p>
        </p:txBody>
      </p:sp>
      <p:sp>
        <p:nvSpPr>
          <p:cNvPr id="10" name="Content Placeholder 2">
            <a:extLst>
              <a:ext uri="{FF2B5EF4-FFF2-40B4-BE49-F238E27FC236}">
                <a16:creationId xmlns:a16="http://schemas.microsoft.com/office/drawing/2014/main" id="{82F74494-7B92-7E47-214B-C7F614427641}"/>
              </a:ext>
            </a:extLst>
          </p:cNvPr>
          <p:cNvSpPr>
            <a:spLocks noGrp="1"/>
          </p:cNvSpPr>
          <p:nvPr>
            <p:ph idx="1"/>
          </p:nvPr>
        </p:nvSpPr>
        <p:spPr>
          <a:xfrm>
            <a:off x="987902" y="1502503"/>
            <a:ext cx="8946541" cy="921101"/>
          </a:xfrm>
        </p:spPr>
        <p:txBody>
          <a:bodyPr vert="horz" lIns="91440" tIns="45720" rIns="91440" bIns="45720" rtlCol="0">
            <a:normAutofit/>
          </a:bodyPr>
          <a:lstStyle/>
          <a:p>
            <a:pPr marL="0" indent="0">
              <a:spcBef>
                <a:spcPts val="0"/>
              </a:spcBef>
              <a:buNone/>
            </a:pPr>
            <a:r>
              <a:rPr lang="en-US" sz="2400" dirty="0">
                <a:latin typeface="Times New Roman" panose="02020603050405020304" pitchFamily="18" charset="0"/>
              </a:rPr>
              <a:t>Indicate the status of ZF and CF after CMP is executed in each of the following cases.</a:t>
            </a:r>
          </a:p>
        </p:txBody>
      </p:sp>
      <p:graphicFrame>
        <p:nvGraphicFramePr>
          <p:cNvPr id="2" name="Table 8">
            <a:extLst>
              <a:ext uri="{FF2B5EF4-FFF2-40B4-BE49-F238E27FC236}">
                <a16:creationId xmlns:a16="http://schemas.microsoft.com/office/drawing/2014/main" id="{9421F532-9090-B00C-9595-0C27E43EB7BC}"/>
              </a:ext>
            </a:extLst>
          </p:cNvPr>
          <p:cNvGraphicFramePr>
            <a:graphicFrameLocks noGrp="1"/>
          </p:cNvGraphicFramePr>
          <p:nvPr>
            <p:extLst>
              <p:ext uri="{D42A27DB-BD31-4B8C-83A1-F6EECF244321}">
                <p14:modId xmlns:p14="http://schemas.microsoft.com/office/powerpoint/2010/main" val="1672694688"/>
              </p:ext>
            </p:extLst>
          </p:nvPr>
        </p:nvGraphicFramePr>
        <p:xfrm>
          <a:off x="2467006" y="4518734"/>
          <a:ext cx="3042740" cy="736600"/>
        </p:xfrm>
        <a:graphic>
          <a:graphicData uri="http://schemas.openxmlformats.org/drawingml/2006/table">
            <a:tbl>
              <a:tblPr firstRow="1" bandRow="1">
                <a:tableStyleId>{5C22544A-7EE6-4342-B048-85BDC9FD1C3A}</a:tableStyleId>
              </a:tblPr>
              <a:tblGrid>
                <a:gridCol w="1521370">
                  <a:extLst>
                    <a:ext uri="{9D8B030D-6E8A-4147-A177-3AD203B41FA5}">
                      <a16:colId xmlns:a16="http://schemas.microsoft.com/office/drawing/2014/main" val="3613960081"/>
                    </a:ext>
                  </a:extLst>
                </a:gridCol>
                <a:gridCol w="1521370">
                  <a:extLst>
                    <a:ext uri="{9D8B030D-6E8A-4147-A177-3AD203B41FA5}">
                      <a16:colId xmlns:a16="http://schemas.microsoft.com/office/drawing/2014/main" val="4139411549"/>
                    </a:ext>
                  </a:extLst>
                </a:gridCol>
              </a:tblGrid>
              <a:tr h="358565">
                <a:tc>
                  <a:txBody>
                    <a:bodyPr/>
                    <a:lstStyle/>
                    <a:p>
                      <a:pPr algn="ctr"/>
                      <a:r>
                        <a:rPr lang="en-US" dirty="0"/>
                        <a:t>CF</a:t>
                      </a:r>
                    </a:p>
                  </a:txBody>
                  <a:tcPr/>
                </a:tc>
                <a:tc>
                  <a:txBody>
                    <a:bodyPr/>
                    <a:lstStyle/>
                    <a:p>
                      <a:pPr algn="ctr"/>
                      <a:r>
                        <a:rPr lang="en-US" dirty="0"/>
                        <a:t>ZF</a:t>
                      </a:r>
                    </a:p>
                  </a:txBody>
                  <a:tcPr/>
                </a:tc>
                <a:extLst>
                  <a:ext uri="{0D108BD9-81ED-4DB2-BD59-A6C34878D82A}">
                    <a16:rowId xmlns:a16="http://schemas.microsoft.com/office/drawing/2014/main" val="1383217334"/>
                  </a:ext>
                </a:extLst>
              </a:tr>
              <a:tr h="370840">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4212303573"/>
                  </a:ext>
                </a:extLst>
              </a:tr>
            </a:tbl>
          </a:graphicData>
        </a:graphic>
      </p:graphicFrame>
      <p:sp>
        <p:nvSpPr>
          <p:cNvPr id="6" name="TextBox 5">
            <a:extLst>
              <a:ext uri="{FF2B5EF4-FFF2-40B4-BE49-F238E27FC236}">
                <a16:creationId xmlns:a16="http://schemas.microsoft.com/office/drawing/2014/main" id="{75BEC5C5-06F8-75C9-D9DF-BDD565238161}"/>
              </a:ext>
            </a:extLst>
          </p:cNvPr>
          <p:cNvSpPr txBox="1"/>
          <p:nvPr/>
        </p:nvSpPr>
        <p:spPr>
          <a:xfrm>
            <a:off x="6960093" y="2698812"/>
            <a:ext cx="2778711" cy="923330"/>
          </a:xfrm>
          <a:prstGeom prst="rect">
            <a:avLst/>
          </a:prstGeom>
          <a:noFill/>
        </p:spPr>
        <p:txBody>
          <a:bodyPr wrap="square" rtlCol="0">
            <a:spAutoFit/>
          </a:bodyPr>
          <a:lstStyle/>
          <a:p>
            <a:r>
              <a:rPr lang="en-US" dirty="0">
                <a:solidFill>
                  <a:schemeClr val="accent3">
                    <a:lumMod val="60000"/>
                    <a:lumOff val="40000"/>
                  </a:schemeClr>
                </a:solidFill>
              </a:rPr>
              <a:t>No need to calculate</a:t>
            </a:r>
          </a:p>
          <a:p>
            <a:r>
              <a:rPr lang="en-US" dirty="0">
                <a:solidFill>
                  <a:schemeClr val="accent3">
                    <a:lumMod val="60000"/>
                    <a:lumOff val="40000"/>
                  </a:schemeClr>
                </a:solidFill>
              </a:rPr>
              <a:t>Result needs borrow</a:t>
            </a:r>
          </a:p>
          <a:p>
            <a:r>
              <a:rPr lang="en-US" dirty="0">
                <a:solidFill>
                  <a:schemeClr val="accent3">
                    <a:lumMod val="60000"/>
                    <a:lumOff val="40000"/>
                  </a:schemeClr>
                </a:solidFill>
              </a:rPr>
              <a:t>And not zero</a:t>
            </a:r>
          </a:p>
        </p:txBody>
      </p:sp>
    </p:spTree>
    <p:extLst>
      <p:ext uri="{BB962C8B-B14F-4D97-AF65-F5344CB8AC3E}">
        <p14:creationId xmlns:p14="http://schemas.microsoft.com/office/powerpoint/2010/main" val="137068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0A67A8D-7E35-2117-48C9-732DFB73AE15}"/>
              </a:ext>
            </a:extLst>
          </p:cNvPr>
          <p:cNvSpPr txBox="1"/>
          <p:nvPr/>
        </p:nvSpPr>
        <p:spPr>
          <a:xfrm>
            <a:off x="1245353" y="2610034"/>
            <a:ext cx="5457288" cy="1660125"/>
          </a:xfrm>
          <a:prstGeom prst="rect">
            <a:avLst/>
          </a:prstGeom>
        </p:spPr>
        <p:txBody>
          <a:bodyPr vert="horz" lIns="91440" tIns="45720" rIns="91440" bIns="45720" rtlCol="0">
            <a:normAutofit/>
          </a:bodyPr>
          <a:lstStyle>
            <a:lvl1pPr indent="0">
              <a:spcBef>
                <a:spcPts val="0"/>
              </a:spcBef>
              <a:spcAft>
                <a:spcPts val="0"/>
              </a:spcAft>
              <a:buClr>
                <a:schemeClr val="bg2">
                  <a:lumMod val="40000"/>
                  <a:lumOff val="60000"/>
                </a:schemeClr>
              </a:buClr>
              <a:buSzPct val="80000"/>
              <a:buFont typeface="Wingdings 3" charset="2"/>
              <a:buNone/>
              <a:defRPr sz="2400" b="0" i="0">
                <a:latin typeface="Times New Roman" panose="02020603050405020304" pitchFamily="18" charset="0"/>
                <a:ea typeface="+mj-ea"/>
                <a:cs typeface="+mj-cs"/>
              </a:defRPr>
            </a:lvl1pPr>
            <a:lvl2pPr marL="742950" indent="-285750">
              <a:spcBef>
                <a:spcPts val="1000"/>
              </a:spcBef>
              <a:spcAft>
                <a:spcPts val="0"/>
              </a:spcAft>
              <a:buClr>
                <a:schemeClr val="bg2">
                  <a:lumMod val="40000"/>
                  <a:lumOff val="60000"/>
                </a:schemeClr>
              </a:buClr>
              <a:buSzPct val="80000"/>
              <a:buFont typeface="Wingdings 3" charset="2"/>
              <a:buChar char=""/>
              <a:defRPr b="0" i="0">
                <a:latin typeface="+mj-lt"/>
                <a:ea typeface="+mj-ea"/>
                <a:cs typeface="+mj-cs"/>
              </a:defRPr>
            </a:lvl2pPr>
            <a:lvl3pPr marL="1143000" indent="-228600">
              <a:spcBef>
                <a:spcPts val="1000"/>
              </a:spcBef>
              <a:spcAft>
                <a:spcPts val="0"/>
              </a:spcAft>
              <a:buClr>
                <a:schemeClr val="bg2">
                  <a:lumMod val="40000"/>
                  <a:lumOff val="60000"/>
                </a:schemeClr>
              </a:buClr>
              <a:buSzPct val="80000"/>
              <a:buFont typeface="Wingdings 3" charset="2"/>
              <a:buChar char=""/>
              <a:defRPr sz="1600" b="0" i="0">
                <a:latin typeface="+mj-lt"/>
                <a:ea typeface="+mj-ea"/>
                <a:cs typeface="+mj-cs"/>
              </a:defRPr>
            </a:lvl3pPr>
            <a:lvl4pPr marL="16002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4pPr>
            <a:lvl5pPr marL="20574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5pPr>
            <a:lvl6pPr marL="25060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6pPr>
            <a:lvl7pPr marL="29718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7pPr>
            <a:lvl8pPr marL="34290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8pPr>
            <a:lvl9pPr marL="38862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9pPr>
          </a:lstStyle>
          <a:p>
            <a:pPr marL="171450" indent="-457200">
              <a:buFont typeface="+mj-lt"/>
              <a:buAutoNum type="alphaLcParenR" startAt="4"/>
            </a:pPr>
            <a:r>
              <a:rPr lang="en-US" dirty="0"/>
              <a:t>MOV AL,0FFH </a:t>
            </a:r>
            <a:br>
              <a:rPr lang="en-US" dirty="0"/>
            </a:br>
            <a:r>
              <a:rPr lang="en-US" dirty="0"/>
              <a:t>	CMP AL,6FH</a:t>
            </a:r>
          </a:p>
        </p:txBody>
      </p:sp>
      <p:sp>
        <p:nvSpPr>
          <p:cNvPr id="9" name="Title 1">
            <a:extLst>
              <a:ext uri="{FF2B5EF4-FFF2-40B4-BE49-F238E27FC236}">
                <a16:creationId xmlns:a16="http://schemas.microsoft.com/office/drawing/2014/main" id="{9D2017C9-72F3-1E41-0909-D378EEAFACCF}"/>
              </a:ext>
            </a:extLst>
          </p:cNvPr>
          <p:cNvSpPr>
            <a:spLocks noGrp="1"/>
          </p:cNvSpPr>
          <p:nvPr>
            <p:ph type="title"/>
          </p:nvPr>
        </p:nvSpPr>
        <p:spPr>
          <a:xfrm>
            <a:off x="646111" y="452718"/>
            <a:ext cx="9404723" cy="1400530"/>
          </a:xfrm>
        </p:spPr>
        <p:txBody>
          <a:bodyPr/>
          <a:lstStyle/>
          <a:p>
            <a:r>
              <a:rPr lang="en-US" dirty="0"/>
              <a:t>Problem 7</a:t>
            </a:r>
          </a:p>
        </p:txBody>
      </p:sp>
      <p:sp>
        <p:nvSpPr>
          <p:cNvPr id="10" name="Content Placeholder 2">
            <a:extLst>
              <a:ext uri="{FF2B5EF4-FFF2-40B4-BE49-F238E27FC236}">
                <a16:creationId xmlns:a16="http://schemas.microsoft.com/office/drawing/2014/main" id="{2044BDCC-B453-2E62-3305-557A89CE24BA}"/>
              </a:ext>
            </a:extLst>
          </p:cNvPr>
          <p:cNvSpPr>
            <a:spLocks noGrp="1"/>
          </p:cNvSpPr>
          <p:nvPr>
            <p:ph idx="1"/>
          </p:nvPr>
        </p:nvSpPr>
        <p:spPr>
          <a:xfrm>
            <a:off x="987902" y="1502503"/>
            <a:ext cx="8946541" cy="921101"/>
          </a:xfrm>
        </p:spPr>
        <p:txBody>
          <a:bodyPr vert="horz" lIns="91440" tIns="45720" rIns="91440" bIns="45720" rtlCol="0">
            <a:normAutofit/>
          </a:bodyPr>
          <a:lstStyle/>
          <a:p>
            <a:pPr marL="0" indent="0">
              <a:spcBef>
                <a:spcPts val="0"/>
              </a:spcBef>
              <a:buNone/>
            </a:pPr>
            <a:r>
              <a:rPr lang="en-US" sz="2400" dirty="0">
                <a:latin typeface="Times New Roman" panose="02020603050405020304" pitchFamily="18" charset="0"/>
              </a:rPr>
              <a:t>Indicate the status of ZF and CF after CMP is executed in each of the following cases.</a:t>
            </a:r>
          </a:p>
        </p:txBody>
      </p:sp>
      <p:graphicFrame>
        <p:nvGraphicFramePr>
          <p:cNvPr id="2" name="Table 8">
            <a:extLst>
              <a:ext uri="{FF2B5EF4-FFF2-40B4-BE49-F238E27FC236}">
                <a16:creationId xmlns:a16="http://schemas.microsoft.com/office/drawing/2014/main" id="{742C0228-C45F-7682-0FB8-ABEC36121A6E}"/>
              </a:ext>
            </a:extLst>
          </p:cNvPr>
          <p:cNvGraphicFramePr>
            <a:graphicFrameLocks noGrp="1"/>
          </p:cNvGraphicFramePr>
          <p:nvPr>
            <p:extLst>
              <p:ext uri="{D42A27DB-BD31-4B8C-83A1-F6EECF244321}">
                <p14:modId xmlns:p14="http://schemas.microsoft.com/office/powerpoint/2010/main" val="1479983395"/>
              </p:ext>
            </p:extLst>
          </p:nvPr>
        </p:nvGraphicFramePr>
        <p:xfrm>
          <a:off x="2467006" y="4518734"/>
          <a:ext cx="3042740" cy="736600"/>
        </p:xfrm>
        <a:graphic>
          <a:graphicData uri="http://schemas.openxmlformats.org/drawingml/2006/table">
            <a:tbl>
              <a:tblPr firstRow="1" bandRow="1">
                <a:tableStyleId>{5C22544A-7EE6-4342-B048-85BDC9FD1C3A}</a:tableStyleId>
              </a:tblPr>
              <a:tblGrid>
                <a:gridCol w="1521370">
                  <a:extLst>
                    <a:ext uri="{9D8B030D-6E8A-4147-A177-3AD203B41FA5}">
                      <a16:colId xmlns:a16="http://schemas.microsoft.com/office/drawing/2014/main" val="3613960081"/>
                    </a:ext>
                  </a:extLst>
                </a:gridCol>
                <a:gridCol w="1521370">
                  <a:extLst>
                    <a:ext uri="{9D8B030D-6E8A-4147-A177-3AD203B41FA5}">
                      <a16:colId xmlns:a16="http://schemas.microsoft.com/office/drawing/2014/main" val="4139411549"/>
                    </a:ext>
                  </a:extLst>
                </a:gridCol>
              </a:tblGrid>
              <a:tr h="358565">
                <a:tc>
                  <a:txBody>
                    <a:bodyPr/>
                    <a:lstStyle/>
                    <a:p>
                      <a:pPr algn="ctr"/>
                      <a:r>
                        <a:rPr lang="en-US" dirty="0"/>
                        <a:t>CF</a:t>
                      </a:r>
                    </a:p>
                  </a:txBody>
                  <a:tcPr/>
                </a:tc>
                <a:tc>
                  <a:txBody>
                    <a:bodyPr/>
                    <a:lstStyle/>
                    <a:p>
                      <a:pPr algn="ctr"/>
                      <a:r>
                        <a:rPr lang="en-US" dirty="0"/>
                        <a:t>ZF</a:t>
                      </a:r>
                    </a:p>
                  </a:txBody>
                  <a:tcPr/>
                </a:tc>
                <a:extLst>
                  <a:ext uri="{0D108BD9-81ED-4DB2-BD59-A6C34878D82A}">
                    <a16:rowId xmlns:a16="http://schemas.microsoft.com/office/drawing/2014/main" val="1383217334"/>
                  </a:ext>
                </a:extLst>
              </a:tr>
              <a:tr h="370840">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4212303573"/>
                  </a:ext>
                </a:extLst>
              </a:tr>
            </a:tbl>
          </a:graphicData>
        </a:graphic>
      </p:graphicFrame>
      <p:sp>
        <p:nvSpPr>
          <p:cNvPr id="3" name="TextBox 2">
            <a:extLst>
              <a:ext uri="{FF2B5EF4-FFF2-40B4-BE49-F238E27FC236}">
                <a16:creationId xmlns:a16="http://schemas.microsoft.com/office/drawing/2014/main" id="{4CBAE1CF-EC58-2969-A266-10FB149AE3C8}"/>
              </a:ext>
            </a:extLst>
          </p:cNvPr>
          <p:cNvSpPr txBox="1"/>
          <p:nvPr/>
        </p:nvSpPr>
        <p:spPr>
          <a:xfrm>
            <a:off x="6960093" y="2698812"/>
            <a:ext cx="2778711" cy="923330"/>
          </a:xfrm>
          <a:prstGeom prst="rect">
            <a:avLst/>
          </a:prstGeom>
          <a:noFill/>
        </p:spPr>
        <p:txBody>
          <a:bodyPr wrap="square" rtlCol="0">
            <a:spAutoFit/>
          </a:bodyPr>
          <a:lstStyle/>
          <a:p>
            <a:r>
              <a:rPr lang="en-US" dirty="0">
                <a:solidFill>
                  <a:schemeClr val="accent3">
                    <a:lumMod val="60000"/>
                    <a:lumOff val="40000"/>
                  </a:schemeClr>
                </a:solidFill>
              </a:rPr>
              <a:t>No need to calculate</a:t>
            </a:r>
          </a:p>
          <a:p>
            <a:r>
              <a:rPr lang="en-US" dirty="0">
                <a:solidFill>
                  <a:schemeClr val="accent3">
                    <a:lumMod val="60000"/>
                    <a:lumOff val="40000"/>
                  </a:schemeClr>
                </a:solidFill>
              </a:rPr>
              <a:t>No borrow</a:t>
            </a:r>
          </a:p>
          <a:p>
            <a:r>
              <a:rPr lang="en-US" dirty="0">
                <a:solidFill>
                  <a:schemeClr val="accent3">
                    <a:lumMod val="60000"/>
                    <a:lumOff val="40000"/>
                  </a:schemeClr>
                </a:solidFill>
              </a:rPr>
              <a:t>And not zero</a:t>
            </a:r>
          </a:p>
        </p:txBody>
      </p:sp>
    </p:spTree>
    <p:extLst>
      <p:ext uri="{BB962C8B-B14F-4D97-AF65-F5344CB8AC3E}">
        <p14:creationId xmlns:p14="http://schemas.microsoft.com/office/powerpoint/2010/main" val="3698451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0A67A8D-7E35-2117-48C9-732DFB73AE15}"/>
              </a:ext>
            </a:extLst>
          </p:cNvPr>
          <p:cNvSpPr txBox="1"/>
          <p:nvPr/>
        </p:nvSpPr>
        <p:spPr>
          <a:xfrm>
            <a:off x="1245354" y="2610034"/>
            <a:ext cx="5483920" cy="1606859"/>
          </a:xfrm>
          <a:prstGeom prst="rect">
            <a:avLst/>
          </a:prstGeom>
        </p:spPr>
        <p:txBody>
          <a:bodyPr vert="horz" lIns="91440" tIns="45720" rIns="91440" bIns="45720" rtlCol="0">
            <a:normAutofit/>
          </a:bodyPr>
          <a:lstStyle>
            <a:lvl1pPr indent="0">
              <a:spcBef>
                <a:spcPts val="0"/>
              </a:spcBef>
              <a:spcAft>
                <a:spcPts val="0"/>
              </a:spcAft>
              <a:buClr>
                <a:schemeClr val="bg2">
                  <a:lumMod val="40000"/>
                  <a:lumOff val="60000"/>
                </a:schemeClr>
              </a:buClr>
              <a:buSzPct val="80000"/>
              <a:buFont typeface="Wingdings 3" charset="2"/>
              <a:buNone/>
              <a:defRPr sz="2400" b="0" i="0">
                <a:latin typeface="Times New Roman" panose="02020603050405020304" pitchFamily="18" charset="0"/>
                <a:ea typeface="+mj-ea"/>
                <a:cs typeface="+mj-cs"/>
              </a:defRPr>
            </a:lvl1pPr>
            <a:lvl2pPr marL="742950" indent="-285750">
              <a:spcBef>
                <a:spcPts val="1000"/>
              </a:spcBef>
              <a:spcAft>
                <a:spcPts val="0"/>
              </a:spcAft>
              <a:buClr>
                <a:schemeClr val="bg2">
                  <a:lumMod val="40000"/>
                  <a:lumOff val="60000"/>
                </a:schemeClr>
              </a:buClr>
              <a:buSzPct val="80000"/>
              <a:buFont typeface="Wingdings 3" charset="2"/>
              <a:buChar char=""/>
              <a:defRPr b="0" i="0">
                <a:latin typeface="+mj-lt"/>
                <a:ea typeface="+mj-ea"/>
                <a:cs typeface="+mj-cs"/>
              </a:defRPr>
            </a:lvl2pPr>
            <a:lvl3pPr marL="1143000" indent="-228600">
              <a:spcBef>
                <a:spcPts val="1000"/>
              </a:spcBef>
              <a:spcAft>
                <a:spcPts val="0"/>
              </a:spcAft>
              <a:buClr>
                <a:schemeClr val="bg2">
                  <a:lumMod val="40000"/>
                  <a:lumOff val="60000"/>
                </a:schemeClr>
              </a:buClr>
              <a:buSzPct val="80000"/>
              <a:buFont typeface="Wingdings 3" charset="2"/>
              <a:buChar char=""/>
              <a:defRPr sz="1600" b="0" i="0">
                <a:latin typeface="+mj-lt"/>
                <a:ea typeface="+mj-ea"/>
                <a:cs typeface="+mj-cs"/>
              </a:defRPr>
            </a:lvl3pPr>
            <a:lvl4pPr marL="16002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4pPr>
            <a:lvl5pPr marL="20574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5pPr>
            <a:lvl6pPr marL="25060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6pPr>
            <a:lvl7pPr marL="29718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7pPr>
            <a:lvl8pPr marL="34290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8pPr>
            <a:lvl9pPr marL="38862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9pPr>
          </a:lstStyle>
          <a:p>
            <a:pPr marL="171450" indent="-457200">
              <a:buFont typeface="+mj-lt"/>
              <a:buAutoNum type="alphaLcParenR" startAt="5"/>
            </a:pPr>
            <a:r>
              <a:rPr lang="en-US" dirty="0"/>
              <a:t>XOR DX,DX</a:t>
            </a:r>
            <a:br>
              <a:rPr lang="en-US" dirty="0"/>
            </a:br>
            <a:r>
              <a:rPr lang="en-US" dirty="0"/>
              <a:t>	CMP DX,0FFFFH</a:t>
            </a:r>
          </a:p>
        </p:txBody>
      </p:sp>
      <p:sp>
        <p:nvSpPr>
          <p:cNvPr id="11" name="Title 1">
            <a:extLst>
              <a:ext uri="{FF2B5EF4-FFF2-40B4-BE49-F238E27FC236}">
                <a16:creationId xmlns:a16="http://schemas.microsoft.com/office/drawing/2014/main" id="{7973B691-CBFF-6465-4FCE-F9C189FA3AC4}"/>
              </a:ext>
            </a:extLst>
          </p:cNvPr>
          <p:cNvSpPr>
            <a:spLocks noGrp="1"/>
          </p:cNvSpPr>
          <p:nvPr>
            <p:ph type="title"/>
          </p:nvPr>
        </p:nvSpPr>
        <p:spPr>
          <a:xfrm>
            <a:off x="646111" y="452718"/>
            <a:ext cx="9404723" cy="1400530"/>
          </a:xfrm>
        </p:spPr>
        <p:txBody>
          <a:bodyPr/>
          <a:lstStyle/>
          <a:p>
            <a:r>
              <a:rPr lang="en-US" dirty="0"/>
              <a:t>Problem 7</a:t>
            </a:r>
          </a:p>
        </p:txBody>
      </p:sp>
      <p:sp>
        <p:nvSpPr>
          <p:cNvPr id="12" name="Content Placeholder 2">
            <a:extLst>
              <a:ext uri="{FF2B5EF4-FFF2-40B4-BE49-F238E27FC236}">
                <a16:creationId xmlns:a16="http://schemas.microsoft.com/office/drawing/2014/main" id="{855F2052-4B25-17D4-8BD9-AB08A033E7BD}"/>
              </a:ext>
            </a:extLst>
          </p:cNvPr>
          <p:cNvSpPr>
            <a:spLocks noGrp="1"/>
          </p:cNvSpPr>
          <p:nvPr>
            <p:ph idx="1"/>
          </p:nvPr>
        </p:nvSpPr>
        <p:spPr>
          <a:xfrm>
            <a:off x="987902" y="1502503"/>
            <a:ext cx="8946541" cy="921101"/>
          </a:xfrm>
        </p:spPr>
        <p:txBody>
          <a:bodyPr vert="horz" lIns="91440" tIns="45720" rIns="91440" bIns="45720" rtlCol="0">
            <a:normAutofit/>
          </a:bodyPr>
          <a:lstStyle/>
          <a:p>
            <a:pPr marL="0" indent="0">
              <a:spcBef>
                <a:spcPts val="0"/>
              </a:spcBef>
              <a:buNone/>
            </a:pPr>
            <a:r>
              <a:rPr lang="en-US" sz="2400" dirty="0">
                <a:latin typeface="Times New Roman" panose="02020603050405020304" pitchFamily="18" charset="0"/>
              </a:rPr>
              <a:t>Indicate the status of ZF and CF after CMP is executed in each of the following cases.</a:t>
            </a:r>
          </a:p>
        </p:txBody>
      </p:sp>
      <p:graphicFrame>
        <p:nvGraphicFramePr>
          <p:cNvPr id="2" name="Table 8">
            <a:extLst>
              <a:ext uri="{FF2B5EF4-FFF2-40B4-BE49-F238E27FC236}">
                <a16:creationId xmlns:a16="http://schemas.microsoft.com/office/drawing/2014/main" id="{74A06375-3CCC-CB31-11AF-AA8B6A29E673}"/>
              </a:ext>
            </a:extLst>
          </p:cNvPr>
          <p:cNvGraphicFramePr>
            <a:graphicFrameLocks noGrp="1"/>
          </p:cNvGraphicFramePr>
          <p:nvPr>
            <p:extLst>
              <p:ext uri="{D42A27DB-BD31-4B8C-83A1-F6EECF244321}">
                <p14:modId xmlns:p14="http://schemas.microsoft.com/office/powerpoint/2010/main" val="735928218"/>
              </p:ext>
            </p:extLst>
          </p:nvPr>
        </p:nvGraphicFramePr>
        <p:xfrm>
          <a:off x="2467006" y="4518734"/>
          <a:ext cx="3042740" cy="736600"/>
        </p:xfrm>
        <a:graphic>
          <a:graphicData uri="http://schemas.openxmlformats.org/drawingml/2006/table">
            <a:tbl>
              <a:tblPr firstRow="1" bandRow="1">
                <a:tableStyleId>{5C22544A-7EE6-4342-B048-85BDC9FD1C3A}</a:tableStyleId>
              </a:tblPr>
              <a:tblGrid>
                <a:gridCol w="1521370">
                  <a:extLst>
                    <a:ext uri="{9D8B030D-6E8A-4147-A177-3AD203B41FA5}">
                      <a16:colId xmlns:a16="http://schemas.microsoft.com/office/drawing/2014/main" val="3613960081"/>
                    </a:ext>
                  </a:extLst>
                </a:gridCol>
                <a:gridCol w="1521370">
                  <a:extLst>
                    <a:ext uri="{9D8B030D-6E8A-4147-A177-3AD203B41FA5}">
                      <a16:colId xmlns:a16="http://schemas.microsoft.com/office/drawing/2014/main" val="4139411549"/>
                    </a:ext>
                  </a:extLst>
                </a:gridCol>
              </a:tblGrid>
              <a:tr h="358565">
                <a:tc>
                  <a:txBody>
                    <a:bodyPr/>
                    <a:lstStyle/>
                    <a:p>
                      <a:pPr algn="ctr"/>
                      <a:r>
                        <a:rPr lang="en-US" dirty="0"/>
                        <a:t>CF</a:t>
                      </a:r>
                    </a:p>
                  </a:txBody>
                  <a:tcPr/>
                </a:tc>
                <a:tc>
                  <a:txBody>
                    <a:bodyPr/>
                    <a:lstStyle/>
                    <a:p>
                      <a:pPr algn="ctr"/>
                      <a:r>
                        <a:rPr lang="en-US" dirty="0"/>
                        <a:t>ZF</a:t>
                      </a:r>
                    </a:p>
                  </a:txBody>
                  <a:tcPr/>
                </a:tc>
                <a:extLst>
                  <a:ext uri="{0D108BD9-81ED-4DB2-BD59-A6C34878D82A}">
                    <a16:rowId xmlns:a16="http://schemas.microsoft.com/office/drawing/2014/main" val="1383217334"/>
                  </a:ext>
                </a:extLst>
              </a:tr>
              <a:tr h="370840">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4212303573"/>
                  </a:ext>
                </a:extLst>
              </a:tr>
            </a:tbl>
          </a:graphicData>
        </a:graphic>
      </p:graphicFrame>
      <p:sp>
        <p:nvSpPr>
          <p:cNvPr id="3" name="TextBox 2">
            <a:extLst>
              <a:ext uri="{FF2B5EF4-FFF2-40B4-BE49-F238E27FC236}">
                <a16:creationId xmlns:a16="http://schemas.microsoft.com/office/drawing/2014/main" id="{E79355B1-D7F6-D106-4805-BBAB89DEFDFD}"/>
              </a:ext>
            </a:extLst>
          </p:cNvPr>
          <p:cNvSpPr txBox="1"/>
          <p:nvPr/>
        </p:nvSpPr>
        <p:spPr>
          <a:xfrm>
            <a:off x="6960093" y="2698812"/>
            <a:ext cx="2778711" cy="923330"/>
          </a:xfrm>
          <a:prstGeom prst="rect">
            <a:avLst/>
          </a:prstGeom>
          <a:noFill/>
        </p:spPr>
        <p:txBody>
          <a:bodyPr wrap="square" rtlCol="0">
            <a:spAutoFit/>
          </a:bodyPr>
          <a:lstStyle/>
          <a:p>
            <a:r>
              <a:rPr lang="en-US" dirty="0">
                <a:solidFill>
                  <a:schemeClr val="accent3">
                    <a:lumMod val="60000"/>
                    <a:lumOff val="40000"/>
                  </a:schemeClr>
                </a:solidFill>
              </a:rPr>
              <a:t>No need to calculate</a:t>
            </a:r>
          </a:p>
          <a:p>
            <a:r>
              <a:rPr lang="en-US" dirty="0">
                <a:solidFill>
                  <a:schemeClr val="accent3">
                    <a:lumMod val="60000"/>
                    <a:lumOff val="40000"/>
                  </a:schemeClr>
                </a:solidFill>
              </a:rPr>
              <a:t>Result needs borrow</a:t>
            </a:r>
          </a:p>
          <a:p>
            <a:r>
              <a:rPr lang="en-US" dirty="0">
                <a:solidFill>
                  <a:schemeClr val="accent3">
                    <a:lumMod val="60000"/>
                    <a:lumOff val="40000"/>
                  </a:schemeClr>
                </a:solidFill>
              </a:rPr>
              <a:t>And not zero</a:t>
            </a:r>
          </a:p>
        </p:txBody>
      </p:sp>
    </p:spTree>
    <p:extLst>
      <p:ext uri="{BB962C8B-B14F-4D97-AF65-F5344CB8AC3E}">
        <p14:creationId xmlns:p14="http://schemas.microsoft.com/office/powerpoint/2010/main" val="889536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0A67A8D-7E35-2117-48C9-732DFB73AE15}"/>
              </a:ext>
            </a:extLst>
          </p:cNvPr>
          <p:cNvSpPr txBox="1"/>
          <p:nvPr/>
        </p:nvSpPr>
        <p:spPr>
          <a:xfrm>
            <a:off x="1245354" y="2610034"/>
            <a:ext cx="5350755" cy="1429306"/>
          </a:xfrm>
          <a:prstGeom prst="rect">
            <a:avLst/>
          </a:prstGeom>
        </p:spPr>
        <p:txBody>
          <a:bodyPr vert="horz" lIns="91440" tIns="45720" rIns="91440" bIns="45720" rtlCol="0">
            <a:normAutofit/>
          </a:bodyPr>
          <a:lstStyle>
            <a:lvl1pPr indent="0">
              <a:spcBef>
                <a:spcPts val="0"/>
              </a:spcBef>
              <a:spcAft>
                <a:spcPts val="0"/>
              </a:spcAft>
              <a:buClr>
                <a:schemeClr val="bg2">
                  <a:lumMod val="40000"/>
                  <a:lumOff val="60000"/>
                </a:schemeClr>
              </a:buClr>
              <a:buSzPct val="80000"/>
              <a:buFont typeface="Wingdings 3" charset="2"/>
              <a:buNone/>
              <a:defRPr sz="2400" b="0" i="0">
                <a:latin typeface="Times New Roman" panose="02020603050405020304" pitchFamily="18" charset="0"/>
                <a:ea typeface="+mj-ea"/>
                <a:cs typeface="+mj-cs"/>
              </a:defRPr>
            </a:lvl1pPr>
            <a:lvl2pPr marL="742950" indent="-285750">
              <a:spcBef>
                <a:spcPts val="1000"/>
              </a:spcBef>
              <a:spcAft>
                <a:spcPts val="0"/>
              </a:spcAft>
              <a:buClr>
                <a:schemeClr val="bg2">
                  <a:lumMod val="40000"/>
                  <a:lumOff val="60000"/>
                </a:schemeClr>
              </a:buClr>
              <a:buSzPct val="80000"/>
              <a:buFont typeface="Wingdings 3" charset="2"/>
              <a:buChar char=""/>
              <a:defRPr b="0" i="0">
                <a:latin typeface="+mj-lt"/>
                <a:ea typeface="+mj-ea"/>
                <a:cs typeface="+mj-cs"/>
              </a:defRPr>
            </a:lvl2pPr>
            <a:lvl3pPr marL="1143000" indent="-228600">
              <a:spcBef>
                <a:spcPts val="1000"/>
              </a:spcBef>
              <a:spcAft>
                <a:spcPts val="0"/>
              </a:spcAft>
              <a:buClr>
                <a:schemeClr val="bg2">
                  <a:lumMod val="40000"/>
                  <a:lumOff val="60000"/>
                </a:schemeClr>
              </a:buClr>
              <a:buSzPct val="80000"/>
              <a:buFont typeface="Wingdings 3" charset="2"/>
              <a:buChar char=""/>
              <a:defRPr sz="1600" b="0" i="0">
                <a:latin typeface="+mj-lt"/>
                <a:ea typeface="+mj-ea"/>
                <a:cs typeface="+mj-cs"/>
              </a:defRPr>
            </a:lvl3pPr>
            <a:lvl4pPr marL="16002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4pPr>
            <a:lvl5pPr marL="20574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5pPr>
            <a:lvl6pPr marL="25060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6pPr>
            <a:lvl7pPr marL="29718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7pPr>
            <a:lvl8pPr marL="34290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8pPr>
            <a:lvl9pPr marL="38862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9pPr>
          </a:lstStyle>
          <a:p>
            <a:pPr marL="171450" indent="-457200">
              <a:buFont typeface="+mj-lt"/>
              <a:buAutoNum type="alphaLcParenR" startAt="6"/>
            </a:pPr>
            <a:r>
              <a:rPr lang="en-US" dirty="0"/>
              <a:t>MOV BX,2378H</a:t>
            </a:r>
            <a:br>
              <a:rPr lang="en-US" dirty="0"/>
            </a:br>
            <a:r>
              <a:rPr lang="en-US" dirty="0"/>
              <a:t>	MOV DX,4000H</a:t>
            </a:r>
            <a:br>
              <a:rPr lang="en-US" dirty="0"/>
            </a:br>
            <a:r>
              <a:rPr lang="en-US" dirty="0"/>
              <a:t>	CMP DX,BX</a:t>
            </a:r>
          </a:p>
        </p:txBody>
      </p:sp>
      <p:sp>
        <p:nvSpPr>
          <p:cNvPr id="9" name="Title 1">
            <a:extLst>
              <a:ext uri="{FF2B5EF4-FFF2-40B4-BE49-F238E27FC236}">
                <a16:creationId xmlns:a16="http://schemas.microsoft.com/office/drawing/2014/main" id="{33AC3D8E-8263-E9A1-6F34-73901AAC1F26}"/>
              </a:ext>
            </a:extLst>
          </p:cNvPr>
          <p:cNvSpPr>
            <a:spLocks noGrp="1"/>
          </p:cNvSpPr>
          <p:nvPr>
            <p:ph type="title"/>
          </p:nvPr>
        </p:nvSpPr>
        <p:spPr>
          <a:xfrm>
            <a:off x="646111" y="452718"/>
            <a:ext cx="9404723" cy="1400530"/>
          </a:xfrm>
        </p:spPr>
        <p:txBody>
          <a:bodyPr/>
          <a:lstStyle/>
          <a:p>
            <a:r>
              <a:rPr lang="en-US" dirty="0"/>
              <a:t>Problem 7</a:t>
            </a:r>
          </a:p>
        </p:txBody>
      </p:sp>
      <p:sp>
        <p:nvSpPr>
          <p:cNvPr id="10" name="Content Placeholder 2">
            <a:extLst>
              <a:ext uri="{FF2B5EF4-FFF2-40B4-BE49-F238E27FC236}">
                <a16:creationId xmlns:a16="http://schemas.microsoft.com/office/drawing/2014/main" id="{FB000BA9-6B03-0667-3C5D-B66F8A136ED4}"/>
              </a:ext>
            </a:extLst>
          </p:cNvPr>
          <p:cNvSpPr>
            <a:spLocks noGrp="1"/>
          </p:cNvSpPr>
          <p:nvPr>
            <p:ph idx="1"/>
          </p:nvPr>
        </p:nvSpPr>
        <p:spPr>
          <a:xfrm>
            <a:off x="987902" y="1502503"/>
            <a:ext cx="8946541" cy="921101"/>
          </a:xfrm>
        </p:spPr>
        <p:txBody>
          <a:bodyPr vert="horz" lIns="91440" tIns="45720" rIns="91440" bIns="45720" rtlCol="0">
            <a:normAutofit/>
          </a:bodyPr>
          <a:lstStyle/>
          <a:p>
            <a:pPr marL="0" indent="0">
              <a:spcBef>
                <a:spcPts val="0"/>
              </a:spcBef>
              <a:buNone/>
            </a:pPr>
            <a:r>
              <a:rPr lang="en-US" sz="2400" dirty="0">
                <a:latin typeface="Times New Roman" panose="02020603050405020304" pitchFamily="18" charset="0"/>
              </a:rPr>
              <a:t>Indicate the status of ZF and CF after CMP is executed in each of the following cases.</a:t>
            </a:r>
          </a:p>
        </p:txBody>
      </p:sp>
      <p:graphicFrame>
        <p:nvGraphicFramePr>
          <p:cNvPr id="2" name="Table 8">
            <a:extLst>
              <a:ext uri="{FF2B5EF4-FFF2-40B4-BE49-F238E27FC236}">
                <a16:creationId xmlns:a16="http://schemas.microsoft.com/office/drawing/2014/main" id="{39191790-6DA2-94D3-6F2E-B4A706F1155A}"/>
              </a:ext>
            </a:extLst>
          </p:cNvPr>
          <p:cNvGraphicFramePr>
            <a:graphicFrameLocks noGrp="1"/>
          </p:cNvGraphicFramePr>
          <p:nvPr>
            <p:extLst>
              <p:ext uri="{D42A27DB-BD31-4B8C-83A1-F6EECF244321}">
                <p14:modId xmlns:p14="http://schemas.microsoft.com/office/powerpoint/2010/main" val="1479983395"/>
              </p:ext>
            </p:extLst>
          </p:nvPr>
        </p:nvGraphicFramePr>
        <p:xfrm>
          <a:off x="2467006" y="4518734"/>
          <a:ext cx="3042740" cy="736600"/>
        </p:xfrm>
        <a:graphic>
          <a:graphicData uri="http://schemas.openxmlformats.org/drawingml/2006/table">
            <a:tbl>
              <a:tblPr firstRow="1" bandRow="1">
                <a:tableStyleId>{5C22544A-7EE6-4342-B048-85BDC9FD1C3A}</a:tableStyleId>
              </a:tblPr>
              <a:tblGrid>
                <a:gridCol w="1521370">
                  <a:extLst>
                    <a:ext uri="{9D8B030D-6E8A-4147-A177-3AD203B41FA5}">
                      <a16:colId xmlns:a16="http://schemas.microsoft.com/office/drawing/2014/main" val="3613960081"/>
                    </a:ext>
                  </a:extLst>
                </a:gridCol>
                <a:gridCol w="1521370">
                  <a:extLst>
                    <a:ext uri="{9D8B030D-6E8A-4147-A177-3AD203B41FA5}">
                      <a16:colId xmlns:a16="http://schemas.microsoft.com/office/drawing/2014/main" val="4139411549"/>
                    </a:ext>
                  </a:extLst>
                </a:gridCol>
              </a:tblGrid>
              <a:tr h="358565">
                <a:tc>
                  <a:txBody>
                    <a:bodyPr/>
                    <a:lstStyle/>
                    <a:p>
                      <a:pPr algn="ctr"/>
                      <a:r>
                        <a:rPr lang="en-US" dirty="0"/>
                        <a:t>CF</a:t>
                      </a:r>
                    </a:p>
                  </a:txBody>
                  <a:tcPr/>
                </a:tc>
                <a:tc>
                  <a:txBody>
                    <a:bodyPr/>
                    <a:lstStyle/>
                    <a:p>
                      <a:pPr algn="ctr"/>
                      <a:r>
                        <a:rPr lang="en-US" dirty="0"/>
                        <a:t>ZF</a:t>
                      </a:r>
                    </a:p>
                  </a:txBody>
                  <a:tcPr/>
                </a:tc>
                <a:extLst>
                  <a:ext uri="{0D108BD9-81ED-4DB2-BD59-A6C34878D82A}">
                    <a16:rowId xmlns:a16="http://schemas.microsoft.com/office/drawing/2014/main" val="1383217334"/>
                  </a:ext>
                </a:extLst>
              </a:tr>
              <a:tr h="370840">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4212303573"/>
                  </a:ext>
                </a:extLst>
              </a:tr>
            </a:tbl>
          </a:graphicData>
        </a:graphic>
      </p:graphicFrame>
      <p:sp>
        <p:nvSpPr>
          <p:cNvPr id="3" name="TextBox 2">
            <a:extLst>
              <a:ext uri="{FF2B5EF4-FFF2-40B4-BE49-F238E27FC236}">
                <a16:creationId xmlns:a16="http://schemas.microsoft.com/office/drawing/2014/main" id="{8DD68667-8E2D-6DF3-FD5F-609601112E53}"/>
              </a:ext>
            </a:extLst>
          </p:cNvPr>
          <p:cNvSpPr txBox="1"/>
          <p:nvPr/>
        </p:nvSpPr>
        <p:spPr>
          <a:xfrm>
            <a:off x="6960093" y="2698812"/>
            <a:ext cx="2778711" cy="923330"/>
          </a:xfrm>
          <a:prstGeom prst="rect">
            <a:avLst/>
          </a:prstGeom>
          <a:noFill/>
        </p:spPr>
        <p:txBody>
          <a:bodyPr wrap="square" rtlCol="0">
            <a:spAutoFit/>
          </a:bodyPr>
          <a:lstStyle/>
          <a:p>
            <a:r>
              <a:rPr lang="en-US" dirty="0">
                <a:solidFill>
                  <a:schemeClr val="accent3">
                    <a:lumMod val="60000"/>
                    <a:lumOff val="40000"/>
                  </a:schemeClr>
                </a:solidFill>
              </a:rPr>
              <a:t>No need to calculate</a:t>
            </a:r>
          </a:p>
          <a:p>
            <a:r>
              <a:rPr lang="en-US" dirty="0">
                <a:solidFill>
                  <a:schemeClr val="accent3">
                    <a:lumMod val="60000"/>
                    <a:lumOff val="40000"/>
                  </a:schemeClr>
                </a:solidFill>
              </a:rPr>
              <a:t>No borrow</a:t>
            </a:r>
          </a:p>
          <a:p>
            <a:r>
              <a:rPr lang="en-US" dirty="0">
                <a:solidFill>
                  <a:schemeClr val="accent3">
                    <a:lumMod val="60000"/>
                    <a:lumOff val="40000"/>
                  </a:schemeClr>
                </a:solidFill>
              </a:rPr>
              <a:t>And not zero</a:t>
            </a:r>
          </a:p>
        </p:txBody>
      </p:sp>
    </p:spTree>
    <p:extLst>
      <p:ext uri="{BB962C8B-B14F-4D97-AF65-F5344CB8AC3E}">
        <p14:creationId xmlns:p14="http://schemas.microsoft.com/office/powerpoint/2010/main" val="2369010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0A67A8D-7E35-2117-48C9-732DFB73AE15}"/>
              </a:ext>
            </a:extLst>
          </p:cNvPr>
          <p:cNvSpPr txBox="1"/>
          <p:nvPr/>
        </p:nvSpPr>
        <p:spPr>
          <a:xfrm>
            <a:off x="1245354" y="2610034"/>
            <a:ext cx="5350755" cy="1429306"/>
          </a:xfrm>
          <a:prstGeom prst="rect">
            <a:avLst/>
          </a:prstGeom>
        </p:spPr>
        <p:txBody>
          <a:bodyPr vert="horz" lIns="91440" tIns="45720" rIns="91440" bIns="45720" rtlCol="0">
            <a:normAutofit/>
          </a:bodyPr>
          <a:lstStyle>
            <a:lvl1pPr indent="0">
              <a:spcBef>
                <a:spcPts val="0"/>
              </a:spcBef>
              <a:spcAft>
                <a:spcPts val="0"/>
              </a:spcAft>
              <a:buClr>
                <a:schemeClr val="bg2">
                  <a:lumMod val="40000"/>
                  <a:lumOff val="60000"/>
                </a:schemeClr>
              </a:buClr>
              <a:buSzPct val="80000"/>
              <a:buFont typeface="Wingdings 3" charset="2"/>
              <a:buNone/>
              <a:defRPr sz="2400" b="0" i="0">
                <a:latin typeface="Times New Roman" panose="02020603050405020304" pitchFamily="18" charset="0"/>
                <a:ea typeface="+mj-ea"/>
                <a:cs typeface="+mj-cs"/>
              </a:defRPr>
            </a:lvl1pPr>
            <a:lvl2pPr marL="742950" indent="-285750">
              <a:spcBef>
                <a:spcPts val="1000"/>
              </a:spcBef>
              <a:spcAft>
                <a:spcPts val="0"/>
              </a:spcAft>
              <a:buClr>
                <a:schemeClr val="bg2">
                  <a:lumMod val="40000"/>
                  <a:lumOff val="60000"/>
                </a:schemeClr>
              </a:buClr>
              <a:buSzPct val="80000"/>
              <a:buFont typeface="Wingdings 3" charset="2"/>
              <a:buChar char=""/>
              <a:defRPr b="0" i="0">
                <a:latin typeface="+mj-lt"/>
                <a:ea typeface="+mj-ea"/>
                <a:cs typeface="+mj-cs"/>
              </a:defRPr>
            </a:lvl2pPr>
            <a:lvl3pPr marL="1143000" indent="-228600">
              <a:spcBef>
                <a:spcPts val="1000"/>
              </a:spcBef>
              <a:spcAft>
                <a:spcPts val="0"/>
              </a:spcAft>
              <a:buClr>
                <a:schemeClr val="bg2">
                  <a:lumMod val="40000"/>
                  <a:lumOff val="60000"/>
                </a:schemeClr>
              </a:buClr>
              <a:buSzPct val="80000"/>
              <a:buFont typeface="Wingdings 3" charset="2"/>
              <a:buChar char=""/>
              <a:defRPr sz="1600" b="0" i="0">
                <a:latin typeface="+mj-lt"/>
                <a:ea typeface="+mj-ea"/>
                <a:cs typeface="+mj-cs"/>
              </a:defRPr>
            </a:lvl3pPr>
            <a:lvl4pPr marL="16002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4pPr>
            <a:lvl5pPr marL="20574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5pPr>
            <a:lvl6pPr marL="25060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6pPr>
            <a:lvl7pPr marL="29718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7pPr>
            <a:lvl8pPr marL="34290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8pPr>
            <a:lvl9pPr marL="38862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9pPr>
          </a:lstStyle>
          <a:p>
            <a:pPr marL="171450" indent="-457200">
              <a:buFont typeface="+mj-lt"/>
              <a:buAutoNum type="alphaLcParenR" startAt="7"/>
            </a:pPr>
            <a:r>
              <a:rPr lang="en-US" dirty="0"/>
              <a:t>SUB CX,CX</a:t>
            </a:r>
            <a:br>
              <a:rPr lang="en-US" dirty="0"/>
            </a:br>
            <a:r>
              <a:rPr lang="en-US" dirty="0"/>
              <a:t>	DEC CX</a:t>
            </a:r>
            <a:br>
              <a:rPr lang="en-US" dirty="0"/>
            </a:br>
            <a:r>
              <a:rPr lang="en-US" dirty="0"/>
              <a:t>	CMP CX,0FFFFH</a:t>
            </a:r>
          </a:p>
        </p:txBody>
      </p:sp>
      <p:sp>
        <p:nvSpPr>
          <p:cNvPr id="9" name="Title 1">
            <a:extLst>
              <a:ext uri="{FF2B5EF4-FFF2-40B4-BE49-F238E27FC236}">
                <a16:creationId xmlns:a16="http://schemas.microsoft.com/office/drawing/2014/main" id="{89CFFA37-27BC-83A3-8235-03C3C4E02C0E}"/>
              </a:ext>
            </a:extLst>
          </p:cNvPr>
          <p:cNvSpPr>
            <a:spLocks noGrp="1"/>
          </p:cNvSpPr>
          <p:nvPr>
            <p:ph type="title"/>
          </p:nvPr>
        </p:nvSpPr>
        <p:spPr>
          <a:xfrm>
            <a:off x="646111" y="452718"/>
            <a:ext cx="9404723" cy="1400530"/>
          </a:xfrm>
        </p:spPr>
        <p:txBody>
          <a:bodyPr/>
          <a:lstStyle/>
          <a:p>
            <a:r>
              <a:rPr lang="en-US" dirty="0"/>
              <a:t>Problem 7</a:t>
            </a:r>
          </a:p>
        </p:txBody>
      </p:sp>
      <p:sp>
        <p:nvSpPr>
          <p:cNvPr id="10" name="Content Placeholder 2">
            <a:extLst>
              <a:ext uri="{FF2B5EF4-FFF2-40B4-BE49-F238E27FC236}">
                <a16:creationId xmlns:a16="http://schemas.microsoft.com/office/drawing/2014/main" id="{25909701-8F41-6DD4-E0BA-2FA7DB6CA1BA}"/>
              </a:ext>
            </a:extLst>
          </p:cNvPr>
          <p:cNvSpPr>
            <a:spLocks noGrp="1"/>
          </p:cNvSpPr>
          <p:nvPr>
            <p:ph idx="1"/>
          </p:nvPr>
        </p:nvSpPr>
        <p:spPr>
          <a:xfrm>
            <a:off x="987902" y="1502503"/>
            <a:ext cx="8946541" cy="921101"/>
          </a:xfrm>
        </p:spPr>
        <p:txBody>
          <a:bodyPr vert="horz" lIns="91440" tIns="45720" rIns="91440" bIns="45720" rtlCol="0">
            <a:normAutofit/>
          </a:bodyPr>
          <a:lstStyle/>
          <a:p>
            <a:pPr marL="0" indent="0">
              <a:spcBef>
                <a:spcPts val="0"/>
              </a:spcBef>
              <a:buNone/>
            </a:pPr>
            <a:r>
              <a:rPr lang="en-US" sz="2400" dirty="0">
                <a:latin typeface="Times New Roman" panose="02020603050405020304" pitchFamily="18" charset="0"/>
              </a:rPr>
              <a:t>Indicate the status of ZF and CF after CMP is executed in each of the following cases.</a:t>
            </a:r>
          </a:p>
        </p:txBody>
      </p:sp>
      <p:graphicFrame>
        <p:nvGraphicFramePr>
          <p:cNvPr id="2" name="Table 8">
            <a:extLst>
              <a:ext uri="{FF2B5EF4-FFF2-40B4-BE49-F238E27FC236}">
                <a16:creationId xmlns:a16="http://schemas.microsoft.com/office/drawing/2014/main" id="{C1D9DD8B-5DA9-4883-4F53-BA0EF0A4DEEC}"/>
              </a:ext>
            </a:extLst>
          </p:cNvPr>
          <p:cNvGraphicFramePr>
            <a:graphicFrameLocks noGrp="1"/>
          </p:cNvGraphicFramePr>
          <p:nvPr>
            <p:extLst>
              <p:ext uri="{D42A27DB-BD31-4B8C-83A1-F6EECF244321}">
                <p14:modId xmlns:p14="http://schemas.microsoft.com/office/powerpoint/2010/main" val="3111574223"/>
              </p:ext>
            </p:extLst>
          </p:nvPr>
        </p:nvGraphicFramePr>
        <p:xfrm>
          <a:off x="2467006" y="4518734"/>
          <a:ext cx="3042740" cy="736600"/>
        </p:xfrm>
        <a:graphic>
          <a:graphicData uri="http://schemas.openxmlformats.org/drawingml/2006/table">
            <a:tbl>
              <a:tblPr firstRow="1" bandRow="1">
                <a:tableStyleId>{5C22544A-7EE6-4342-B048-85BDC9FD1C3A}</a:tableStyleId>
              </a:tblPr>
              <a:tblGrid>
                <a:gridCol w="1521370">
                  <a:extLst>
                    <a:ext uri="{9D8B030D-6E8A-4147-A177-3AD203B41FA5}">
                      <a16:colId xmlns:a16="http://schemas.microsoft.com/office/drawing/2014/main" val="3613960081"/>
                    </a:ext>
                  </a:extLst>
                </a:gridCol>
                <a:gridCol w="1521370">
                  <a:extLst>
                    <a:ext uri="{9D8B030D-6E8A-4147-A177-3AD203B41FA5}">
                      <a16:colId xmlns:a16="http://schemas.microsoft.com/office/drawing/2014/main" val="4139411549"/>
                    </a:ext>
                  </a:extLst>
                </a:gridCol>
              </a:tblGrid>
              <a:tr h="358565">
                <a:tc>
                  <a:txBody>
                    <a:bodyPr/>
                    <a:lstStyle/>
                    <a:p>
                      <a:pPr algn="ctr"/>
                      <a:r>
                        <a:rPr lang="en-US" dirty="0"/>
                        <a:t>CF</a:t>
                      </a:r>
                    </a:p>
                  </a:txBody>
                  <a:tcPr/>
                </a:tc>
                <a:tc>
                  <a:txBody>
                    <a:bodyPr/>
                    <a:lstStyle/>
                    <a:p>
                      <a:pPr algn="ctr"/>
                      <a:r>
                        <a:rPr lang="en-US" dirty="0"/>
                        <a:t>ZF</a:t>
                      </a:r>
                    </a:p>
                  </a:txBody>
                  <a:tcPr/>
                </a:tc>
                <a:extLst>
                  <a:ext uri="{0D108BD9-81ED-4DB2-BD59-A6C34878D82A}">
                    <a16:rowId xmlns:a16="http://schemas.microsoft.com/office/drawing/2014/main" val="1383217334"/>
                  </a:ext>
                </a:extLst>
              </a:tr>
              <a:tr h="370840">
                <a:tc>
                  <a:txBody>
                    <a:bodyPr/>
                    <a:lstStyle/>
                    <a:p>
                      <a:pPr algn="ctr"/>
                      <a:r>
                        <a:rPr lang="en-US" dirty="0"/>
                        <a:t>0</a:t>
                      </a:r>
                    </a:p>
                  </a:txBody>
                  <a:tcPr/>
                </a:tc>
                <a:tc>
                  <a:txBody>
                    <a:bodyPr/>
                    <a:lstStyle/>
                    <a:p>
                      <a:pPr algn="ctr"/>
                      <a:r>
                        <a:rPr lang="en-US" dirty="0"/>
                        <a:t>1</a:t>
                      </a:r>
                    </a:p>
                  </a:txBody>
                  <a:tcPr/>
                </a:tc>
                <a:extLst>
                  <a:ext uri="{0D108BD9-81ED-4DB2-BD59-A6C34878D82A}">
                    <a16:rowId xmlns:a16="http://schemas.microsoft.com/office/drawing/2014/main" val="4212303573"/>
                  </a:ext>
                </a:extLst>
              </a:tr>
            </a:tbl>
          </a:graphicData>
        </a:graphic>
      </p:graphicFrame>
      <p:sp>
        <p:nvSpPr>
          <p:cNvPr id="3" name="TextBox 2">
            <a:extLst>
              <a:ext uri="{FF2B5EF4-FFF2-40B4-BE49-F238E27FC236}">
                <a16:creationId xmlns:a16="http://schemas.microsoft.com/office/drawing/2014/main" id="{55709133-A077-F796-1DBE-AF87A84A059F}"/>
              </a:ext>
            </a:extLst>
          </p:cNvPr>
          <p:cNvSpPr txBox="1"/>
          <p:nvPr/>
        </p:nvSpPr>
        <p:spPr>
          <a:xfrm>
            <a:off x="6960093" y="2698812"/>
            <a:ext cx="2778711" cy="1200329"/>
          </a:xfrm>
          <a:prstGeom prst="rect">
            <a:avLst/>
          </a:prstGeom>
          <a:noFill/>
        </p:spPr>
        <p:txBody>
          <a:bodyPr wrap="square" rtlCol="0">
            <a:spAutoFit/>
          </a:bodyPr>
          <a:lstStyle/>
          <a:p>
            <a:r>
              <a:rPr lang="en-US" dirty="0">
                <a:solidFill>
                  <a:schemeClr val="accent3">
                    <a:lumMod val="60000"/>
                    <a:lumOff val="40000"/>
                  </a:schemeClr>
                </a:solidFill>
              </a:rPr>
              <a:t>0h – 1h = 0FFFFh</a:t>
            </a:r>
          </a:p>
          <a:p>
            <a:r>
              <a:rPr lang="en-US" dirty="0">
                <a:solidFill>
                  <a:schemeClr val="accent3">
                    <a:lumMod val="60000"/>
                    <a:lumOff val="40000"/>
                  </a:schemeClr>
                </a:solidFill>
              </a:rPr>
              <a:t>0FFFFh - 0FFFFh = 0h</a:t>
            </a:r>
          </a:p>
          <a:p>
            <a:r>
              <a:rPr lang="en-US" dirty="0">
                <a:solidFill>
                  <a:schemeClr val="accent3">
                    <a:lumMod val="60000"/>
                    <a:lumOff val="40000"/>
                  </a:schemeClr>
                </a:solidFill>
              </a:rPr>
              <a:t>No borrow</a:t>
            </a:r>
          </a:p>
          <a:p>
            <a:r>
              <a:rPr lang="en-US" dirty="0">
                <a:solidFill>
                  <a:schemeClr val="accent3">
                    <a:lumMod val="60000"/>
                    <a:lumOff val="40000"/>
                  </a:schemeClr>
                </a:solidFill>
              </a:rPr>
              <a:t>but zero</a:t>
            </a:r>
          </a:p>
        </p:txBody>
      </p:sp>
    </p:spTree>
    <p:extLst>
      <p:ext uri="{BB962C8B-B14F-4D97-AF65-F5344CB8AC3E}">
        <p14:creationId xmlns:p14="http://schemas.microsoft.com/office/powerpoint/2010/main" val="2260710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0A67A8D-7E35-2117-48C9-732DFB73AE15}"/>
              </a:ext>
            </a:extLst>
          </p:cNvPr>
          <p:cNvSpPr txBox="1"/>
          <p:nvPr/>
        </p:nvSpPr>
        <p:spPr>
          <a:xfrm>
            <a:off x="1245354" y="2610034"/>
            <a:ext cx="5350755" cy="1429306"/>
          </a:xfrm>
          <a:prstGeom prst="rect">
            <a:avLst/>
          </a:prstGeom>
        </p:spPr>
        <p:txBody>
          <a:bodyPr vert="horz" lIns="91440" tIns="45720" rIns="91440" bIns="45720" rtlCol="0">
            <a:normAutofit/>
          </a:bodyPr>
          <a:lstStyle>
            <a:lvl1pPr indent="0">
              <a:spcBef>
                <a:spcPts val="0"/>
              </a:spcBef>
              <a:spcAft>
                <a:spcPts val="0"/>
              </a:spcAft>
              <a:buClr>
                <a:schemeClr val="bg2">
                  <a:lumMod val="40000"/>
                  <a:lumOff val="60000"/>
                </a:schemeClr>
              </a:buClr>
              <a:buSzPct val="80000"/>
              <a:buFont typeface="Wingdings 3" charset="2"/>
              <a:buNone/>
              <a:defRPr sz="2400" b="0" i="0">
                <a:latin typeface="Times New Roman" panose="02020603050405020304" pitchFamily="18" charset="0"/>
                <a:ea typeface="+mj-ea"/>
                <a:cs typeface="+mj-cs"/>
              </a:defRPr>
            </a:lvl1pPr>
            <a:lvl2pPr marL="742950" indent="-285750">
              <a:spcBef>
                <a:spcPts val="1000"/>
              </a:spcBef>
              <a:spcAft>
                <a:spcPts val="0"/>
              </a:spcAft>
              <a:buClr>
                <a:schemeClr val="bg2">
                  <a:lumMod val="40000"/>
                  <a:lumOff val="60000"/>
                </a:schemeClr>
              </a:buClr>
              <a:buSzPct val="80000"/>
              <a:buFont typeface="Wingdings 3" charset="2"/>
              <a:buChar char=""/>
              <a:defRPr b="0" i="0">
                <a:latin typeface="+mj-lt"/>
                <a:ea typeface="+mj-ea"/>
                <a:cs typeface="+mj-cs"/>
              </a:defRPr>
            </a:lvl2pPr>
            <a:lvl3pPr marL="1143000" indent="-228600">
              <a:spcBef>
                <a:spcPts val="1000"/>
              </a:spcBef>
              <a:spcAft>
                <a:spcPts val="0"/>
              </a:spcAft>
              <a:buClr>
                <a:schemeClr val="bg2">
                  <a:lumMod val="40000"/>
                  <a:lumOff val="60000"/>
                </a:schemeClr>
              </a:buClr>
              <a:buSzPct val="80000"/>
              <a:buFont typeface="Wingdings 3" charset="2"/>
              <a:buChar char=""/>
              <a:defRPr sz="1600" b="0" i="0">
                <a:latin typeface="+mj-lt"/>
                <a:ea typeface="+mj-ea"/>
                <a:cs typeface="+mj-cs"/>
              </a:defRPr>
            </a:lvl3pPr>
            <a:lvl4pPr marL="16002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4pPr>
            <a:lvl5pPr marL="20574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5pPr>
            <a:lvl6pPr marL="25060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6pPr>
            <a:lvl7pPr marL="29718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7pPr>
            <a:lvl8pPr marL="34290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8pPr>
            <a:lvl9pPr marL="38862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9pPr>
          </a:lstStyle>
          <a:p>
            <a:pPr marL="171450" indent="-457200">
              <a:buFont typeface="+mj-lt"/>
              <a:buAutoNum type="alphaLcParenR" startAt="8"/>
            </a:pPr>
            <a:r>
              <a:rPr lang="en-US" dirty="0"/>
              <a:t>MOV AL,0AAH</a:t>
            </a:r>
            <a:br>
              <a:rPr lang="en-US" dirty="0"/>
            </a:br>
            <a:r>
              <a:rPr lang="en-US" dirty="0"/>
              <a:t>	AND AL,55H</a:t>
            </a:r>
            <a:br>
              <a:rPr lang="en-US" dirty="0"/>
            </a:br>
            <a:r>
              <a:rPr lang="en-US" dirty="0"/>
              <a:t>	CMP AL,00</a:t>
            </a:r>
          </a:p>
        </p:txBody>
      </p:sp>
      <p:sp>
        <p:nvSpPr>
          <p:cNvPr id="9" name="Title 1">
            <a:extLst>
              <a:ext uri="{FF2B5EF4-FFF2-40B4-BE49-F238E27FC236}">
                <a16:creationId xmlns:a16="http://schemas.microsoft.com/office/drawing/2014/main" id="{C7F77283-0AFE-095F-69BB-06A75D1FA3C3}"/>
              </a:ext>
            </a:extLst>
          </p:cNvPr>
          <p:cNvSpPr>
            <a:spLocks noGrp="1"/>
          </p:cNvSpPr>
          <p:nvPr>
            <p:ph type="title"/>
          </p:nvPr>
        </p:nvSpPr>
        <p:spPr>
          <a:xfrm>
            <a:off x="646111" y="434962"/>
            <a:ext cx="9404723" cy="1400530"/>
          </a:xfrm>
        </p:spPr>
        <p:txBody>
          <a:bodyPr/>
          <a:lstStyle/>
          <a:p>
            <a:r>
              <a:rPr lang="en-US" dirty="0"/>
              <a:t>Problem 7</a:t>
            </a:r>
          </a:p>
        </p:txBody>
      </p:sp>
      <p:sp>
        <p:nvSpPr>
          <p:cNvPr id="10" name="Content Placeholder 2">
            <a:extLst>
              <a:ext uri="{FF2B5EF4-FFF2-40B4-BE49-F238E27FC236}">
                <a16:creationId xmlns:a16="http://schemas.microsoft.com/office/drawing/2014/main" id="{FE104513-C664-3B82-C052-31EDA52CDCED}"/>
              </a:ext>
            </a:extLst>
          </p:cNvPr>
          <p:cNvSpPr>
            <a:spLocks noGrp="1"/>
          </p:cNvSpPr>
          <p:nvPr>
            <p:ph idx="1"/>
          </p:nvPr>
        </p:nvSpPr>
        <p:spPr>
          <a:xfrm>
            <a:off x="987902" y="1484747"/>
            <a:ext cx="8946541" cy="921101"/>
          </a:xfrm>
        </p:spPr>
        <p:txBody>
          <a:bodyPr vert="horz" lIns="91440" tIns="45720" rIns="91440" bIns="45720" rtlCol="0">
            <a:normAutofit/>
          </a:bodyPr>
          <a:lstStyle/>
          <a:p>
            <a:pPr marL="0" indent="0">
              <a:spcBef>
                <a:spcPts val="0"/>
              </a:spcBef>
              <a:buNone/>
            </a:pPr>
            <a:r>
              <a:rPr lang="en-US" sz="2400" dirty="0">
                <a:latin typeface="Times New Roman" panose="02020603050405020304" pitchFamily="18" charset="0"/>
              </a:rPr>
              <a:t>Indicate the status of ZF and CF after CMP is executed in each of the following cases.</a:t>
            </a:r>
          </a:p>
        </p:txBody>
      </p:sp>
      <p:graphicFrame>
        <p:nvGraphicFramePr>
          <p:cNvPr id="2" name="Table 8">
            <a:extLst>
              <a:ext uri="{FF2B5EF4-FFF2-40B4-BE49-F238E27FC236}">
                <a16:creationId xmlns:a16="http://schemas.microsoft.com/office/drawing/2014/main" id="{0FFE6E3E-78D3-3186-531E-C965163EE6E8}"/>
              </a:ext>
            </a:extLst>
          </p:cNvPr>
          <p:cNvGraphicFramePr>
            <a:graphicFrameLocks noGrp="1"/>
          </p:cNvGraphicFramePr>
          <p:nvPr>
            <p:extLst>
              <p:ext uri="{D42A27DB-BD31-4B8C-83A1-F6EECF244321}">
                <p14:modId xmlns:p14="http://schemas.microsoft.com/office/powerpoint/2010/main" val="2505521871"/>
              </p:ext>
            </p:extLst>
          </p:nvPr>
        </p:nvGraphicFramePr>
        <p:xfrm>
          <a:off x="2467006" y="4518734"/>
          <a:ext cx="3042740" cy="736600"/>
        </p:xfrm>
        <a:graphic>
          <a:graphicData uri="http://schemas.openxmlformats.org/drawingml/2006/table">
            <a:tbl>
              <a:tblPr firstRow="1" bandRow="1">
                <a:tableStyleId>{5C22544A-7EE6-4342-B048-85BDC9FD1C3A}</a:tableStyleId>
              </a:tblPr>
              <a:tblGrid>
                <a:gridCol w="1521370">
                  <a:extLst>
                    <a:ext uri="{9D8B030D-6E8A-4147-A177-3AD203B41FA5}">
                      <a16:colId xmlns:a16="http://schemas.microsoft.com/office/drawing/2014/main" val="3613960081"/>
                    </a:ext>
                  </a:extLst>
                </a:gridCol>
                <a:gridCol w="1521370">
                  <a:extLst>
                    <a:ext uri="{9D8B030D-6E8A-4147-A177-3AD203B41FA5}">
                      <a16:colId xmlns:a16="http://schemas.microsoft.com/office/drawing/2014/main" val="4139411549"/>
                    </a:ext>
                  </a:extLst>
                </a:gridCol>
              </a:tblGrid>
              <a:tr h="358565">
                <a:tc>
                  <a:txBody>
                    <a:bodyPr/>
                    <a:lstStyle/>
                    <a:p>
                      <a:pPr algn="ctr"/>
                      <a:r>
                        <a:rPr lang="en-US" dirty="0"/>
                        <a:t>CF</a:t>
                      </a:r>
                    </a:p>
                  </a:txBody>
                  <a:tcPr/>
                </a:tc>
                <a:tc>
                  <a:txBody>
                    <a:bodyPr/>
                    <a:lstStyle/>
                    <a:p>
                      <a:pPr algn="ctr"/>
                      <a:r>
                        <a:rPr lang="en-US" dirty="0"/>
                        <a:t>ZF</a:t>
                      </a:r>
                    </a:p>
                  </a:txBody>
                  <a:tcPr/>
                </a:tc>
                <a:extLst>
                  <a:ext uri="{0D108BD9-81ED-4DB2-BD59-A6C34878D82A}">
                    <a16:rowId xmlns:a16="http://schemas.microsoft.com/office/drawing/2014/main" val="1383217334"/>
                  </a:ext>
                </a:extLst>
              </a:tr>
              <a:tr h="370840">
                <a:tc>
                  <a:txBody>
                    <a:bodyPr/>
                    <a:lstStyle/>
                    <a:p>
                      <a:pPr algn="ctr"/>
                      <a:r>
                        <a:rPr lang="en-US" dirty="0"/>
                        <a:t>0</a:t>
                      </a:r>
                    </a:p>
                  </a:txBody>
                  <a:tcPr/>
                </a:tc>
                <a:tc>
                  <a:txBody>
                    <a:bodyPr/>
                    <a:lstStyle/>
                    <a:p>
                      <a:pPr algn="ctr"/>
                      <a:r>
                        <a:rPr lang="en-US" dirty="0"/>
                        <a:t>1</a:t>
                      </a:r>
                    </a:p>
                  </a:txBody>
                  <a:tcPr/>
                </a:tc>
                <a:extLst>
                  <a:ext uri="{0D108BD9-81ED-4DB2-BD59-A6C34878D82A}">
                    <a16:rowId xmlns:a16="http://schemas.microsoft.com/office/drawing/2014/main" val="4212303573"/>
                  </a:ext>
                </a:extLst>
              </a:tr>
            </a:tbl>
          </a:graphicData>
        </a:graphic>
      </p:graphicFrame>
      <p:pic>
        <p:nvPicPr>
          <p:cNvPr id="5" name="Picture 4">
            <a:extLst>
              <a:ext uri="{FF2B5EF4-FFF2-40B4-BE49-F238E27FC236}">
                <a16:creationId xmlns:a16="http://schemas.microsoft.com/office/drawing/2014/main" id="{BCFDD364-1EDF-6073-E16E-C65EDAFAA1B3}"/>
              </a:ext>
            </a:extLst>
          </p:cNvPr>
          <p:cNvPicPr>
            <a:picLocks noChangeAspect="1"/>
          </p:cNvPicPr>
          <p:nvPr/>
        </p:nvPicPr>
        <p:blipFill>
          <a:blip r:embed="rId2"/>
          <a:stretch>
            <a:fillRect/>
          </a:stretch>
        </p:blipFill>
        <p:spPr>
          <a:xfrm>
            <a:off x="7382021" y="2463218"/>
            <a:ext cx="2001675" cy="1576122"/>
          </a:xfrm>
          <a:prstGeom prst="rect">
            <a:avLst/>
          </a:prstGeom>
        </p:spPr>
      </p:pic>
      <p:sp>
        <p:nvSpPr>
          <p:cNvPr id="6" name="TextBox 5">
            <a:extLst>
              <a:ext uri="{FF2B5EF4-FFF2-40B4-BE49-F238E27FC236}">
                <a16:creationId xmlns:a16="http://schemas.microsoft.com/office/drawing/2014/main" id="{B59BA171-0ED1-8D1F-A4E3-35FEA52A8A27}"/>
              </a:ext>
            </a:extLst>
          </p:cNvPr>
          <p:cNvSpPr txBox="1"/>
          <p:nvPr/>
        </p:nvSpPr>
        <p:spPr>
          <a:xfrm>
            <a:off x="6946283" y="4286869"/>
            <a:ext cx="2778711" cy="646331"/>
          </a:xfrm>
          <a:prstGeom prst="rect">
            <a:avLst/>
          </a:prstGeom>
          <a:noFill/>
        </p:spPr>
        <p:txBody>
          <a:bodyPr wrap="square" rtlCol="0">
            <a:spAutoFit/>
          </a:bodyPr>
          <a:lstStyle/>
          <a:p>
            <a:r>
              <a:rPr lang="en-US" dirty="0">
                <a:solidFill>
                  <a:schemeClr val="accent3">
                    <a:lumMod val="60000"/>
                    <a:lumOff val="40000"/>
                  </a:schemeClr>
                </a:solidFill>
              </a:rPr>
              <a:t>No borrow</a:t>
            </a:r>
          </a:p>
          <a:p>
            <a:r>
              <a:rPr lang="en-US" dirty="0">
                <a:solidFill>
                  <a:schemeClr val="accent3">
                    <a:lumMod val="60000"/>
                    <a:lumOff val="40000"/>
                  </a:schemeClr>
                </a:solidFill>
              </a:rPr>
              <a:t>but zero</a:t>
            </a:r>
          </a:p>
        </p:txBody>
      </p:sp>
    </p:spTree>
    <p:extLst>
      <p:ext uri="{BB962C8B-B14F-4D97-AF65-F5344CB8AC3E}">
        <p14:creationId xmlns:p14="http://schemas.microsoft.com/office/powerpoint/2010/main" val="2291275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15FD8-B2ED-75D2-CDD0-680E1CD7C696}"/>
              </a:ext>
            </a:extLst>
          </p:cNvPr>
          <p:cNvSpPr>
            <a:spLocks noGrp="1"/>
          </p:cNvSpPr>
          <p:nvPr>
            <p:ph type="title"/>
          </p:nvPr>
        </p:nvSpPr>
        <p:spPr/>
        <p:txBody>
          <a:bodyPr/>
          <a:lstStyle/>
          <a:p>
            <a:r>
              <a:rPr lang="en-US" dirty="0"/>
              <a:t>Problem 8</a:t>
            </a:r>
          </a:p>
        </p:txBody>
      </p:sp>
      <p:sp>
        <p:nvSpPr>
          <p:cNvPr id="4" name="Content Placeholder 2">
            <a:extLst>
              <a:ext uri="{FF2B5EF4-FFF2-40B4-BE49-F238E27FC236}">
                <a16:creationId xmlns:a16="http://schemas.microsoft.com/office/drawing/2014/main" id="{6768261A-681D-7FC8-DFFA-D67800480080}"/>
              </a:ext>
            </a:extLst>
          </p:cNvPr>
          <p:cNvSpPr>
            <a:spLocks noGrp="1"/>
          </p:cNvSpPr>
          <p:nvPr>
            <p:ph idx="1"/>
          </p:nvPr>
        </p:nvSpPr>
        <p:spPr>
          <a:xfrm>
            <a:off x="987902" y="1484747"/>
            <a:ext cx="8946541" cy="921101"/>
          </a:xfrm>
        </p:spPr>
        <p:txBody>
          <a:bodyPr vert="horz" lIns="91440" tIns="45720" rIns="91440" bIns="45720" rtlCol="0">
            <a:normAutofit/>
          </a:bodyPr>
          <a:lstStyle/>
          <a:p>
            <a:pPr marL="0" indent="0">
              <a:spcBef>
                <a:spcPts val="0"/>
              </a:spcBef>
              <a:buNone/>
            </a:pPr>
            <a:r>
              <a:rPr lang="en-US" sz="2400" dirty="0">
                <a:latin typeface="Times New Roman" panose="02020603050405020304" pitchFamily="18" charset="0"/>
              </a:rPr>
              <a:t>Indicate whether the jump happens in each case.</a:t>
            </a:r>
          </a:p>
        </p:txBody>
      </p:sp>
      <p:sp>
        <p:nvSpPr>
          <p:cNvPr id="5" name="TextBox 4">
            <a:extLst>
              <a:ext uri="{FF2B5EF4-FFF2-40B4-BE49-F238E27FC236}">
                <a16:creationId xmlns:a16="http://schemas.microsoft.com/office/drawing/2014/main" id="{82E4F377-DDA1-0592-3E70-96DF361657E2}"/>
              </a:ext>
            </a:extLst>
          </p:cNvPr>
          <p:cNvSpPr txBox="1"/>
          <p:nvPr/>
        </p:nvSpPr>
        <p:spPr>
          <a:xfrm>
            <a:off x="1192088" y="2405848"/>
            <a:ext cx="3415423" cy="1855434"/>
          </a:xfrm>
          <a:prstGeom prst="rect">
            <a:avLst/>
          </a:prstGeom>
        </p:spPr>
        <p:txBody>
          <a:bodyPr vert="horz" lIns="91440" tIns="45720" rIns="91440" bIns="45720" rtlCol="0">
            <a:normAutofit/>
          </a:bodyPr>
          <a:lstStyle>
            <a:lvl1pPr indent="0">
              <a:spcBef>
                <a:spcPts val="0"/>
              </a:spcBef>
              <a:spcAft>
                <a:spcPts val="0"/>
              </a:spcAft>
              <a:buClr>
                <a:schemeClr val="bg2">
                  <a:lumMod val="40000"/>
                  <a:lumOff val="60000"/>
                </a:schemeClr>
              </a:buClr>
              <a:buSzPct val="80000"/>
              <a:buFont typeface="Wingdings 3" charset="2"/>
              <a:buNone/>
              <a:defRPr sz="2400" b="0" i="0">
                <a:latin typeface="Times New Roman" panose="02020603050405020304" pitchFamily="18" charset="0"/>
                <a:ea typeface="+mj-ea"/>
                <a:cs typeface="+mj-cs"/>
              </a:defRPr>
            </a:lvl1pPr>
            <a:lvl2pPr marL="742950" indent="-285750">
              <a:spcBef>
                <a:spcPts val="1000"/>
              </a:spcBef>
              <a:spcAft>
                <a:spcPts val="0"/>
              </a:spcAft>
              <a:buClr>
                <a:schemeClr val="bg2">
                  <a:lumMod val="40000"/>
                  <a:lumOff val="60000"/>
                </a:schemeClr>
              </a:buClr>
              <a:buSzPct val="80000"/>
              <a:buFont typeface="Wingdings 3" charset="2"/>
              <a:buChar char=""/>
              <a:defRPr b="0" i="0">
                <a:latin typeface="+mj-lt"/>
                <a:ea typeface="+mj-ea"/>
                <a:cs typeface="+mj-cs"/>
              </a:defRPr>
            </a:lvl2pPr>
            <a:lvl3pPr marL="1143000" indent="-228600">
              <a:spcBef>
                <a:spcPts val="1000"/>
              </a:spcBef>
              <a:spcAft>
                <a:spcPts val="0"/>
              </a:spcAft>
              <a:buClr>
                <a:schemeClr val="bg2">
                  <a:lumMod val="40000"/>
                  <a:lumOff val="60000"/>
                </a:schemeClr>
              </a:buClr>
              <a:buSzPct val="80000"/>
              <a:buFont typeface="Wingdings 3" charset="2"/>
              <a:buChar char=""/>
              <a:defRPr sz="1600" b="0" i="0">
                <a:latin typeface="+mj-lt"/>
                <a:ea typeface="+mj-ea"/>
                <a:cs typeface="+mj-cs"/>
              </a:defRPr>
            </a:lvl3pPr>
            <a:lvl4pPr marL="16002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4pPr>
            <a:lvl5pPr marL="20574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5pPr>
            <a:lvl6pPr marL="25060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6pPr>
            <a:lvl7pPr marL="29718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7pPr>
            <a:lvl8pPr marL="34290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8pPr>
            <a:lvl9pPr marL="38862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9pPr>
          </a:lstStyle>
          <a:p>
            <a:pPr marL="171450" indent="-457200">
              <a:buFont typeface="+mj-lt"/>
              <a:buAutoNum type="alphaLcParenR"/>
            </a:pPr>
            <a:r>
              <a:rPr lang="en-US" dirty="0"/>
              <a:t>MOV CL,5 </a:t>
            </a:r>
            <a:br>
              <a:rPr lang="en-US" dirty="0"/>
            </a:br>
            <a:r>
              <a:rPr lang="en-US" dirty="0"/>
              <a:t>	SUB AL,AL</a:t>
            </a:r>
            <a:br>
              <a:rPr lang="en-US" dirty="0"/>
            </a:br>
            <a:r>
              <a:rPr lang="en-US" dirty="0"/>
              <a:t>	SHL AL,CL</a:t>
            </a:r>
            <a:br>
              <a:rPr lang="en-US" dirty="0"/>
            </a:br>
            <a:r>
              <a:rPr lang="en-US" dirty="0"/>
              <a:t>	JNC TARGET</a:t>
            </a:r>
          </a:p>
        </p:txBody>
      </p:sp>
      <p:sp>
        <p:nvSpPr>
          <p:cNvPr id="6" name="TextBox 5">
            <a:extLst>
              <a:ext uri="{FF2B5EF4-FFF2-40B4-BE49-F238E27FC236}">
                <a16:creationId xmlns:a16="http://schemas.microsoft.com/office/drawing/2014/main" id="{3471A33C-C83D-EE4E-D007-0202966BD5FE}"/>
              </a:ext>
            </a:extLst>
          </p:cNvPr>
          <p:cNvSpPr txBox="1"/>
          <p:nvPr/>
        </p:nvSpPr>
        <p:spPr>
          <a:xfrm>
            <a:off x="4471311" y="2405848"/>
            <a:ext cx="3415423" cy="1855434"/>
          </a:xfrm>
          <a:prstGeom prst="rect">
            <a:avLst/>
          </a:prstGeom>
        </p:spPr>
        <p:txBody>
          <a:bodyPr vert="horz" lIns="91440" tIns="45720" rIns="91440" bIns="45720" rtlCol="0">
            <a:normAutofit lnSpcReduction="10000"/>
          </a:bodyPr>
          <a:lstStyle>
            <a:lvl1pPr indent="0">
              <a:spcBef>
                <a:spcPts val="0"/>
              </a:spcBef>
              <a:spcAft>
                <a:spcPts val="0"/>
              </a:spcAft>
              <a:buClr>
                <a:schemeClr val="bg2">
                  <a:lumMod val="40000"/>
                  <a:lumOff val="60000"/>
                </a:schemeClr>
              </a:buClr>
              <a:buSzPct val="80000"/>
              <a:buFont typeface="Wingdings 3" charset="2"/>
              <a:buNone/>
              <a:defRPr sz="2400" b="0" i="0">
                <a:latin typeface="Times New Roman" panose="02020603050405020304" pitchFamily="18" charset="0"/>
                <a:ea typeface="+mj-ea"/>
                <a:cs typeface="+mj-cs"/>
              </a:defRPr>
            </a:lvl1pPr>
            <a:lvl2pPr marL="742950" indent="-285750">
              <a:spcBef>
                <a:spcPts val="1000"/>
              </a:spcBef>
              <a:spcAft>
                <a:spcPts val="0"/>
              </a:spcAft>
              <a:buClr>
                <a:schemeClr val="bg2">
                  <a:lumMod val="40000"/>
                  <a:lumOff val="60000"/>
                </a:schemeClr>
              </a:buClr>
              <a:buSzPct val="80000"/>
              <a:buFont typeface="Wingdings 3" charset="2"/>
              <a:buChar char=""/>
              <a:defRPr b="0" i="0">
                <a:latin typeface="+mj-lt"/>
                <a:ea typeface="+mj-ea"/>
                <a:cs typeface="+mj-cs"/>
              </a:defRPr>
            </a:lvl2pPr>
            <a:lvl3pPr marL="1143000" indent="-228600">
              <a:spcBef>
                <a:spcPts val="1000"/>
              </a:spcBef>
              <a:spcAft>
                <a:spcPts val="0"/>
              </a:spcAft>
              <a:buClr>
                <a:schemeClr val="bg2">
                  <a:lumMod val="40000"/>
                  <a:lumOff val="60000"/>
                </a:schemeClr>
              </a:buClr>
              <a:buSzPct val="80000"/>
              <a:buFont typeface="Wingdings 3" charset="2"/>
              <a:buChar char=""/>
              <a:defRPr sz="1600" b="0" i="0">
                <a:latin typeface="+mj-lt"/>
                <a:ea typeface="+mj-ea"/>
                <a:cs typeface="+mj-cs"/>
              </a:defRPr>
            </a:lvl3pPr>
            <a:lvl4pPr marL="16002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4pPr>
            <a:lvl5pPr marL="20574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5pPr>
            <a:lvl6pPr marL="25060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6pPr>
            <a:lvl7pPr marL="29718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7pPr>
            <a:lvl8pPr marL="34290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8pPr>
            <a:lvl9pPr marL="38862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9pPr>
          </a:lstStyle>
          <a:p>
            <a:pPr marL="171450" indent="-457200">
              <a:buFont typeface="+mj-lt"/>
              <a:buAutoNum type="alphaLcParenR" startAt="2"/>
            </a:pPr>
            <a:r>
              <a:rPr lang="en-US" dirty="0"/>
              <a:t>MOV BH,65H</a:t>
            </a:r>
            <a:br>
              <a:rPr lang="en-US" dirty="0"/>
            </a:br>
            <a:r>
              <a:rPr lang="en-US" dirty="0"/>
              <a:t>	MOV AL,48H</a:t>
            </a:r>
            <a:br>
              <a:rPr lang="en-US" dirty="0"/>
            </a:br>
            <a:r>
              <a:rPr lang="en-US" dirty="0"/>
              <a:t>	OR AL,BH</a:t>
            </a:r>
            <a:br>
              <a:rPr lang="en-US" dirty="0"/>
            </a:br>
            <a:r>
              <a:rPr lang="en-US" dirty="0"/>
              <a:t>	SHL AL,1</a:t>
            </a:r>
            <a:br>
              <a:rPr lang="en-US" dirty="0"/>
            </a:br>
            <a:r>
              <a:rPr lang="en-US" dirty="0"/>
              <a:t>	JC TARGET</a:t>
            </a:r>
          </a:p>
        </p:txBody>
      </p:sp>
      <p:sp>
        <p:nvSpPr>
          <p:cNvPr id="7" name="TextBox 6">
            <a:extLst>
              <a:ext uri="{FF2B5EF4-FFF2-40B4-BE49-F238E27FC236}">
                <a16:creationId xmlns:a16="http://schemas.microsoft.com/office/drawing/2014/main" id="{F7CD1138-0940-6E35-0769-DEA910A87230}"/>
              </a:ext>
            </a:extLst>
          </p:cNvPr>
          <p:cNvSpPr txBox="1"/>
          <p:nvPr/>
        </p:nvSpPr>
        <p:spPr>
          <a:xfrm>
            <a:off x="7886734" y="2405848"/>
            <a:ext cx="3415423" cy="2423605"/>
          </a:xfrm>
          <a:prstGeom prst="rect">
            <a:avLst/>
          </a:prstGeom>
        </p:spPr>
        <p:txBody>
          <a:bodyPr vert="horz" lIns="91440" tIns="45720" rIns="91440" bIns="45720" rtlCol="0">
            <a:normAutofit lnSpcReduction="10000"/>
          </a:bodyPr>
          <a:lstStyle>
            <a:lvl1pPr indent="0">
              <a:spcBef>
                <a:spcPts val="0"/>
              </a:spcBef>
              <a:spcAft>
                <a:spcPts val="0"/>
              </a:spcAft>
              <a:buClr>
                <a:schemeClr val="bg2">
                  <a:lumMod val="40000"/>
                  <a:lumOff val="60000"/>
                </a:schemeClr>
              </a:buClr>
              <a:buSzPct val="80000"/>
              <a:buFont typeface="Wingdings 3" charset="2"/>
              <a:buNone/>
              <a:defRPr sz="2400" b="0" i="0">
                <a:latin typeface="Times New Roman" panose="02020603050405020304" pitchFamily="18" charset="0"/>
                <a:ea typeface="+mj-ea"/>
                <a:cs typeface="+mj-cs"/>
              </a:defRPr>
            </a:lvl1pPr>
            <a:lvl2pPr marL="742950" indent="-285750">
              <a:spcBef>
                <a:spcPts val="1000"/>
              </a:spcBef>
              <a:spcAft>
                <a:spcPts val="0"/>
              </a:spcAft>
              <a:buClr>
                <a:schemeClr val="bg2">
                  <a:lumMod val="40000"/>
                  <a:lumOff val="60000"/>
                </a:schemeClr>
              </a:buClr>
              <a:buSzPct val="80000"/>
              <a:buFont typeface="Wingdings 3" charset="2"/>
              <a:buChar char=""/>
              <a:defRPr b="0" i="0">
                <a:latin typeface="+mj-lt"/>
                <a:ea typeface="+mj-ea"/>
                <a:cs typeface="+mj-cs"/>
              </a:defRPr>
            </a:lvl2pPr>
            <a:lvl3pPr marL="1143000" indent="-228600">
              <a:spcBef>
                <a:spcPts val="1000"/>
              </a:spcBef>
              <a:spcAft>
                <a:spcPts val="0"/>
              </a:spcAft>
              <a:buClr>
                <a:schemeClr val="bg2">
                  <a:lumMod val="40000"/>
                  <a:lumOff val="60000"/>
                </a:schemeClr>
              </a:buClr>
              <a:buSzPct val="80000"/>
              <a:buFont typeface="Wingdings 3" charset="2"/>
              <a:buChar char=""/>
              <a:defRPr sz="1600" b="0" i="0">
                <a:latin typeface="+mj-lt"/>
                <a:ea typeface="+mj-ea"/>
                <a:cs typeface="+mj-cs"/>
              </a:defRPr>
            </a:lvl3pPr>
            <a:lvl4pPr marL="16002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4pPr>
            <a:lvl5pPr marL="20574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5pPr>
            <a:lvl6pPr marL="25060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6pPr>
            <a:lvl7pPr marL="29718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7pPr>
            <a:lvl8pPr marL="34290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8pPr>
            <a:lvl9pPr marL="3886200" indent="-228600">
              <a:spcBef>
                <a:spcPts val="1000"/>
              </a:spcBef>
              <a:spcAft>
                <a:spcPts val="0"/>
              </a:spcAft>
              <a:buClr>
                <a:schemeClr val="bg2">
                  <a:lumMod val="40000"/>
                  <a:lumOff val="60000"/>
                </a:schemeClr>
              </a:buClr>
              <a:buSzPct val="80000"/>
              <a:buFont typeface="Wingdings 3" charset="2"/>
              <a:buChar char=""/>
              <a:defRPr sz="1400" b="0" i="0">
                <a:latin typeface="+mj-lt"/>
                <a:ea typeface="+mj-ea"/>
                <a:cs typeface="+mj-cs"/>
              </a:defRPr>
            </a:lvl9pPr>
          </a:lstStyle>
          <a:p>
            <a:pPr marL="171450" indent="-457200">
              <a:buFont typeface="+mj-lt"/>
              <a:buAutoNum type="alphaLcParenR" startAt="3"/>
            </a:pPr>
            <a:r>
              <a:rPr lang="en-US" dirty="0"/>
              <a:t>MOV AH,55H</a:t>
            </a:r>
            <a:br>
              <a:rPr lang="en-US" dirty="0"/>
            </a:br>
            <a:r>
              <a:rPr lang="en-US" dirty="0"/>
              <a:t>	SUB DL,DL</a:t>
            </a:r>
            <a:br>
              <a:rPr lang="en-US" dirty="0"/>
            </a:br>
            <a:r>
              <a:rPr lang="en-US" dirty="0"/>
              <a:t>	OR DL,AH</a:t>
            </a:r>
            <a:br>
              <a:rPr lang="en-US" dirty="0"/>
            </a:br>
            <a:r>
              <a:rPr lang="en-US" dirty="0"/>
              <a:t>	MOV CL,AH</a:t>
            </a:r>
            <a:br>
              <a:rPr lang="en-US" dirty="0"/>
            </a:br>
            <a:r>
              <a:rPr lang="en-US" dirty="0"/>
              <a:t>	AND CL,0FH</a:t>
            </a:r>
            <a:br>
              <a:rPr lang="en-US" dirty="0"/>
            </a:br>
            <a:r>
              <a:rPr lang="en-US" dirty="0"/>
              <a:t>	SHR DL,CL</a:t>
            </a:r>
            <a:br>
              <a:rPr lang="en-US" dirty="0"/>
            </a:br>
            <a:r>
              <a:rPr lang="en-US" dirty="0"/>
              <a:t>	JNC TARGET</a:t>
            </a:r>
          </a:p>
        </p:txBody>
      </p:sp>
      <p:sp>
        <p:nvSpPr>
          <p:cNvPr id="3" name="TextBox 2">
            <a:extLst>
              <a:ext uri="{FF2B5EF4-FFF2-40B4-BE49-F238E27FC236}">
                <a16:creationId xmlns:a16="http://schemas.microsoft.com/office/drawing/2014/main" id="{2AE4A9D0-B836-A729-114A-3DF4389268CB}"/>
              </a:ext>
            </a:extLst>
          </p:cNvPr>
          <p:cNvSpPr txBox="1"/>
          <p:nvPr/>
        </p:nvSpPr>
        <p:spPr>
          <a:xfrm>
            <a:off x="1890944" y="4261282"/>
            <a:ext cx="1136341" cy="369332"/>
          </a:xfrm>
          <a:prstGeom prst="rect">
            <a:avLst/>
          </a:prstGeom>
          <a:noFill/>
        </p:spPr>
        <p:txBody>
          <a:bodyPr wrap="square" rtlCol="0">
            <a:spAutoFit/>
          </a:bodyPr>
          <a:lstStyle/>
          <a:p>
            <a:r>
              <a:rPr lang="en-US" dirty="0">
                <a:solidFill>
                  <a:schemeClr val="accent3">
                    <a:lumMod val="60000"/>
                    <a:lumOff val="40000"/>
                  </a:schemeClr>
                </a:solidFill>
              </a:rPr>
              <a:t>Yes</a:t>
            </a:r>
          </a:p>
        </p:txBody>
      </p:sp>
      <p:sp>
        <p:nvSpPr>
          <p:cNvPr id="10" name="TextBox 9">
            <a:extLst>
              <a:ext uri="{FF2B5EF4-FFF2-40B4-BE49-F238E27FC236}">
                <a16:creationId xmlns:a16="http://schemas.microsoft.com/office/drawing/2014/main" id="{6ED16459-D6FB-5616-F202-D4FB185905AF}"/>
              </a:ext>
            </a:extLst>
          </p:cNvPr>
          <p:cNvSpPr txBox="1"/>
          <p:nvPr/>
        </p:nvSpPr>
        <p:spPr>
          <a:xfrm>
            <a:off x="5527829" y="5932050"/>
            <a:ext cx="1136341" cy="369332"/>
          </a:xfrm>
          <a:prstGeom prst="rect">
            <a:avLst/>
          </a:prstGeom>
          <a:noFill/>
        </p:spPr>
        <p:txBody>
          <a:bodyPr wrap="square" rtlCol="0">
            <a:spAutoFit/>
          </a:bodyPr>
          <a:lstStyle/>
          <a:p>
            <a:r>
              <a:rPr lang="en-US" dirty="0">
                <a:solidFill>
                  <a:schemeClr val="accent3">
                    <a:lumMod val="60000"/>
                    <a:lumOff val="40000"/>
                  </a:schemeClr>
                </a:solidFill>
              </a:rPr>
              <a:t>No</a:t>
            </a:r>
          </a:p>
        </p:txBody>
      </p:sp>
      <p:sp>
        <p:nvSpPr>
          <p:cNvPr id="13" name="TextBox 12">
            <a:extLst>
              <a:ext uri="{FF2B5EF4-FFF2-40B4-BE49-F238E27FC236}">
                <a16:creationId xmlns:a16="http://schemas.microsoft.com/office/drawing/2014/main" id="{BB272642-CF32-DD55-4752-CA50DF03AB13}"/>
              </a:ext>
            </a:extLst>
          </p:cNvPr>
          <p:cNvSpPr txBox="1"/>
          <p:nvPr/>
        </p:nvSpPr>
        <p:spPr>
          <a:xfrm>
            <a:off x="9971110" y="5271067"/>
            <a:ext cx="1136341" cy="369332"/>
          </a:xfrm>
          <a:prstGeom prst="rect">
            <a:avLst/>
          </a:prstGeom>
          <a:noFill/>
        </p:spPr>
        <p:txBody>
          <a:bodyPr wrap="square" rtlCol="0">
            <a:spAutoFit/>
          </a:bodyPr>
          <a:lstStyle/>
          <a:p>
            <a:r>
              <a:rPr lang="en-US" dirty="0">
                <a:solidFill>
                  <a:schemeClr val="accent3">
                    <a:lumMod val="60000"/>
                    <a:lumOff val="40000"/>
                  </a:schemeClr>
                </a:solidFill>
              </a:rPr>
              <a:t>No</a:t>
            </a:r>
          </a:p>
        </p:txBody>
      </p:sp>
      <p:pic>
        <p:nvPicPr>
          <p:cNvPr id="11" name="Picture 10">
            <a:extLst>
              <a:ext uri="{FF2B5EF4-FFF2-40B4-BE49-F238E27FC236}">
                <a16:creationId xmlns:a16="http://schemas.microsoft.com/office/drawing/2014/main" id="{B176FC01-3702-4BF7-7D54-26BB9497760A}"/>
              </a:ext>
            </a:extLst>
          </p:cNvPr>
          <p:cNvPicPr>
            <a:picLocks noChangeAspect="1"/>
          </p:cNvPicPr>
          <p:nvPr/>
        </p:nvPicPr>
        <p:blipFill>
          <a:blip r:embed="rId2"/>
          <a:stretch>
            <a:fillRect/>
          </a:stretch>
        </p:blipFill>
        <p:spPr>
          <a:xfrm>
            <a:off x="4946520" y="4261282"/>
            <a:ext cx="1800059" cy="1380046"/>
          </a:xfrm>
          <a:prstGeom prst="rect">
            <a:avLst/>
          </a:prstGeom>
        </p:spPr>
      </p:pic>
      <p:pic>
        <p:nvPicPr>
          <p:cNvPr id="15" name="Picture 14">
            <a:extLst>
              <a:ext uri="{FF2B5EF4-FFF2-40B4-BE49-F238E27FC236}">
                <a16:creationId xmlns:a16="http://schemas.microsoft.com/office/drawing/2014/main" id="{2EB283D7-E7C9-20BE-59BA-75EA04B34F72}"/>
              </a:ext>
            </a:extLst>
          </p:cNvPr>
          <p:cNvPicPr>
            <a:picLocks noChangeAspect="1"/>
          </p:cNvPicPr>
          <p:nvPr/>
        </p:nvPicPr>
        <p:blipFill>
          <a:blip r:embed="rId3"/>
          <a:stretch>
            <a:fillRect/>
          </a:stretch>
        </p:blipFill>
        <p:spPr>
          <a:xfrm>
            <a:off x="8137336" y="4951305"/>
            <a:ext cx="1582683" cy="1317132"/>
          </a:xfrm>
          <a:prstGeom prst="rect">
            <a:avLst/>
          </a:prstGeom>
        </p:spPr>
      </p:pic>
      <p:sp>
        <p:nvSpPr>
          <p:cNvPr id="20" name="Rectangle: Rounded Corners 19">
            <a:extLst>
              <a:ext uri="{FF2B5EF4-FFF2-40B4-BE49-F238E27FC236}">
                <a16:creationId xmlns:a16="http://schemas.microsoft.com/office/drawing/2014/main" id="{DEDFD4B4-9B7D-A43F-3665-22488E278A66}"/>
              </a:ext>
            </a:extLst>
          </p:cNvPr>
          <p:cNvSpPr/>
          <p:nvPr/>
        </p:nvSpPr>
        <p:spPr>
          <a:xfrm>
            <a:off x="4946520" y="3098307"/>
            <a:ext cx="1525301" cy="339570"/>
          </a:xfrm>
          <a:prstGeom prst="round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Rounded Corners 20">
            <a:extLst>
              <a:ext uri="{FF2B5EF4-FFF2-40B4-BE49-F238E27FC236}">
                <a16:creationId xmlns:a16="http://schemas.microsoft.com/office/drawing/2014/main" id="{01EB122A-4D55-7B34-5477-E251EA7134B2}"/>
              </a:ext>
            </a:extLst>
          </p:cNvPr>
          <p:cNvSpPr/>
          <p:nvPr/>
        </p:nvSpPr>
        <p:spPr>
          <a:xfrm>
            <a:off x="8386596" y="3756734"/>
            <a:ext cx="1822724" cy="339570"/>
          </a:xfrm>
          <a:prstGeom prst="round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24543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0" grpId="0"/>
      <p:bldP spid="13" grpId="0"/>
      <p:bldP spid="20" grpId="0" animBg="1"/>
      <p:bldP spid="21"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C4178-43D4-7318-EDA7-FAFE626DEB82}"/>
              </a:ext>
            </a:extLst>
          </p:cNvPr>
          <p:cNvSpPr>
            <a:spLocks noGrp="1"/>
          </p:cNvSpPr>
          <p:nvPr>
            <p:ph type="title"/>
          </p:nvPr>
        </p:nvSpPr>
        <p:spPr/>
        <p:txBody>
          <a:bodyPr/>
          <a:lstStyle/>
          <a:p>
            <a:r>
              <a:rPr lang="en-US" dirty="0"/>
              <a:t>Problem 9</a:t>
            </a:r>
          </a:p>
        </p:txBody>
      </p:sp>
      <p:sp>
        <p:nvSpPr>
          <p:cNvPr id="6" name="Content Placeholder 2">
            <a:extLst>
              <a:ext uri="{FF2B5EF4-FFF2-40B4-BE49-F238E27FC236}">
                <a16:creationId xmlns:a16="http://schemas.microsoft.com/office/drawing/2014/main" id="{27C41F71-B019-AD32-B212-165385CC4A98}"/>
              </a:ext>
            </a:extLst>
          </p:cNvPr>
          <p:cNvSpPr>
            <a:spLocks noGrp="1"/>
          </p:cNvSpPr>
          <p:nvPr>
            <p:ph idx="1"/>
          </p:nvPr>
        </p:nvSpPr>
        <p:spPr>
          <a:xfrm>
            <a:off x="987902" y="1484747"/>
            <a:ext cx="9647547" cy="3016232"/>
          </a:xfrm>
        </p:spPr>
        <p:txBody>
          <a:bodyPr vert="horz" lIns="91440" tIns="45720" rIns="91440" bIns="45720" rtlCol="0">
            <a:normAutofit/>
          </a:bodyPr>
          <a:lstStyle/>
          <a:p>
            <a:pPr marL="0" indent="0">
              <a:spcBef>
                <a:spcPts val="0"/>
              </a:spcBef>
              <a:buNone/>
            </a:pPr>
            <a:r>
              <a:rPr lang="en-US" sz="2400" dirty="0">
                <a:latin typeface="Times New Roman" panose="02020603050405020304" pitchFamily="18" charset="0"/>
              </a:rPr>
              <a:t>Write a program to convert all uppercase letters to lowercase. </a:t>
            </a:r>
          </a:p>
          <a:p>
            <a:pPr marL="0" indent="0">
              <a:spcBef>
                <a:spcPts val="0"/>
              </a:spcBef>
              <a:buNone/>
            </a:pPr>
            <a:endParaRPr lang="en-US" sz="2400" dirty="0">
              <a:latin typeface="Times New Roman" panose="02020603050405020304" pitchFamily="18" charset="0"/>
            </a:endParaRPr>
          </a:p>
          <a:p>
            <a:pPr marL="0" indent="0">
              <a:spcBef>
                <a:spcPts val="0"/>
              </a:spcBef>
              <a:buNone/>
            </a:pPr>
            <a:r>
              <a:rPr lang="en-US" sz="2400" dirty="0">
                <a:latin typeface="Times New Roman" panose="02020603050405020304" pitchFamily="18" charset="0"/>
              </a:rPr>
              <a:t>.Data</a:t>
            </a:r>
          </a:p>
          <a:p>
            <a:pPr marL="0" indent="0">
              <a:spcBef>
                <a:spcPts val="0"/>
              </a:spcBef>
              <a:buNone/>
            </a:pPr>
            <a:r>
              <a:rPr lang="en-US" sz="2400" dirty="0">
                <a:latin typeface="Times New Roman" panose="02020603050405020304" pitchFamily="18" charset="0"/>
              </a:rPr>
              <a:t>	</a:t>
            </a:r>
            <a:r>
              <a:rPr lang="en-US" sz="2400" dirty="0" err="1">
                <a:latin typeface="Times New Roman" panose="02020603050405020304" pitchFamily="18" charset="0"/>
              </a:rPr>
              <a:t>InputString</a:t>
            </a:r>
            <a:r>
              <a:rPr lang="en-US" sz="2400" dirty="0">
                <a:latin typeface="Times New Roman" panose="02020603050405020304" pitchFamily="18" charset="0"/>
              </a:rPr>
              <a:t>   DB '</a:t>
            </a:r>
            <a:r>
              <a:rPr lang="en-US" sz="2400" dirty="0" err="1">
                <a:latin typeface="Times New Roman" panose="02020603050405020304" pitchFamily="18" charset="0"/>
              </a:rPr>
              <a:t>THis</a:t>
            </a:r>
            <a:r>
              <a:rPr lang="en-US" sz="2400" dirty="0">
                <a:latin typeface="Times New Roman" panose="02020603050405020304" pitchFamily="18" charset="0"/>
              </a:rPr>
              <a:t> </a:t>
            </a:r>
            <a:r>
              <a:rPr lang="en-US" sz="2400" dirty="0" err="1">
                <a:latin typeface="Times New Roman" panose="02020603050405020304" pitchFamily="18" charset="0"/>
              </a:rPr>
              <a:t>iS</a:t>
            </a:r>
            <a:r>
              <a:rPr lang="en-US" sz="2400" dirty="0">
                <a:latin typeface="Times New Roman" panose="02020603050405020304" pitchFamily="18" charset="0"/>
              </a:rPr>
              <a:t> A </a:t>
            </a:r>
            <a:r>
              <a:rPr lang="en-US" sz="2400" dirty="0" err="1">
                <a:latin typeface="Times New Roman" panose="02020603050405020304" pitchFamily="18" charset="0"/>
              </a:rPr>
              <a:t>TEsT</a:t>
            </a:r>
            <a:r>
              <a:rPr lang="en-US" sz="2400" dirty="0">
                <a:latin typeface="Times New Roman" panose="02020603050405020304" pitchFamily="18" charset="0"/>
              </a:rPr>
              <a:t> </a:t>
            </a:r>
            <a:r>
              <a:rPr lang="en-US" sz="2400" dirty="0" err="1">
                <a:latin typeface="Times New Roman" panose="02020603050405020304" pitchFamily="18" charset="0"/>
              </a:rPr>
              <a:t>MESsaGE</a:t>
            </a:r>
            <a:r>
              <a:rPr lang="en-US" sz="2400" dirty="0">
                <a:latin typeface="Times New Roman" panose="02020603050405020304" pitchFamily="18" charset="0"/>
              </a:rPr>
              <a:t>’	</a:t>
            </a:r>
          </a:p>
          <a:p>
            <a:pPr marL="0" indent="0">
              <a:spcBef>
                <a:spcPts val="0"/>
              </a:spcBef>
              <a:buNone/>
            </a:pPr>
            <a:r>
              <a:rPr lang="en-US" sz="2400" dirty="0">
                <a:latin typeface="Times New Roman" panose="02020603050405020304" pitchFamily="18" charset="0"/>
              </a:rPr>
              <a:t>	</a:t>
            </a:r>
            <a:r>
              <a:rPr lang="en-US" sz="2400" dirty="0" err="1">
                <a:latin typeface="Times New Roman" panose="02020603050405020304" pitchFamily="18" charset="0"/>
              </a:rPr>
              <a:t>ResultString</a:t>
            </a:r>
            <a:r>
              <a:rPr lang="en-US" sz="2400" dirty="0">
                <a:latin typeface="Times New Roman" panose="02020603050405020304" pitchFamily="18" charset="0"/>
              </a:rPr>
              <a:t> DB 22 DUP(?)</a:t>
            </a:r>
          </a:p>
        </p:txBody>
      </p:sp>
      <p:sp>
        <p:nvSpPr>
          <p:cNvPr id="7" name="Rectangle 6">
            <a:extLst>
              <a:ext uri="{FF2B5EF4-FFF2-40B4-BE49-F238E27FC236}">
                <a16:creationId xmlns:a16="http://schemas.microsoft.com/office/drawing/2014/main" id="{E1FF1D25-4ED4-8DAC-3C46-076C20A1C157}"/>
              </a:ext>
            </a:extLst>
          </p:cNvPr>
          <p:cNvSpPr/>
          <p:nvPr/>
        </p:nvSpPr>
        <p:spPr>
          <a:xfrm>
            <a:off x="6711518" y="3994951"/>
            <a:ext cx="2175030" cy="6658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Code</a:t>
            </a:r>
          </a:p>
        </p:txBody>
      </p:sp>
    </p:spTree>
    <p:extLst>
      <p:ext uri="{BB962C8B-B14F-4D97-AF65-F5344CB8AC3E}">
        <p14:creationId xmlns:p14="http://schemas.microsoft.com/office/powerpoint/2010/main" val="2862032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C4178-43D4-7318-EDA7-FAFE626DEB82}"/>
              </a:ext>
            </a:extLst>
          </p:cNvPr>
          <p:cNvSpPr>
            <a:spLocks noGrp="1"/>
          </p:cNvSpPr>
          <p:nvPr>
            <p:ph type="title"/>
          </p:nvPr>
        </p:nvSpPr>
        <p:spPr/>
        <p:txBody>
          <a:bodyPr/>
          <a:lstStyle/>
          <a:p>
            <a:r>
              <a:rPr lang="en-US" dirty="0"/>
              <a:t>Problem 10</a:t>
            </a:r>
          </a:p>
        </p:txBody>
      </p:sp>
      <p:sp>
        <p:nvSpPr>
          <p:cNvPr id="6" name="Content Placeholder 2">
            <a:extLst>
              <a:ext uri="{FF2B5EF4-FFF2-40B4-BE49-F238E27FC236}">
                <a16:creationId xmlns:a16="http://schemas.microsoft.com/office/drawing/2014/main" id="{27C41F71-B019-AD32-B212-165385CC4A98}"/>
              </a:ext>
            </a:extLst>
          </p:cNvPr>
          <p:cNvSpPr>
            <a:spLocks noGrp="1"/>
          </p:cNvSpPr>
          <p:nvPr>
            <p:ph idx="1"/>
          </p:nvPr>
        </p:nvSpPr>
        <p:spPr>
          <a:xfrm>
            <a:off x="987902" y="1484747"/>
            <a:ext cx="9647547" cy="3016232"/>
          </a:xfrm>
        </p:spPr>
        <p:txBody>
          <a:bodyPr vert="horz" lIns="91440" tIns="45720" rIns="91440" bIns="45720" rtlCol="0">
            <a:normAutofit/>
          </a:bodyPr>
          <a:lstStyle/>
          <a:p>
            <a:pPr marL="0" indent="0">
              <a:spcBef>
                <a:spcPts val="0"/>
              </a:spcBef>
              <a:buNone/>
            </a:pPr>
            <a:r>
              <a:rPr lang="en-US" sz="2400" dirty="0">
                <a:latin typeface="Times New Roman" panose="02020603050405020304" pitchFamily="18" charset="0"/>
              </a:rPr>
              <a:t>An instructor named Mr. Mo </a:t>
            </a:r>
            <a:r>
              <a:rPr lang="en-US" sz="2400" dirty="0" err="1">
                <a:latin typeface="Times New Roman" panose="02020603050405020304" pitchFamily="18" charset="0"/>
              </a:rPr>
              <a:t>Allem</a:t>
            </a:r>
            <a:r>
              <a:rPr lang="en-US" sz="2400" dirty="0">
                <a:latin typeface="Times New Roman" panose="02020603050405020304" pitchFamily="18" charset="0"/>
              </a:rPr>
              <a:t> has the following grading policy: "Curving of grades is achieved by adding to every grade the difference between 99 and the highest grade in the class." If the following are the grades of the class, write a program to calculate the grades after they have been curved: 81, 65, 77, 82, 73, 55, 88, 78, 51, 91, 86, 76. Your program should work for any set of grades.</a:t>
            </a:r>
          </a:p>
        </p:txBody>
      </p:sp>
      <p:sp>
        <p:nvSpPr>
          <p:cNvPr id="7" name="Rectangle 6">
            <a:extLst>
              <a:ext uri="{FF2B5EF4-FFF2-40B4-BE49-F238E27FC236}">
                <a16:creationId xmlns:a16="http://schemas.microsoft.com/office/drawing/2014/main" id="{E1FF1D25-4ED4-8DAC-3C46-076C20A1C157}"/>
              </a:ext>
            </a:extLst>
          </p:cNvPr>
          <p:cNvSpPr/>
          <p:nvPr/>
        </p:nvSpPr>
        <p:spPr>
          <a:xfrm>
            <a:off x="6711518" y="3994951"/>
            <a:ext cx="2175030" cy="6658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Code</a:t>
            </a:r>
          </a:p>
        </p:txBody>
      </p:sp>
    </p:spTree>
    <p:extLst>
      <p:ext uri="{BB962C8B-B14F-4D97-AF65-F5344CB8AC3E}">
        <p14:creationId xmlns:p14="http://schemas.microsoft.com/office/powerpoint/2010/main" val="10576666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534</TotalTime>
  <Words>2311</Words>
  <Application>Microsoft Office PowerPoint</Application>
  <PresentationFormat>Widescreen</PresentationFormat>
  <Paragraphs>420</Paragraphs>
  <Slides>51</Slides>
  <Notes>12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51</vt:i4>
      </vt:variant>
    </vt:vector>
  </HeadingPairs>
  <TitlesOfParts>
    <vt:vector size="62" baseType="lpstr">
      <vt:lpstr>Arial</vt:lpstr>
      <vt:lpstr>Bebas Neue</vt:lpstr>
      <vt:lpstr>Calibri</vt:lpstr>
      <vt:lpstr>Century Gothic</vt:lpstr>
      <vt:lpstr>Courier New</vt:lpstr>
      <vt:lpstr>Didact Gothic</vt:lpstr>
      <vt:lpstr>hack</vt:lpstr>
      <vt:lpstr>Roboto Condensed Light</vt:lpstr>
      <vt:lpstr>Times New Roman</vt:lpstr>
      <vt:lpstr>Wingdings 3</vt:lpstr>
      <vt:lpstr>Ion</vt:lpstr>
      <vt:lpstr>8086 Assembly</vt:lpstr>
      <vt:lpstr>Program Structure</vt:lpstr>
      <vt:lpstr>Variables</vt:lpstr>
      <vt:lpstr>Arrays</vt:lpstr>
      <vt:lpstr>Interrupts</vt:lpstr>
      <vt:lpstr>Macro</vt:lpstr>
      <vt:lpstr>Macro</vt:lpstr>
      <vt:lpstr>Procedures</vt:lpstr>
      <vt:lpstr>CALL &amp; RET</vt:lpstr>
      <vt:lpstr>Problem 1</vt:lpstr>
      <vt:lpstr>Problem 2</vt:lpstr>
      <vt:lpstr>Problem 3</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Problem 3</vt:lpstr>
      <vt:lpstr>Problem 4</vt:lpstr>
      <vt:lpstr>PowerPoint Presentation</vt:lpstr>
      <vt:lpstr>PowerPoint Presentation</vt:lpstr>
      <vt:lpstr>PowerPoint Presentation</vt:lpstr>
      <vt:lpstr>Problem 5</vt:lpstr>
      <vt:lpstr>Problem 5</vt:lpstr>
      <vt:lpstr>Problem 5</vt:lpstr>
      <vt:lpstr>Problem 5</vt:lpstr>
      <vt:lpstr>Problem 5</vt:lpstr>
      <vt:lpstr>Problem 5</vt:lpstr>
      <vt:lpstr>Problem 6</vt:lpstr>
      <vt:lpstr>Problem 6</vt:lpstr>
      <vt:lpstr>Problem 6</vt:lpstr>
      <vt:lpstr>Problem 6</vt:lpstr>
      <vt:lpstr>Problem 6</vt:lpstr>
      <vt:lpstr>Problem 6</vt:lpstr>
      <vt:lpstr>Problem 6</vt:lpstr>
      <vt:lpstr>Problem 6</vt:lpstr>
      <vt:lpstr>Problem 7</vt:lpstr>
      <vt:lpstr>Problem 7</vt:lpstr>
      <vt:lpstr>Problem 7</vt:lpstr>
      <vt:lpstr>Problem 7</vt:lpstr>
      <vt:lpstr>Problem 7</vt:lpstr>
      <vt:lpstr>Problem 7</vt:lpstr>
      <vt:lpstr>Problem 7</vt:lpstr>
      <vt:lpstr>Problem 7</vt:lpstr>
      <vt:lpstr>Problem 8</vt:lpstr>
      <vt:lpstr>Problem 9</vt:lpstr>
      <vt:lpstr>Problem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Microprocessor Systems</dc:title>
  <dc:creator>Peter</dc:creator>
  <cp:lastModifiedBy>Peter</cp:lastModifiedBy>
  <cp:revision>166</cp:revision>
  <dcterms:created xsi:type="dcterms:W3CDTF">2025-03-03T11:31:11Z</dcterms:created>
  <dcterms:modified xsi:type="dcterms:W3CDTF">2026-03-16T14:45:02Z</dcterms:modified>
</cp:coreProperties>
</file>