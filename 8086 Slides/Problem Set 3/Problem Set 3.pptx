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67" r:id="rId3"/>
    <p:sldId id="268" r:id="rId4"/>
    <p:sldId id="269" r:id="rId5"/>
    <p:sldId id="270" r:id="rId6"/>
    <p:sldId id="271" r:id="rId7"/>
    <p:sldId id="272" r:id="rId8"/>
    <p:sldId id="257" r:id="rId9"/>
    <p:sldId id="265" r:id="rId10"/>
    <p:sldId id="258" r:id="rId11"/>
    <p:sldId id="259" r:id="rId12"/>
    <p:sldId id="262" r:id="rId13"/>
    <p:sldId id="266" r:id="rId14"/>
    <p:sldId id="260" r:id="rId15"/>
    <p:sldId id="264" r:id="rId16"/>
    <p:sldId id="26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5B935-A599-492C-90EA-8DCFE8E1808F}"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6C930-C5C0-43A6-8398-BFE835322519}" type="slidenum">
              <a:rPr lang="en-US" smtClean="0"/>
              <a:t>‹#›</a:t>
            </a:fld>
            <a:endParaRPr lang="en-US"/>
          </a:p>
        </p:txBody>
      </p:sp>
    </p:spTree>
    <p:extLst>
      <p:ext uri="{BB962C8B-B14F-4D97-AF65-F5344CB8AC3E}">
        <p14:creationId xmlns:p14="http://schemas.microsoft.com/office/powerpoint/2010/main" val="1448273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027337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561746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4012306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53479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3114EB-0FAB-4E01-854D-9FC43738702D}"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107707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700470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96568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710974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82903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114EB-0FAB-4E01-854D-9FC43738702D}"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036678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73272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71973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851046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380573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556924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2065552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3114EB-0FAB-4E01-854D-9FC43738702D}"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DB786919-A39C-459D-B613-B42A99F8B066}" type="slidenum">
              <a:rPr lang="en-US" smtClean="0"/>
              <a:t>‹#›</a:t>
            </a:fld>
            <a:endParaRPr lang="en-US"/>
          </a:p>
        </p:txBody>
      </p:sp>
    </p:spTree>
    <p:extLst>
      <p:ext uri="{BB962C8B-B14F-4D97-AF65-F5344CB8AC3E}">
        <p14:creationId xmlns:p14="http://schemas.microsoft.com/office/powerpoint/2010/main" val="153357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23114EB-0FAB-4E01-854D-9FC43738702D}" type="datetimeFigureOut">
              <a:rPr lang="en-US" smtClean="0"/>
              <a:t>3/16/2026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Tree>
    <p:extLst>
      <p:ext uri="{BB962C8B-B14F-4D97-AF65-F5344CB8AC3E}">
        <p14:creationId xmlns:p14="http://schemas.microsoft.com/office/powerpoint/2010/main" val="131756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ircuit board">
            <a:extLst>
              <a:ext uri="{FF2B5EF4-FFF2-40B4-BE49-F238E27FC236}">
                <a16:creationId xmlns:a16="http://schemas.microsoft.com/office/drawing/2014/main" id="{A139660C-237F-C86E-9138-037A1A8FEBFC}"/>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406DFD7E-9621-250E-61FA-D33C63991B29}"/>
              </a:ext>
            </a:extLst>
          </p:cNvPr>
          <p:cNvSpPr>
            <a:spLocks noGrp="1"/>
          </p:cNvSpPr>
          <p:nvPr>
            <p:ph type="ctrTitle"/>
          </p:nvPr>
        </p:nvSpPr>
        <p:spPr>
          <a:xfrm>
            <a:off x="1154955" y="1447800"/>
            <a:ext cx="8825658" cy="3329581"/>
          </a:xfrm>
        </p:spPr>
        <p:txBody>
          <a:bodyPr>
            <a:normAutofit/>
          </a:bodyPr>
          <a:lstStyle/>
          <a:p>
            <a:r>
              <a:rPr lang="en-US" dirty="0">
                <a:solidFill>
                  <a:schemeClr val="tx1"/>
                </a:solidFill>
              </a:rPr>
              <a:t>8086 Assembly</a:t>
            </a:r>
          </a:p>
        </p:txBody>
      </p:sp>
      <p:sp>
        <p:nvSpPr>
          <p:cNvPr id="3" name="Subtitle 2">
            <a:extLst>
              <a:ext uri="{FF2B5EF4-FFF2-40B4-BE49-F238E27FC236}">
                <a16:creationId xmlns:a16="http://schemas.microsoft.com/office/drawing/2014/main" id="{4C5168E7-6B95-D696-897C-0898DF7A5467}"/>
              </a:ext>
            </a:extLst>
          </p:cNvPr>
          <p:cNvSpPr>
            <a:spLocks noGrp="1"/>
          </p:cNvSpPr>
          <p:nvPr>
            <p:ph type="subTitle" idx="1"/>
          </p:nvPr>
        </p:nvSpPr>
        <p:spPr>
          <a:xfrm>
            <a:off x="1154955" y="4777380"/>
            <a:ext cx="8825658" cy="861420"/>
          </a:xfrm>
        </p:spPr>
        <p:txBody>
          <a:bodyPr>
            <a:normAutofit/>
          </a:bodyPr>
          <a:lstStyle/>
          <a:p>
            <a:r>
              <a:rPr lang="en-US" dirty="0">
                <a:solidFill>
                  <a:schemeClr val="tx1"/>
                </a:solidFill>
              </a:rPr>
              <a:t>Problem Set 3</a:t>
            </a: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931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4" name="TextBox 3">
            <a:extLst>
              <a:ext uri="{FF2B5EF4-FFF2-40B4-BE49-F238E27FC236}">
                <a16:creationId xmlns:a16="http://schemas.microsoft.com/office/drawing/2014/main" id="{74EF1AF0-692C-5E47-6E1D-72DE852F880A}"/>
              </a:ext>
            </a:extLst>
          </p:cNvPr>
          <p:cNvSpPr txBox="1"/>
          <p:nvPr/>
        </p:nvSpPr>
        <p:spPr>
          <a:xfrm>
            <a:off x="719091" y="1296140"/>
            <a:ext cx="10537794" cy="461665"/>
          </a:xfrm>
          <a:prstGeom prst="rect">
            <a:avLst/>
          </a:prstGeom>
          <a:noFill/>
        </p:spPr>
        <p:txBody>
          <a:bodyPr wrap="square" rtlCol="0">
            <a:spAutoFit/>
          </a:bodyPr>
          <a:lstStyle/>
          <a:p>
            <a:r>
              <a:rPr lang="en-US" sz="2400" dirty="0"/>
              <a:t>Print a String</a:t>
            </a:r>
          </a:p>
        </p:txBody>
      </p:sp>
      <p:pic>
        <p:nvPicPr>
          <p:cNvPr id="10" name="Picture 9">
            <a:extLst>
              <a:ext uri="{FF2B5EF4-FFF2-40B4-BE49-F238E27FC236}">
                <a16:creationId xmlns:a16="http://schemas.microsoft.com/office/drawing/2014/main" id="{53099860-298D-C212-5A0B-E84318AC129F}"/>
              </a:ext>
            </a:extLst>
          </p:cNvPr>
          <p:cNvPicPr>
            <a:picLocks noChangeAspect="1"/>
          </p:cNvPicPr>
          <p:nvPr/>
        </p:nvPicPr>
        <p:blipFill>
          <a:blip r:embed="rId2"/>
          <a:stretch>
            <a:fillRect/>
          </a:stretch>
        </p:blipFill>
        <p:spPr>
          <a:xfrm>
            <a:off x="3119022" y="2451373"/>
            <a:ext cx="5953956" cy="581106"/>
          </a:xfrm>
          <a:prstGeom prst="rect">
            <a:avLst/>
          </a:prstGeom>
        </p:spPr>
      </p:pic>
      <p:sp>
        <p:nvSpPr>
          <p:cNvPr id="12" name="Content Placeholder 2">
            <a:extLst>
              <a:ext uri="{FF2B5EF4-FFF2-40B4-BE49-F238E27FC236}">
                <a16:creationId xmlns:a16="http://schemas.microsoft.com/office/drawing/2014/main" id="{9F263487-D2C5-F8BB-86C3-F1D8B7928B68}"/>
              </a:ext>
            </a:extLst>
          </p:cNvPr>
          <p:cNvSpPr>
            <a:spLocks noGrp="1"/>
          </p:cNvSpPr>
          <p:nvPr>
            <p:ph idx="1"/>
          </p:nvPr>
        </p:nvSpPr>
        <p:spPr>
          <a:xfrm>
            <a:off x="1104293" y="1875895"/>
            <a:ext cx="8946541" cy="548309"/>
          </a:xfrm>
        </p:spPr>
        <p:txBody>
          <a:bodyPr/>
          <a:lstStyle/>
          <a:p>
            <a:r>
              <a:rPr lang="en-US" dirty="0"/>
              <a:t>Define The String and It Must End With </a:t>
            </a:r>
            <a:r>
              <a:rPr lang="en-US" dirty="0">
                <a:solidFill>
                  <a:schemeClr val="accent3">
                    <a:lumMod val="60000"/>
                    <a:lumOff val="40000"/>
                  </a:schemeClr>
                </a:solidFill>
              </a:rPr>
              <a:t>$</a:t>
            </a:r>
          </a:p>
        </p:txBody>
      </p:sp>
      <p:sp>
        <p:nvSpPr>
          <p:cNvPr id="13" name="Content Placeholder 2">
            <a:extLst>
              <a:ext uri="{FF2B5EF4-FFF2-40B4-BE49-F238E27FC236}">
                <a16:creationId xmlns:a16="http://schemas.microsoft.com/office/drawing/2014/main" id="{F0BE1140-3603-4D2E-6B6C-D1B66B6FFEFC}"/>
              </a:ext>
            </a:extLst>
          </p:cNvPr>
          <p:cNvSpPr txBox="1">
            <a:spLocks/>
          </p:cNvSpPr>
          <p:nvPr/>
        </p:nvSpPr>
        <p:spPr>
          <a:xfrm>
            <a:off x="1104293" y="3277213"/>
            <a:ext cx="8946541" cy="5483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Load The String Location</a:t>
            </a:r>
            <a:endParaRPr lang="en-US" dirty="0">
              <a:solidFill>
                <a:schemeClr val="accent3">
                  <a:lumMod val="60000"/>
                  <a:lumOff val="40000"/>
                </a:schemeClr>
              </a:solidFill>
            </a:endParaRPr>
          </a:p>
        </p:txBody>
      </p:sp>
      <p:pic>
        <p:nvPicPr>
          <p:cNvPr id="15" name="Picture 14">
            <a:extLst>
              <a:ext uri="{FF2B5EF4-FFF2-40B4-BE49-F238E27FC236}">
                <a16:creationId xmlns:a16="http://schemas.microsoft.com/office/drawing/2014/main" id="{CD987567-0E25-E32A-4E6F-FA630524F95D}"/>
              </a:ext>
            </a:extLst>
          </p:cNvPr>
          <p:cNvPicPr>
            <a:picLocks noChangeAspect="1"/>
          </p:cNvPicPr>
          <p:nvPr/>
        </p:nvPicPr>
        <p:blipFill rotWithShape="1">
          <a:blip r:embed="rId3"/>
          <a:srcRect l="3078"/>
          <a:stretch/>
        </p:blipFill>
        <p:spPr>
          <a:xfrm>
            <a:off x="4535594" y="3885488"/>
            <a:ext cx="3120810" cy="733527"/>
          </a:xfrm>
          <a:prstGeom prst="rect">
            <a:avLst/>
          </a:prstGeom>
        </p:spPr>
      </p:pic>
      <p:sp>
        <p:nvSpPr>
          <p:cNvPr id="16" name="Content Placeholder 2">
            <a:extLst>
              <a:ext uri="{FF2B5EF4-FFF2-40B4-BE49-F238E27FC236}">
                <a16:creationId xmlns:a16="http://schemas.microsoft.com/office/drawing/2014/main" id="{1AF68CE9-CA6F-8EDC-34D0-75062F52CDFF}"/>
              </a:ext>
            </a:extLst>
          </p:cNvPr>
          <p:cNvSpPr txBox="1">
            <a:spLocks/>
          </p:cNvSpPr>
          <p:nvPr/>
        </p:nvSpPr>
        <p:spPr>
          <a:xfrm>
            <a:off x="1104292" y="4790529"/>
            <a:ext cx="8946541" cy="5483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Call The Interrupt</a:t>
            </a:r>
            <a:endParaRPr lang="en-US" dirty="0">
              <a:solidFill>
                <a:schemeClr val="accent3">
                  <a:lumMod val="60000"/>
                  <a:lumOff val="40000"/>
                </a:schemeClr>
              </a:solidFill>
            </a:endParaRPr>
          </a:p>
        </p:txBody>
      </p:sp>
      <p:pic>
        <p:nvPicPr>
          <p:cNvPr id="18" name="Picture 17">
            <a:extLst>
              <a:ext uri="{FF2B5EF4-FFF2-40B4-BE49-F238E27FC236}">
                <a16:creationId xmlns:a16="http://schemas.microsoft.com/office/drawing/2014/main" id="{DA45A8F3-A107-65ED-AEE9-D6B20A0499E2}"/>
              </a:ext>
            </a:extLst>
          </p:cNvPr>
          <p:cNvPicPr>
            <a:picLocks noChangeAspect="1"/>
          </p:cNvPicPr>
          <p:nvPr/>
        </p:nvPicPr>
        <p:blipFill>
          <a:blip r:embed="rId4"/>
          <a:stretch>
            <a:fillRect/>
          </a:stretch>
        </p:blipFill>
        <p:spPr>
          <a:xfrm>
            <a:off x="4585139" y="5214331"/>
            <a:ext cx="3021720" cy="755429"/>
          </a:xfrm>
          <a:prstGeom prst="rect">
            <a:avLst/>
          </a:prstGeom>
        </p:spPr>
      </p:pic>
      <p:sp>
        <p:nvSpPr>
          <p:cNvPr id="19" name="Rectangle 18">
            <a:extLst>
              <a:ext uri="{FF2B5EF4-FFF2-40B4-BE49-F238E27FC236}">
                <a16:creationId xmlns:a16="http://schemas.microsoft.com/office/drawing/2014/main" id="{E481179B-6F80-8F98-D550-0EF48B698784}"/>
              </a:ext>
            </a:extLst>
          </p:cNvPr>
          <p:cNvSpPr/>
          <p:nvPr/>
        </p:nvSpPr>
        <p:spPr>
          <a:xfrm>
            <a:off x="6096001" y="2556769"/>
            <a:ext cx="207146" cy="3906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291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4" name="TextBox 3">
            <a:extLst>
              <a:ext uri="{FF2B5EF4-FFF2-40B4-BE49-F238E27FC236}">
                <a16:creationId xmlns:a16="http://schemas.microsoft.com/office/drawing/2014/main" id="{74EF1AF0-692C-5E47-6E1D-72DE852F880A}"/>
              </a:ext>
            </a:extLst>
          </p:cNvPr>
          <p:cNvSpPr txBox="1"/>
          <p:nvPr/>
        </p:nvSpPr>
        <p:spPr>
          <a:xfrm>
            <a:off x="719091" y="1296140"/>
            <a:ext cx="10537794" cy="461665"/>
          </a:xfrm>
          <a:prstGeom prst="rect">
            <a:avLst/>
          </a:prstGeom>
          <a:noFill/>
        </p:spPr>
        <p:txBody>
          <a:bodyPr wrap="square" rtlCol="0">
            <a:spAutoFit/>
          </a:bodyPr>
          <a:lstStyle/>
          <a:p>
            <a:r>
              <a:rPr lang="en-US" sz="2400" dirty="0"/>
              <a:t>Input a String</a:t>
            </a:r>
          </a:p>
        </p:txBody>
      </p:sp>
      <p:sp>
        <p:nvSpPr>
          <p:cNvPr id="12" name="Content Placeholder 2">
            <a:extLst>
              <a:ext uri="{FF2B5EF4-FFF2-40B4-BE49-F238E27FC236}">
                <a16:creationId xmlns:a16="http://schemas.microsoft.com/office/drawing/2014/main" id="{9F263487-D2C5-F8BB-86C3-F1D8B7928B68}"/>
              </a:ext>
            </a:extLst>
          </p:cNvPr>
          <p:cNvSpPr>
            <a:spLocks noGrp="1"/>
          </p:cNvSpPr>
          <p:nvPr>
            <p:ph idx="1"/>
          </p:nvPr>
        </p:nvSpPr>
        <p:spPr>
          <a:xfrm>
            <a:off x="1104293" y="1875895"/>
            <a:ext cx="8946541" cy="548309"/>
          </a:xfrm>
        </p:spPr>
        <p:txBody>
          <a:bodyPr>
            <a:normAutofit fontScale="92500"/>
          </a:bodyPr>
          <a:lstStyle/>
          <a:p>
            <a:r>
              <a:rPr lang="en-US" dirty="0"/>
              <a:t>Define The </a:t>
            </a:r>
            <a:r>
              <a:rPr lang="en-US" dirty="0">
                <a:solidFill>
                  <a:schemeClr val="accent3">
                    <a:lumMod val="60000"/>
                    <a:lumOff val="40000"/>
                  </a:schemeClr>
                </a:solidFill>
              </a:rPr>
              <a:t>Buffer</a:t>
            </a:r>
            <a:r>
              <a:rPr lang="en-US" dirty="0"/>
              <a:t> and It Must Start With </a:t>
            </a:r>
            <a:r>
              <a:rPr lang="en-US" dirty="0">
                <a:solidFill>
                  <a:schemeClr val="accent3">
                    <a:lumMod val="60000"/>
                    <a:lumOff val="40000"/>
                  </a:schemeClr>
                </a:solidFill>
              </a:rPr>
              <a:t>Buffer Size Byte </a:t>
            </a:r>
            <a:r>
              <a:rPr lang="en-US" dirty="0"/>
              <a:t>then </a:t>
            </a:r>
            <a:r>
              <a:rPr lang="en-US" dirty="0">
                <a:solidFill>
                  <a:schemeClr val="accent3">
                    <a:lumMod val="60000"/>
                    <a:lumOff val="40000"/>
                  </a:schemeClr>
                </a:solidFill>
              </a:rPr>
              <a:t>Empty Byte</a:t>
            </a:r>
          </a:p>
        </p:txBody>
      </p:sp>
      <p:pic>
        <p:nvPicPr>
          <p:cNvPr id="5" name="Picture 4">
            <a:extLst>
              <a:ext uri="{FF2B5EF4-FFF2-40B4-BE49-F238E27FC236}">
                <a16:creationId xmlns:a16="http://schemas.microsoft.com/office/drawing/2014/main" id="{8D1695D8-F247-20AE-10EC-EC736BCA538A}"/>
              </a:ext>
            </a:extLst>
          </p:cNvPr>
          <p:cNvPicPr>
            <a:picLocks noChangeAspect="1"/>
          </p:cNvPicPr>
          <p:nvPr/>
        </p:nvPicPr>
        <p:blipFill>
          <a:blip r:embed="rId2"/>
          <a:stretch>
            <a:fillRect/>
          </a:stretch>
        </p:blipFill>
        <p:spPr>
          <a:xfrm>
            <a:off x="3185705" y="2491332"/>
            <a:ext cx="5820587" cy="514422"/>
          </a:xfrm>
          <a:prstGeom prst="rect">
            <a:avLst/>
          </a:prstGeom>
        </p:spPr>
      </p:pic>
      <p:sp>
        <p:nvSpPr>
          <p:cNvPr id="6" name="Rectangle 5">
            <a:extLst>
              <a:ext uri="{FF2B5EF4-FFF2-40B4-BE49-F238E27FC236}">
                <a16:creationId xmlns:a16="http://schemas.microsoft.com/office/drawing/2014/main" id="{35D07678-E005-F528-EDDC-3F3EF7C0ADEB}"/>
              </a:ext>
            </a:extLst>
          </p:cNvPr>
          <p:cNvSpPr/>
          <p:nvPr/>
        </p:nvSpPr>
        <p:spPr>
          <a:xfrm>
            <a:off x="4634143" y="2542724"/>
            <a:ext cx="275208" cy="3906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5A450B-B39A-EA2D-13C5-3F90744BC1BD}"/>
              </a:ext>
            </a:extLst>
          </p:cNvPr>
          <p:cNvSpPr/>
          <p:nvPr/>
        </p:nvSpPr>
        <p:spPr>
          <a:xfrm>
            <a:off x="5153166" y="2542722"/>
            <a:ext cx="275208" cy="3906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53C94A-1B69-5ECD-4443-7AF10772CB01}"/>
              </a:ext>
            </a:extLst>
          </p:cNvPr>
          <p:cNvSpPr/>
          <p:nvPr/>
        </p:nvSpPr>
        <p:spPr>
          <a:xfrm>
            <a:off x="5672188" y="2542723"/>
            <a:ext cx="1091439" cy="39061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1A67AA57-9D1A-86C8-09A1-F46E6C906EDF}"/>
              </a:ext>
            </a:extLst>
          </p:cNvPr>
          <p:cNvSpPr/>
          <p:nvPr/>
        </p:nvSpPr>
        <p:spPr>
          <a:xfrm rot="19703304">
            <a:off x="3766461" y="3112167"/>
            <a:ext cx="772812" cy="3195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0E9CE138-E7B8-EDD6-5ACA-0DB530C9FE32}"/>
              </a:ext>
            </a:extLst>
          </p:cNvPr>
          <p:cNvSpPr/>
          <p:nvPr/>
        </p:nvSpPr>
        <p:spPr>
          <a:xfrm rot="16200000">
            <a:off x="4957017" y="3206523"/>
            <a:ext cx="618355" cy="3195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0B8E8905-AE47-7825-35BF-BD6D092454E7}"/>
              </a:ext>
            </a:extLst>
          </p:cNvPr>
          <p:cNvSpPr/>
          <p:nvPr/>
        </p:nvSpPr>
        <p:spPr>
          <a:xfrm rot="14654124">
            <a:off x="5997204" y="3134662"/>
            <a:ext cx="647712" cy="3195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BAC121-029A-9097-F1C2-F11B5613F6E0}"/>
              </a:ext>
            </a:extLst>
          </p:cNvPr>
          <p:cNvSpPr/>
          <p:nvPr/>
        </p:nvSpPr>
        <p:spPr>
          <a:xfrm>
            <a:off x="2503503" y="3610592"/>
            <a:ext cx="1890944" cy="5483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Buffer Size</a:t>
            </a:r>
          </a:p>
        </p:txBody>
      </p:sp>
      <p:sp>
        <p:nvSpPr>
          <p:cNvPr id="21" name="Rectangle 20">
            <a:extLst>
              <a:ext uri="{FF2B5EF4-FFF2-40B4-BE49-F238E27FC236}">
                <a16:creationId xmlns:a16="http://schemas.microsoft.com/office/drawing/2014/main" id="{A2FA2748-412D-6A25-9E74-D5616556DF95}"/>
              </a:ext>
            </a:extLst>
          </p:cNvPr>
          <p:cNvSpPr/>
          <p:nvPr/>
        </p:nvSpPr>
        <p:spPr>
          <a:xfrm>
            <a:off x="4583704" y="3839551"/>
            <a:ext cx="1404284" cy="19398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will put input</a:t>
            </a:r>
          </a:p>
          <a:p>
            <a:pPr algn="ctr"/>
            <a:r>
              <a:rPr lang="en-US" dirty="0"/>
              <a:t>string length here</a:t>
            </a:r>
          </a:p>
        </p:txBody>
      </p:sp>
      <p:sp>
        <p:nvSpPr>
          <p:cNvPr id="23" name="Rectangle 22">
            <a:extLst>
              <a:ext uri="{FF2B5EF4-FFF2-40B4-BE49-F238E27FC236}">
                <a16:creationId xmlns:a16="http://schemas.microsoft.com/office/drawing/2014/main" id="{E7985E0F-F957-F23D-BFD5-F00E0DF5BA44}"/>
              </a:ext>
            </a:extLst>
          </p:cNvPr>
          <p:cNvSpPr/>
          <p:nvPr/>
        </p:nvSpPr>
        <p:spPr>
          <a:xfrm>
            <a:off x="6217907" y="3732927"/>
            <a:ext cx="1890944" cy="5483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Buffer Itself</a:t>
            </a:r>
          </a:p>
        </p:txBody>
      </p:sp>
    </p:spTree>
    <p:extLst>
      <p:ext uri="{BB962C8B-B14F-4D97-AF65-F5344CB8AC3E}">
        <p14:creationId xmlns:p14="http://schemas.microsoft.com/office/powerpoint/2010/main" val="4227832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13" name="Content Placeholder 2">
            <a:extLst>
              <a:ext uri="{FF2B5EF4-FFF2-40B4-BE49-F238E27FC236}">
                <a16:creationId xmlns:a16="http://schemas.microsoft.com/office/drawing/2014/main" id="{F0BE1140-3603-4D2E-6B6C-D1B66B6FFEFC}"/>
              </a:ext>
            </a:extLst>
          </p:cNvPr>
          <p:cNvSpPr txBox="1">
            <a:spLocks/>
          </p:cNvSpPr>
          <p:nvPr/>
        </p:nvSpPr>
        <p:spPr>
          <a:xfrm>
            <a:off x="1104293" y="1936681"/>
            <a:ext cx="8946541" cy="5483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Load The </a:t>
            </a:r>
            <a:r>
              <a:rPr lang="en-US" dirty="0">
                <a:solidFill>
                  <a:schemeClr val="accent3">
                    <a:lumMod val="60000"/>
                    <a:lumOff val="40000"/>
                  </a:schemeClr>
                </a:solidFill>
              </a:rPr>
              <a:t>Buffer</a:t>
            </a:r>
            <a:r>
              <a:rPr lang="en-US" dirty="0"/>
              <a:t> Location</a:t>
            </a:r>
            <a:endParaRPr lang="en-US" dirty="0">
              <a:solidFill>
                <a:schemeClr val="accent3">
                  <a:lumMod val="60000"/>
                  <a:lumOff val="40000"/>
                </a:schemeClr>
              </a:solidFill>
            </a:endParaRPr>
          </a:p>
        </p:txBody>
      </p:sp>
      <p:sp>
        <p:nvSpPr>
          <p:cNvPr id="16" name="Content Placeholder 2">
            <a:extLst>
              <a:ext uri="{FF2B5EF4-FFF2-40B4-BE49-F238E27FC236}">
                <a16:creationId xmlns:a16="http://schemas.microsoft.com/office/drawing/2014/main" id="{1AF68CE9-CA6F-8EDC-34D0-75062F52CDFF}"/>
              </a:ext>
            </a:extLst>
          </p:cNvPr>
          <p:cNvSpPr txBox="1">
            <a:spLocks/>
          </p:cNvSpPr>
          <p:nvPr/>
        </p:nvSpPr>
        <p:spPr>
          <a:xfrm>
            <a:off x="1104292" y="3056133"/>
            <a:ext cx="8946541" cy="5483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Call The Interrupt</a:t>
            </a:r>
            <a:endParaRPr lang="en-US" dirty="0">
              <a:solidFill>
                <a:schemeClr val="accent3">
                  <a:lumMod val="60000"/>
                  <a:lumOff val="40000"/>
                </a:schemeClr>
              </a:solidFill>
            </a:endParaRPr>
          </a:p>
        </p:txBody>
      </p:sp>
      <p:sp>
        <p:nvSpPr>
          <p:cNvPr id="8" name="TextBox 7">
            <a:extLst>
              <a:ext uri="{FF2B5EF4-FFF2-40B4-BE49-F238E27FC236}">
                <a16:creationId xmlns:a16="http://schemas.microsoft.com/office/drawing/2014/main" id="{9FACB97B-5101-B65C-A0C9-F5369DB68FE1}"/>
              </a:ext>
            </a:extLst>
          </p:cNvPr>
          <p:cNvSpPr txBox="1"/>
          <p:nvPr/>
        </p:nvSpPr>
        <p:spPr>
          <a:xfrm>
            <a:off x="719091" y="1296140"/>
            <a:ext cx="10537794" cy="461665"/>
          </a:xfrm>
          <a:prstGeom prst="rect">
            <a:avLst/>
          </a:prstGeom>
          <a:noFill/>
        </p:spPr>
        <p:txBody>
          <a:bodyPr wrap="square" rtlCol="0">
            <a:spAutoFit/>
          </a:bodyPr>
          <a:lstStyle/>
          <a:p>
            <a:r>
              <a:rPr lang="en-US" sz="2400" dirty="0"/>
              <a:t>Input a String – Cont.</a:t>
            </a:r>
          </a:p>
        </p:txBody>
      </p:sp>
      <p:pic>
        <p:nvPicPr>
          <p:cNvPr id="17" name="Picture 16">
            <a:extLst>
              <a:ext uri="{FF2B5EF4-FFF2-40B4-BE49-F238E27FC236}">
                <a16:creationId xmlns:a16="http://schemas.microsoft.com/office/drawing/2014/main" id="{019326CA-A458-2FA5-9D1C-1DA6EE3CC8E8}"/>
              </a:ext>
            </a:extLst>
          </p:cNvPr>
          <p:cNvPicPr>
            <a:picLocks noChangeAspect="1"/>
          </p:cNvPicPr>
          <p:nvPr/>
        </p:nvPicPr>
        <p:blipFill>
          <a:blip r:embed="rId2"/>
          <a:stretch>
            <a:fillRect/>
          </a:stretch>
        </p:blipFill>
        <p:spPr>
          <a:xfrm>
            <a:off x="3495312" y="2426450"/>
            <a:ext cx="5201376" cy="657317"/>
          </a:xfrm>
          <a:prstGeom prst="rect">
            <a:avLst/>
          </a:prstGeom>
        </p:spPr>
      </p:pic>
      <p:pic>
        <p:nvPicPr>
          <p:cNvPr id="21" name="Picture 20">
            <a:extLst>
              <a:ext uri="{FF2B5EF4-FFF2-40B4-BE49-F238E27FC236}">
                <a16:creationId xmlns:a16="http://schemas.microsoft.com/office/drawing/2014/main" id="{133245E0-57DF-5ED8-4193-73EFA75357AC}"/>
              </a:ext>
            </a:extLst>
          </p:cNvPr>
          <p:cNvPicPr>
            <a:picLocks noChangeAspect="1"/>
          </p:cNvPicPr>
          <p:nvPr/>
        </p:nvPicPr>
        <p:blipFill>
          <a:blip r:embed="rId3"/>
          <a:stretch>
            <a:fillRect/>
          </a:stretch>
        </p:blipFill>
        <p:spPr>
          <a:xfrm>
            <a:off x="4709919" y="3262811"/>
            <a:ext cx="2772162" cy="638264"/>
          </a:xfrm>
          <a:prstGeom prst="rect">
            <a:avLst/>
          </a:prstGeom>
        </p:spPr>
      </p:pic>
      <p:sp>
        <p:nvSpPr>
          <p:cNvPr id="24" name="TextBox 23">
            <a:extLst>
              <a:ext uri="{FF2B5EF4-FFF2-40B4-BE49-F238E27FC236}">
                <a16:creationId xmlns:a16="http://schemas.microsoft.com/office/drawing/2014/main" id="{8FC2F72C-F024-3F46-B14A-C242249ED478}"/>
              </a:ext>
            </a:extLst>
          </p:cNvPr>
          <p:cNvSpPr txBox="1"/>
          <p:nvPr/>
        </p:nvSpPr>
        <p:spPr>
          <a:xfrm>
            <a:off x="719091" y="3882607"/>
            <a:ext cx="10537794" cy="461665"/>
          </a:xfrm>
          <a:prstGeom prst="rect">
            <a:avLst/>
          </a:prstGeom>
          <a:noFill/>
        </p:spPr>
        <p:txBody>
          <a:bodyPr wrap="square" rtlCol="0">
            <a:spAutoFit/>
          </a:bodyPr>
          <a:lstStyle/>
          <a:p>
            <a:r>
              <a:rPr lang="en-US" sz="2400" i="1" dirty="0"/>
              <a:t>Note: This Buffer Can’t Be Printed as It Doesn’t Have </a:t>
            </a:r>
            <a:r>
              <a:rPr lang="en-US" sz="2400" dirty="0">
                <a:solidFill>
                  <a:schemeClr val="accent3">
                    <a:lumMod val="60000"/>
                    <a:lumOff val="40000"/>
                  </a:schemeClr>
                </a:solidFill>
              </a:rPr>
              <a:t>$</a:t>
            </a:r>
          </a:p>
        </p:txBody>
      </p:sp>
      <p:sp>
        <p:nvSpPr>
          <p:cNvPr id="25" name="Content Placeholder 2">
            <a:extLst>
              <a:ext uri="{FF2B5EF4-FFF2-40B4-BE49-F238E27FC236}">
                <a16:creationId xmlns:a16="http://schemas.microsoft.com/office/drawing/2014/main" id="{4A9B64E0-BB63-E480-7661-38AA318E5BAE}"/>
              </a:ext>
            </a:extLst>
          </p:cNvPr>
          <p:cNvSpPr txBox="1">
            <a:spLocks/>
          </p:cNvSpPr>
          <p:nvPr/>
        </p:nvSpPr>
        <p:spPr>
          <a:xfrm>
            <a:off x="1104293" y="4277031"/>
            <a:ext cx="8946541" cy="5483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Add </a:t>
            </a:r>
            <a:r>
              <a:rPr lang="en-US" dirty="0">
                <a:solidFill>
                  <a:schemeClr val="accent3">
                    <a:lumMod val="60000"/>
                    <a:lumOff val="40000"/>
                  </a:schemeClr>
                </a:solidFill>
              </a:rPr>
              <a:t>$</a:t>
            </a:r>
            <a:r>
              <a:rPr lang="en-US" dirty="0"/>
              <a:t> After Input String Using Input Length Byte</a:t>
            </a:r>
            <a:endParaRPr lang="en-US" dirty="0">
              <a:solidFill>
                <a:schemeClr val="accent3">
                  <a:lumMod val="60000"/>
                  <a:lumOff val="40000"/>
                </a:schemeClr>
              </a:solidFill>
            </a:endParaRPr>
          </a:p>
        </p:txBody>
      </p:sp>
      <p:pic>
        <p:nvPicPr>
          <p:cNvPr id="5" name="Picture 4">
            <a:extLst>
              <a:ext uri="{FF2B5EF4-FFF2-40B4-BE49-F238E27FC236}">
                <a16:creationId xmlns:a16="http://schemas.microsoft.com/office/drawing/2014/main" id="{1AD444DF-D2E0-450B-1F12-252043BDB275}"/>
              </a:ext>
            </a:extLst>
          </p:cNvPr>
          <p:cNvPicPr>
            <a:picLocks noChangeAspect="1"/>
          </p:cNvPicPr>
          <p:nvPr/>
        </p:nvPicPr>
        <p:blipFill>
          <a:blip r:embed="rId4"/>
          <a:stretch>
            <a:fillRect/>
          </a:stretch>
        </p:blipFill>
        <p:spPr>
          <a:xfrm>
            <a:off x="1780292" y="4737958"/>
            <a:ext cx="8631415" cy="1904407"/>
          </a:xfrm>
          <a:prstGeom prst="rect">
            <a:avLst/>
          </a:prstGeom>
        </p:spPr>
      </p:pic>
    </p:spTree>
    <p:extLst>
      <p:ext uri="{BB962C8B-B14F-4D97-AF65-F5344CB8AC3E}">
        <p14:creationId xmlns:p14="http://schemas.microsoft.com/office/powerpoint/2010/main" val="408925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4" name="TextBox 3">
            <a:extLst>
              <a:ext uri="{FF2B5EF4-FFF2-40B4-BE49-F238E27FC236}">
                <a16:creationId xmlns:a16="http://schemas.microsoft.com/office/drawing/2014/main" id="{74EF1AF0-692C-5E47-6E1D-72DE852F880A}"/>
              </a:ext>
            </a:extLst>
          </p:cNvPr>
          <p:cNvSpPr txBox="1"/>
          <p:nvPr/>
        </p:nvSpPr>
        <p:spPr>
          <a:xfrm>
            <a:off x="719091" y="1296140"/>
            <a:ext cx="10537794" cy="461665"/>
          </a:xfrm>
          <a:prstGeom prst="rect">
            <a:avLst/>
          </a:prstGeom>
          <a:noFill/>
        </p:spPr>
        <p:txBody>
          <a:bodyPr wrap="square" rtlCol="0">
            <a:spAutoFit/>
          </a:bodyPr>
          <a:lstStyle/>
          <a:p>
            <a:r>
              <a:rPr lang="en-US" sz="2400" dirty="0"/>
              <a:t>String To Decimal</a:t>
            </a:r>
          </a:p>
        </p:txBody>
      </p:sp>
      <p:sp>
        <p:nvSpPr>
          <p:cNvPr id="12" name="Content Placeholder 2">
            <a:extLst>
              <a:ext uri="{FF2B5EF4-FFF2-40B4-BE49-F238E27FC236}">
                <a16:creationId xmlns:a16="http://schemas.microsoft.com/office/drawing/2014/main" id="{9F263487-D2C5-F8BB-86C3-F1D8B7928B68}"/>
              </a:ext>
            </a:extLst>
          </p:cNvPr>
          <p:cNvSpPr>
            <a:spLocks noGrp="1"/>
          </p:cNvSpPr>
          <p:nvPr>
            <p:ph idx="1"/>
          </p:nvPr>
        </p:nvSpPr>
        <p:spPr>
          <a:xfrm>
            <a:off x="1104293" y="1815317"/>
            <a:ext cx="8946541" cy="2324331"/>
          </a:xfrm>
        </p:spPr>
        <p:txBody>
          <a:bodyPr>
            <a:normAutofit/>
          </a:bodyPr>
          <a:lstStyle/>
          <a:p>
            <a:r>
              <a:rPr lang="en-US" dirty="0">
                <a:solidFill>
                  <a:schemeClr val="accent3">
                    <a:lumMod val="60000"/>
                    <a:lumOff val="40000"/>
                  </a:schemeClr>
                </a:solidFill>
              </a:rPr>
              <a:t>X = 0</a:t>
            </a:r>
          </a:p>
          <a:p>
            <a:r>
              <a:rPr lang="en-US" dirty="0"/>
              <a:t>Loop on String From MSB Taking Character Y</a:t>
            </a:r>
          </a:p>
          <a:p>
            <a:pPr lvl="1"/>
            <a:r>
              <a:rPr lang="en-US" sz="2000" dirty="0">
                <a:solidFill>
                  <a:schemeClr val="accent3">
                    <a:lumMod val="60000"/>
                    <a:lumOff val="40000"/>
                  </a:schemeClr>
                </a:solidFill>
              </a:rPr>
              <a:t>[Y as Decimal] = [Y as Char] – [“0” Char (30h)]</a:t>
            </a:r>
          </a:p>
          <a:p>
            <a:pPr lvl="1"/>
            <a:r>
              <a:rPr lang="en-US" sz="2000" dirty="0">
                <a:solidFill>
                  <a:schemeClr val="accent3">
                    <a:lumMod val="60000"/>
                    <a:lumOff val="40000"/>
                  </a:schemeClr>
                </a:solidFill>
              </a:rPr>
              <a:t>X = X * 10 + Y</a:t>
            </a:r>
          </a:p>
          <a:p>
            <a:r>
              <a:rPr lang="en-US" dirty="0"/>
              <a:t>Now We Have Decimal in X</a:t>
            </a:r>
          </a:p>
        </p:txBody>
      </p:sp>
      <p:sp>
        <p:nvSpPr>
          <p:cNvPr id="3" name="TextBox 2">
            <a:extLst>
              <a:ext uri="{FF2B5EF4-FFF2-40B4-BE49-F238E27FC236}">
                <a16:creationId xmlns:a16="http://schemas.microsoft.com/office/drawing/2014/main" id="{8EDB2511-3FE7-F81F-CF5D-0CFA371E6927}"/>
              </a:ext>
            </a:extLst>
          </p:cNvPr>
          <p:cNvSpPr txBox="1"/>
          <p:nvPr/>
        </p:nvSpPr>
        <p:spPr>
          <a:xfrm>
            <a:off x="646111" y="3953203"/>
            <a:ext cx="10537794" cy="461665"/>
          </a:xfrm>
          <a:prstGeom prst="rect">
            <a:avLst/>
          </a:prstGeom>
          <a:noFill/>
        </p:spPr>
        <p:txBody>
          <a:bodyPr wrap="square" rtlCol="0">
            <a:spAutoFit/>
          </a:bodyPr>
          <a:lstStyle/>
          <a:p>
            <a:r>
              <a:rPr lang="en-US" sz="2400" dirty="0"/>
              <a:t>Decimal To String</a:t>
            </a:r>
          </a:p>
        </p:txBody>
      </p:sp>
      <p:sp>
        <p:nvSpPr>
          <p:cNvPr id="9" name="Content Placeholder 2">
            <a:extLst>
              <a:ext uri="{FF2B5EF4-FFF2-40B4-BE49-F238E27FC236}">
                <a16:creationId xmlns:a16="http://schemas.microsoft.com/office/drawing/2014/main" id="{127DE66B-12D9-6938-8F64-1BFB1BA07F52}"/>
              </a:ext>
            </a:extLst>
          </p:cNvPr>
          <p:cNvSpPr txBox="1">
            <a:spLocks/>
          </p:cNvSpPr>
          <p:nvPr/>
        </p:nvSpPr>
        <p:spPr>
          <a:xfrm>
            <a:off x="1104293" y="4525882"/>
            <a:ext cx="8946541" cy="180028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X = number, Y = next character to write</a:t>
            </a:r>
          </a:p>
          <a:p>
            <a:r>
              <a:rPr lang="en-US" dirty="0"/>
              <a:t>Loop Until No Remainder [Writing from Right (LSB)]</a:t>
            </a:r>
          </a:p>
          <a:p>
            <a:pPr lvl="1"/>
            <a:r>
              <a:rPr lang="en-US" sz="2000" dirty="0">
                <a:solidFill>
                  <a:schemeClr val="accent3">
                    <a:lumMod val="60000"/>
                    <a:lumOff val="40000"/>
                  </a:schemeClr>
                </a:solidFill>
                <a:sym typeface="Wingdings" panose="05000000000000000000" pitchFamily="2" charset="2"/>
              </a:rPr>
              <a:t>[Y next Char]</a:t>
            </a:r>
            <a:r>
              <a:rPr lang="en-US" sz="2000" dirty="0">
                <a:solidFill>
                  <a:schemeClr val="accent3">
                    <a:lumMod val="60000"/>
                    <a:lumOff val="40000"/>
                  </a:schemeClr>
                </a:solidFill>
              </a:rPr>
              <a:t> = [X % 10] + [“0” Char (30h)]</a:t>
            </a:r>
          </a:p>
          <a:p>
            <a:pPr lvl="1"/>
            <a:r>
              <a:rPr lang="en-US" sz="2000" dirty="0">
                <a:solidFill>
                  <a:schemeClr val="accent3">
                    <a:lumMod val="60000"/>
                    <a:lumOff val="40000"/>
                  </a:schemeClr>
                </a:solidFill>
              </a:rPr>
              <a:t>X = X / 10 (Integer Division)</a:t>
            </a:r>
          </a:p>
        </p:txBody>
      </p:sp>
    </p:spTree>
    <p:extLst>
      <p:ext uri="{BB962C8B-B14F-4D97-AF65-F5344CB8AC3E}">
        <p14:creationId xmlns:p14="http://schemas.microsoft.com/office/powerpoint/2010/main" val="372735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4" name="TextBox 3">
            <a:extLst>
              <a:ext uri="{FF2B5EF4-FFF2-40B4-BE49-F238E27FC236}">
                <a16:creationId xmlns:a16="http://schemas.microsoft.com/office/drawing/2014/main" id="{74EF1AF0-692C-5E47-6E1D-72DE852F880A}"/>
              </a:ext>
            </a:extLst>
          </p:cNvPr>
          <p:cNvSpPr txBox="1"/>
          <p:nvPr/>
        </p:nvSpPr>
        <p:spPr>
          <a:xfrm>
            <a:off x="1386564" y="1731120"/>
            <a:ext cx="1509204" cy="461665"/>
          </a:xfrm>
          <a:prstGeom prst="rect">
            <a:avLst/>
          </a:prstGeom>
          <a:noFill/>
        </p:spPr>
        <p:txBody>
          <a:bodyPr wrap="square" rtlCol="0">
            <a:spAutoFit/>
          </a:bodyPr>
          <a:lstStyle/>
          <a:p>
            <a:pPr algn="ctr"/>
            <a:r>
              <a:rPr lang="en-US" sz="2400" dirty="0"/>
              <a:t>Value</a:t>
            </a:r>
          </a:p>
        </p:txBody>
      </p:sp>
      <p:cxnSp>
        <p:nvCxnSpPr>
          <p:cNvPr id="8" name="Straight Connector 7">
            <a:extLst>
              <a:ext uri="{FF2B5EF4-FFF2-40B4-BE49-F238E27FC236}">
                <a16:creationId xmlns:a16="http://schemas.microsoft.com/office/drawing/2014/main" id="{7727AFBE-D383-2E45-47E1-89FFBBD071FD}"/>
              </a:ext>
            </a:extLst>
          </p:cNvPr>
          <p:cNvCxnSpPr/>
          <p:nvPr/>
        </p:nvCxnSpPr>
        <p:spPr>
          <a:xfrm flipV="1">
            <a:off x="8119872" y="2192785"/>
            <a:ext cx="0" cy="346229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C1605F-B3AB-F392-62B7-34030AFB960E}"/>
              </a:ext>
            </a:extLst>
          </p:cNvPr>
          <p:cNvCxnSpPr/>
          <p:nvPr/>
        </p:nvCxnSpPr>
        <p:spPr>
          <a:xfrm flipV="1">
            <a:off x="4059936" y="2192785"/>
            <a:ext cx="0" cy="346229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D1BA706-F582-3CEF-D601-C017BE8D9415}"/>
              </a:ext>
            </a:extLst>
          </p:cNvPr>
          <p:cNvSpPr txBox="1"/>
          <p:nvPr/>
        </p:nvSpPr>
        <p:spPr>
          <a:xfrm>
            <a:off x="5335302" y="1731119"/>
            <a:ext cx="1509204" cy="461665"/>
          </a:xfrm>
          <a:prstGeom prst="rect">
            <a:avLst/>
          </a:prstGeom>
          <a:noFill/>
        </p:spPr>
        <p:txBody>
          <a:bodyPr wrap="square" rtlCol="0">
            <a:spAutoFit/>
          </a:bodyPr>
          <a:lstStyle/>
          <a:p>
            <a:pPr algn="ctr"/>
            <a:r>
              <a:rPr lang="en-US" sz="2400" dirty="0"/>
              <a:t>BCD</a:t>
            </a:r>
          </a:p>
        </p:txBody>
      </p:sp>
      <p:sp>
        <p:nvSpPr>
          <p:cNvPr id="13" name="TextBox 12">
            <a:extLst>
              <a:ext uri="{FF2B5EF4-FFF2-40B4-BE49-F238E27FC236}">
                <a16:creationId xmlns:a16="http://schemas.microsoft.com/office/drawing/2014/main" id="{D9A32E98-B08E-50B6-872A-C230496430BD}"/>
              </a:ext>
            </a:extLst>
          </p:cNvPr>
          <p:cNvSpPr txBox="1"/>
          <p:nvPr/>
        </p:nvSpPr>
        <p:spPr>
          <a:xfrm>
            <a:off x="8345011" y="1577230"/>
            <a:ext cx="3657595" cy="769441"/>
          </a:xfrm>
          <a:prstGeom prst="rect">
            <a:avLst/>
          </a:prstGeom>
          <a:noFill/>
        </p:spPr>
        <p:txBody>
          <a:bodyPr wrap="square" rtlCol="0">
            <a:spAutoFit/>
          </a:bodyPr>
          <a:lstStyle/>
          <a:p>
            <a:pPr algn="ctr"/>
            <a:r>
              <a:rPr lang="en-US" sz="2400" dirty="0"/>
              <a:t>ASCII-Coded BCD</a:t>
            </a:r>
          </a:p>
          <a:p>
            <a:pPr algn="ctr"/>
            <a:r>
              <a:rPr lang="en-US" sz="2000" dirty="0"/>
              <a:t>(also called packed BCD)</a:t>
            </a:r>
          </a:p>
        </p:txBody>
      </p:sp>
      <p:sp>
        <p:nvSpPr>
          <p:cNvPr id="14" name="TextBox 13">
            <a:extLst>
              <a:ext uri="{FF2B5EF4-FFF2-40B4-BE49-F238E27FC236}">
                <a16:creationId xmlns:a16="http://schemas.microsoft.com/office/drawing/2014/main" id="{7E518102-6BCE-8BBD-E9D2-46825B6299B5}"/>
              </a:ext>
            </a:extLst>
          </p:cNvPr>
          <p:cNvSpPr txBox="1"/>
          <p:nvPr/>
        </p:nvSpPr>
        <p:spPr>
          <a:xfrm>
            <a:off x="777916" y="2531591"/>
            <a:ext cx="2726499" cy="400110"/>
          </a:xfrm>
          <a:prstGeom prst="rect">
            <a:avLst/>
          </a:prstGeom>
          <a:noFill/>
        </p:spPr>
        <p:txBody>
          <a:bodyPr wrap="square" rtlCol="0">
            <a:spAutoFit/>
          </a:bodyPr>
          <a:lstStyle/>
          <a:p>
            <a:pPr algn="ctr"/>
            <a:r>
              <a:rPr lang="en-US" sz="2000" dirty="0">
                <a:solidFill>
                  <a:schemeClr val="accent3">
                    <a:lumMod val="60000"/>
                    <a:lumOff val="40000"/>
                  </a:schemeClr>
                </a:solidFill>
              </a:rPr>
              <a:t>No Restrictions</a:t>
            </a:r>
          </a:p>
        </p:txBody>
      </p:sp>
      <p:sp>
        <p:nvSpPr>
          <p:cNvPr id="15" name="TextBox 14">
            <a:extLst>
              <a:ext uri="{FF2B5EF4-FFF2-40B4-BE49-F238E27FC236}">
                <a16:creationId xmlns:a16="http://schemas.microsoft.com/office/drawing/2014/main" id="{AC0B144A-E906-32D1-3816-CCD9AA0B03CA}"/>
              </a:ext>
            </a:extLst>
          </p:cNvPr>
          <p:cNvSpPr txBox="1"/>
          <p:nvPr/>
        </p:nvSpPr>
        <p:spPr>
          <a:xfrm>
            <a:off x="4669755" y="2531591"/>
            <a:ext cx="2726499" cy="400110"/>
          </a:xfrm>
          <a:prstGeom prst="rect">
            <a:avLst/>
          </a:prstGeom>
          <a:noFill/>
        </p:spPr>
        <p:txBody>
          <a:bodyPr wrap="square" rtlCol="0">
            <a:spAutoFit/>
          </a:bodyPr>
          <a:lstStyle/>
          <a:p>
            <a:pPr algn="ctr"/>
            <a:r>
              <a:rPr lang="en-US" sz="2000" dirty="0">
                <a:solidFill>
                  <a:schemeClr val="accent3">
                    <a:lumMod val="60000"/>
                    <a:lumOff val="40000"/>
                  </a:schemeClr>
                </a:solidFill>
              </a:rPr>
              <a:t>One Nibble (4 bits)</a:t>
            </a:r>
          </a:p>
        </p:txBody>
      </p:sp>
      <p:sp>
        <p:nvSpPr>
          <p:cNvPr id="16" name="TextBox 15">
            <a:extLst>
              <a:ext uri="{FF2B5EF4-FFF2-40B4-BE49-F238E27FC236}">
                <a16:creationId xmlns:a16="http://schemas.microsoft.com/office/drawing/2014/main" id="{1BBA24BD-5D8F-89FF-9A7A-944A008EFD84}"/>
              </a:ext>
            </a:extLst>
          </p:cNvPr>
          <p:cNvSpPr txBox="1"/>
          <p:nvPr/>
        </p:nvSpPr>
        <p:spPr>
          <a:xfrm>
            <a:off x="8810558" y="2531591"/>
            <a:ext cx="2726499" cy="707886"/>
          </a:xfrm>
          <a:prstGeom prst="rect">
            <a:avLst/>
          </a:prstGeom>
          <a:noFill/>
        </p:spPr>
        <p:txBody>
          <a:bodyPr wrap="square" rtlCol="0">
            <a:spAutoFit/>
          </a:bodyPr>
          <a:lstStyle/>
          <a:p>
            <a:pPr algn="ctr"/>
            <a:r>
              <a:rPr lang="en-US" sz="2000" dirty="0">
                <a:solidFill>
                  <a:schemeClr val="accent3">
                    <a:lumMod val="60000"/>
                    <a:lumOff val="40000"/>
                  </a:schemeClr>
                </a:solidFill>
              </a:rPr>
              <a:t>One Byte (8 bits)</a:t>
            </a:r>
          </a:p>
          <a:p>
            <a:pPr algn="ctr"/>
            <a:r>
              <a:rPr lang="en-US" sz="2000" dirty="0">
                <a:solidFill>
                  <a:schemeClr val="accent3">
                    <a:lumMod val="60000"/>
                    <a:lumOff val="40000"/>
                  </a:schemeClr>
                </a:solidFill>
              </a:rPr>
              <a:t>As ASCII is one byte</a:t>
            </a:r>
          </a:p>
        </p:txBody>
      </p:sp>
      <p:pic>
        <p:nvPicPr>
          <p:cNvPr id="18" name="Picture 17">
            <a:extLst>
              <a:ext uri="{FF2B5EF4-FFF2-40B4-BE49-F238E27FC236}">
                <a16:creationId xmlns:a16="http://schemas.microsoft.com/office/drawing/2014/main" id="{2ADB0D7C-F85D-5BBB-2639-8865342754DD}"/>
              </a:ext>
            </a:extLst>
          </p:cNvPr>
          <p:cNvPicPr>
            <a:picLocks noChangeAspect="1"/>
          </p:cNvPicPr>
          <p:nvPr/>
        </p:nvPicPr>
        <p:blipFill>
          <a:blip r:embed="rId2"/>
          <a:stretch>
            <a:fillRect/>
          </a:stretch>
        </p:blipFill>
        <p:spPr>
          <a:xfrm>
            <a:off x="1386564" y="3429000"/>
            <a:ext cx="1666954" cy="802143"/>
          </a:xfrm>
          <a:prstGeom prst="rect">
            <a:avLst/>
          </a:prstGeom>
        </p:spPr>
      </p:pic>
      <p:pic>
        <p:nvPicPr>
          <p:cNvPr id="20" name="Picture 19">
            <a:extLst>
              <a:ext uri="{FF2B5EF4-FFF2-40B4-BE49-F238E27FC236}">
                <a16:creationId xmlns:a16="http://schemas.microsoft.com/office/drawing/2014/main" id="{447CD330-3D49-9DC2-2A4D-28F338378A2E}"/>
              </a:ext>
            </a:extLst>
          </p:cNvPr>
          <p:cNvPicPr>
            <a:picLocks noChangeAspect="1"/>
          </p:cNvPicPr>
          <p:nvPr/>
        </p:nvPicPr>
        <p:blipFill>
          <a:blip r:embed="rId3"/>
          <a:stretch>
            <a:fillRect/>
          </a:stretch>
        </p:blipFill>
        <p:spPr>
          <a:xfrm>
            <a:off x="5370739" y="3429000"/>
            <a:ext cx="1663469" cy="806906"/>
          </a:xfrm>
          <a:prstGeom prst="rect">
            <a:avLst/>
          </a:prstGeom>
        </p:spPr>
      </p:pic>
      <p:pic>
        <p:nvPicPr>
          <p:cNvPr id="22" name="Picture 21">
            <a:extLst>
              <a:ext uri="{FF2B5EF4-FFF2-40B4-BE49-F238E27FC236}">
                <a16:creationId xmlns:a16="http://schemas.microsoft.com/office/drawing/2014/main" id="{EDE9BF5A-E305-6924-FDF4-F5C95F8A6298}"/>
              </a:ext>
            </a:extLst>
          </p:cNvPr>
          <p:cNvPicPr>
            <a:picLocks noChangeAspect="1"/>
          </p:cNvPicPr>
          <p:nvPr/>
        </p:nvPicPr>
        <p:blipFill>
          <a:blip r:embed="rId4"/>
          <a:stretch>
            <a:fillRect/>
          </a:stretch>
        </p:blipFill>
        <p:spPr>
          <a:xfrm>
            <a:off x="9219100" y="3424397"/>
            <a:ext cx="1663467" cy="802143"/>
          </a:xfrm>
          <a:prstGeom prst="rect">
            <a:avLst/>
          </a:prstGeom>
        </p:spPr>
      </p:pic>
      <p:sp>
        <p:nvSpPr>
          <p:cNvPr id="23" name="TextBox 22">
            <a:extLst>
              <a:ext uri="{FF2B5EF4-FFF2-40B4-BE49-F238E27FC236}">
                <a16:creationId xmlns:a16="http://schemas.microsoft.com/office/drawing/2014/main" id="{D06BDF6F-A0CD-C489-2EFA-EEB4E3FEBD80}"/>
              </a:ext>
            </a:extLst>
          </p:cNvPr>
          <p:cNvSpPr txBox="1"/>
          <p:nvPr/>
        </p:nvSpPr>
        <p:spPr>
          <a:xfrm>
            <a:off x="4558951" y="4733205"/>
            <a:ext cx="3076817" cy="400110"/>
          </a:xfrm>
          <a:prstGeom prst="rect">
            <a:avLst/>
          </a:prstGeom>
          <a:noFill/>
        </p:spPr>
        <p:txBody>
          <a:bodyPr wrap="square" rtlCol="0">
            <a:spAutoFit/>
          </a:bodyPr>
          <a:lstStyle/>
          <a:p>
            <a:pPr algn="ctr"/>
            <a:r>
              <a:rPr lang="en-US" sz="2000" dirty="0">
                <a:solidFill>
                  <a:schemeClr val="accent3">
                    <a:lumMod val="60000"/>
                    <a:lumOff val="40000"/>
                  </a:schemeClr>
                </a:solidFill>
              </a:rPr>
              <a:t>Instructions: DAA - DAS</a:t>
            </a:r>
          </a:p>
        </p:txBody>
      </p:sp>
      <p:sp>
        <p:nvSpPr>
          <p:cNvPr id="24" name="TextBox 23">
            <a:extLst>
              <a:ext uri="{FF2B5EF4-FFF2-40B4-BE49-F238E27FC236}">
                <a16:creationId xmlns:a16="http://schemas.microsoft.com/office/drawing/2014/main" id="{A850BF06-2386-4FE0-FBF9-FC63F48D5FA8}"/>
              </a:ext>
            </a:extLst>
          </p:cNvPr>
          <p:cNvSpPr txBox="1"/>
          <p:nvPr/>
        </p:nvSpPr>
        <p:spPr>
          <a:xfrm>
            <a:off x="8512424" y="4733205"/>
            <a:ext cx="3076817" cy="707886"/>
          </a:xfrm>
          <a:prstGeom prst="rect">
            <a:avLst/>
          </a:prstGeom>
          <a:noFill/>
        </p:spPr>
        <p:txBody>
          <a:bodyPr wrap="square" rtlCol="0">
            <a:spAutoFit/>
          </a:bodyPr>
          <a:lstStyle/>
          <a:p>
            <a:pPr algn="ctr"/>
            <a:r>
              <a:rPr lang="en-US" sz="2000" dirty="0">
                <a:solidFill>
                  <a:schemeClr val="accent3">
                    <a:lumMod val="60000"/>
                    <a:lumOff val="40000"/>
                  </a:schemeClr>
                </a:solidFill>
              </a:rPr>
              <a:t>Instructions: AAA – AAS</a:t>
            </a:r>
          </a:p>
          <a:p>
            <a:pPr algn="ctr"/>
            <a:r>
              <a:rPr lang="en-US" sz="2000" dirty="0">
                <a:solidFill>
                  <a:schemeClr val="accent3">
                    <a:lumMod val="60000"/>
                    <a:lumOff val="40000"/>
                  </a:schemeClr>
                </a:solidFill>
              </a:rPr>
              <a:t>			 AAM - AAD</a:t>
            </a:r>
          </a:p>
        </p:txBody>
      </p:sp>
    </p:spTree>
    <p:extLst>
      <p:ext uri="{BB962C8B-B14F-4D97-AF65-F5344CB8AC3E}">
        <p14:creationId xmlns:p14="http://schemas.microsoft.com/office/powerpoint/2010/main" val="1439191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F88-80AA-8E58-04AC-ED65553C27EA}"/>
              </a:ext>
            </a:extLst>
          </p:cNvPr>
          <p:cNvSpPr>
            <a:spLocks noGrp="1"/>
          </p:cNvSpPr>
          <p:nvPr>
            <p:ph type="title"/>
          </p:nvPr>
        </p:nvSpPr>
        <p:spPr/>
        <p:txBody>
          <a:bodyPr/>
          <a:lstStyle/>
          <a:p>
            <a:r>
              <a:rPr lang="en-US" dirty="0"/>
              <a:t>Important Notes</a:t>
            </a:r>
          </a:p>
        </p:txBody>
      </p:sp>
      <p:sp>
        <p:nvSpPr>
          <p:cNvPr id="4" name="TextBox 3">
            <a:extLst>
              <a:ext uri="{FF2B5EF4-FFF2-40B4-BE49-F238E27FC236}">
                <a16:creationId xmlns:a16="http://schemas.microsoft.com/office/drawing/2014/main" id="{74EF1AF0-692C-5E47-6E1D-72DE852F880A}"/>
              </a:ext>
            </a:extLst>
          </p:cNvPr>
          <p:cNvSpPr txBox="1"/>
          <p:nvPr/>
        </p:nvSpPr>
        <p:spPr>
          <a:xfrm>
            <a:off x="719091" y="1296140"/>
            <a:ext cx="10537794" cy="461665"/>
          </a:xfrm>
          <a:prstGeom prst="rect">
            <a:avLst/>
          </a:prstGeom>
          <a:noFill/>
        </p:spPr>
        <p:txBody>
          <a:bodyPr wrap="square" rtlCol="0">
            <a:spAutoFit/>
          </a:bodyPr>
          <a:lstStyle/>
          <a:p>
            <a:r>
              <a:rPr lang="en-US" sz="2400" dirty="0"/>
              <a:t>Take Input String as Binary</a:t>
            </a:r>
          </a:p>
        </p:txBody>
      </p:sp>
      <p:sp>
        <p:nvSpPr>
          <p:cNvPr id="12" name="Content Placeholder 2">
            <a:extLst>
              <a:ext uri="{FF2B5EF4-FFF2-40B4-BE49-F238E27FC236}">
                <a16:creationId xmlns:a16="http://schemas.microsoft.com/office/drawing/2014/main" id="{9F263487-D2C5-F8BB-86C3-F1D8B7928B68}"/>
              </a:ext>
            </a:extLst>
          </p:cNvPr>
          <p:cNvSpPr>
            <a:spLocks noGrp="1"/>
          </p:cNvSpPr>
          <p:nvPr>
            <p:ph idx="1"/>
          </p:nvPr>
        </p:nvSpPr>
        <p:spPr>
          <a:xfrm>
            <a:off x="1104293" y="1762053"/>
            <a:ext cx="8946541" cy="2650149"/>
          </a:xfrm>
        </p:spPr>
        <p:txBody>
          <a:bodyPr>
            <a:normAutofit/>
          </a:bodyPr>
          <a:lstStyle/>
          <a:p>
            <a:r>
              <a:rPr lang="en-US" dirty="0">
                <a:solidFill>
                  <a:schemeClr val="accent3">
                    <a:lumMod val="60000"/>
                    <a:lumOff val="40000"/>
                  </a:schemeClr>
                </a:solidFill>
              </a:rPr>
              <a:t>X = 0</a:t>
            </a:r>
          </a:p>
          <a:p>
            <a:r>
              <a:rPr lang="en-US" dirty="0"/>
              <a:t>Loop on String From MSB Taking Character Y</a:t>
            </a:r>
          </a:p>
          <a:p>
            <a:pPr lvl="1"/>
            <a:r>
              <a:rPr lang="en-US" sz="2000" dirty="0">
                <a:solidFill>
                  <a:schemeClr val="accent3">
                    <a:lumMod val="60000"/>
                    <a:lumOff val="40000"/>
                  </a:schemeClr>
                </a:solidFill>
              </a:rPr>
              <a:t>If Y == ‘1’</a:t>
            </a:r>
          </a:p>
          <a:p>
            <a:pPr lvl="2"/>
            <a:r>
              <a:rPr lang="en-US" sz="1800" dirty="0">
                <a:solidFill>
                  <a:schemeClr val="accent3">
                    <a:lumMod val="60000"/>
                    <a:lumOff val="40000"/>
                  </a:schemeClr>
                </a:solidFill>
              </a:rPr>
              <a:t>ORR X, 1</a:t>
            </a:r>
          </a:p>
          <a:p>
            <a:pPr lvl="1"/>
            <a:r>
              <a:rPr lang="en-US" sz="2000" dirty="0">
                <a:solidFill>
                  <a:schemeClr val="accent3">
                    <a:lumMod val="60000"/>
                    <a:lumOff val="40000"/>
                  </a:schemeClr>
                </a:solidFill>
              </a:rPr>
              <a:t>SHL X,1</a:t>
            </a:r>
          </a:p>
          <a:p>
            <a:r>
              <a:rPr lang="en-US" dirty="0"/>
              <a:t>Now We Have Same Value in X</a:t>
            </a:r>
          </a:p>
        </p:txBody>
      </p:sp>
      <p:sp>
        <p:nvSpPr>
          <p:cNvPr id="5" name="TextBox 4">
            <a:extLst>
              <a:ext uri="{FF2B5EF4-FFF2-40B4-BE49-F238E27FC236}">
                <a16:creationId xmlns:a16="http://schemas.microsoft.com/office/drawing/2014/main" id="{9FB08926-6742-55CE-F695-B6329BA3D1F0}"/>
              </a:ext>
            </a:extLst>
          </p:cNvPr>
          <p:cNvSpPr txBox="1"/>
          <p:nvPr/>
        </p:nvSpPr>
        <p:spPr>
          <a:xfrm>
            <a:off x="719091" y="4392007"/>
            <a:ext cx="10537794" cy="461665"/>
          </a:xfrm>
          <a:prstGeom prst="rect">
            <a:avLst/>
          </a:prstGeom>
          <a:noFill/>
        </p:spPr>
        <p:txBody>
          <a:bodyPr wrap="square" rtlCol="0">
            <a:spAutoFit/>
          </a:bodyPr>
          <a:lstStyle/>
          <a:p>
            <a:r>
              <a:rPr lang="en-US" sz="2400" dirty="0"/>
              <a:t>Convert Digit to HEX ASCII</a:t>
            </a:r>
          </a:p>
        </p:txBody>
      </p:sp>
      <p:sp>
        <p:nvSpPr>
          <p:cNvPr id="6" name="Content Placeholder 2">
            <a:extLst>
              <a:ext uri="{FF2B5EF4-FFF2-40B4-BE49-F238E27FC236}">
                <a16:creationId xmlns:a16="http://schemas.microsoft.com/office/drawing/2014/main" id="{4EE526FE-073E-81A6-517F-2AE5EC139EA5}"/>
              </a:ext>
            </a:extLst>
          </p:cNvPr>
          <p:cNvSpPr txBox="1">
            <a:spLocks/>
          </p:cNvSpPr>
          <p:nvPr/>
        </p:nvSpPr>
        <p:spPr>
          <a:xfrm>
            <a:off x="1104292" y="5003882"/>
            <a:ext cx="8946541" cy="159222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solidFill>
                  <a:schemeClr val="accent3">
                    <a:lumMod val="60000"/>
                    <a:lumOff val="40000"/>
                  </a:schemeClr>
                </a:solidFill>
              </a:rPr>
              <a:t>X = Digit</a:t>
            </a:r>
          </a:p>
          <a:p>
            <a:r>
              <a:rPr lang="en-US" dirty="0">
                <a:solidFill>
                  <a:schemeClr val="accent3">
                    <a:lumMod val="60000"/>
                    <a:lumOff val="40000"/>
                  </a:schemeClr>
                </a:solidFill>
              </a:rPr>
              <a:t>X = X + ‘0’</a:t>
            </a:r>
          </a:p>
          <a:p>
            <a:r>
              <a:rPr lang="en-US" dirty="0">
                <a:solidFill>
                  <a:schemeClr val="accent3">
                    <a:lumMod val="60000"/>
                    <a:lumOff val="40000"/>
                  </a:schemeClr>
                </a:solidFill>
              </a:rPr>
              <a:t>IF X &gt; ‘9’: X = X + 7      (according to ASCII table)</a:t>
            </a:r>
          </a:p>
        </p:txBody>
      </p:sp>
    </p:spTree>
    <p:extLst>
      <p:ext uri="{BB962C8B-B14F-4D97-AF65-F5344CB8AC3E}">
        <p14:creationId xmlns:p14="http://schemas.microsoft.com/office/powerpoint/2010/main" val="2154606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p:txBody>
          <a:bodyPr/>
          <a:lstStyle/>
          <a:p>
            <a:r>
              <a:rPr lang="en-US" dirty="0"/>
              <a:t>Problem 1</a:t>
            </a:r>
          </a:p>
        </p:txBody>
      </p:sp>
      <p:pic>
        <p:nvPicPr>
          <p:cNvPr id="5" name="Picture 4">
            <a:extLst>
              <a:ext uri="{FF2B5EF4-FFF2-40B4-BE49-F238E27FC236}">
                <a16:creationId xmlns:a16="http://schemas.microsoft.com/office/drawing/2014/main" id="{59C51060-6A5F-EC16-9F70-C1CEFB8258A2}"/>
              </a:ext>
            </a:extLst>
          </p:cNvPr>
          <p:cNvPicPr>
            <a:picLocks noChangeAspect="1"/>
          </p:cNvPicPr>
          <p:nvPr/>
        </p:nvPicPr>
        <p:blipFill>
          <a:blip r:embed="rId2"/>
          <a:stretch>
            <a:fillRect/>
          </a:stretch>
        </p:blipFill>
        <p:spPr>
          <a:xfrm>
            <a:off x="4881984" y="2746569"/>
            <a:ext cx="1607592" cy="1817815"/>
          </a:xfrm>
          <a:prstGeom prst="rect">
            <a:avLst/>
          </a:prstGeom>
        </p:spPr>
      </p:pic>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7981026" cy="830997"/>
          </a:xfrm>
          <a:prstGeom prst="rect">
            <a:avLst/>
          </a:prstGeom>
          <a:noFill/>
        </p:spPr>
        <p:txBody>
          <a:bodyPr wrap="square" rtlCol="0">
            <a:spAutoFit/>
          </a:bodyPr>
          <a:lstStyle/>
          <a:p>
            <a:r>
              <a:rPr lang="en-GB" sz="2400" dirty="0">
                <a:effectLst/>
                <a:latin typeface="Times New Roman" panose="02020603050405020304" pitchFamily="18" charset="0"/>
                <a:ea typeface="Times New Roman" panose="02020603050405020304" pitchFamily="18" charset="0"/>
              </a:rPr>
              <a:t>What is the function of the following program?</a:t>
            </a:r>
            <a:endParaRPr lang="en-US" sz="2400"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61968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p:txBody>
          <a:bodyPr/>
          <a:lstStyle/>
          <a:p>
            <a:r>
              <a:rPr lang="en-US" dirty="0"/>
              <a:t>Problem 1</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7981026" cy="830997"/>
          </a:xfrm>
          <a:prstGeom prst="rect">
            <a:avLst/>
          </a:prstGeom>
          <a:noFill/>
        </p:spPr>
        <p:txBody>
          <a:bodyPr wrap="square" rtlCol="0">
            <a:spAutoFit/>
          </a:bodyPr>
          <a:lstStyle/>
          <a:p>
            <a:r>
              <a:rPr lang="en-GB" sz="2400" dirty="0">
                <a:effectLst/>
                <a:latin typeface="Times New Roman" panose="02020603050405020304" pitchFamily="18" charset="0"/>
                <a:ea typeface="Times New Roman" panose="02020603050405020304" pitchFamily="18" charset="0"/>
              </a:rPr>
              <a:t>What is the function of the following program?</a:t>
            </a:r>
            <a:endParaRPr lang="en-US" sz="2400" dirty="0">
              <a:effectLst/>
              <a:latin typeface="Times New Roman" panose="02020603050405020304" pitchFamily="18" charset="0"/>
              <a:ea typeface="Times New Roman" panose="02020603050405020304" pitchFamily="18" charset="0"/>
            </a:endParaRPr>
          </a:p>
          <a:p>
            <a:endParaRPr lang="en-US" sz="2400" dirty="0"/>
          </a:p>
        </p:txBody>
      </p:sp>
      <p:sp>
        <p:nvSpPr>
          <p:cNvPr id="7" name="Rectangle 6">
            <a:extLst>
              <a:ext uri="{FF2B5EF4-FFF2-40B4-BE49-F238E27FC236}">
                <a16:creationId xmlns:a16="http://schemas.microsoft.com/office/drawing/2014/main" id="{2F21AEDF-EFF2-71F5-C05F-263155EEF6A6}"/>
              </a:ext>
            </a:extLst>
          </p:cNvPr>
          <p:cNvSpPr/>
          <p:nvPr/>
        </p:nvSpPr>
        <p:spPr>
          <a:xfrm>
            <a:off x="7819268" y="3254644"/>
            <a:ext cx="2301275" cy="1242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text mode: the screen is 80 columns and 25 rows (80 x 25)</a:t>
            </a:r>
          </a:p>
        </p:txBody>
      </p:sp>
      <p:pic>
        <p:nvPicPr>
          <p:cNvPr id="9" name="Picture 8">
            <a:extLst>
              <a:ext uri="{FF2B5EF4-FFF2-40B4-BE49-F238E27FC236}">
                <a16:creationId xmlns:a16="http://schemas.microsoft.com/office/drawing/2014/main" id="{008ED7BE-AE43-EFBA-3D39-C85366D63DB6}"/>
              </a:ext>
            </a:extLst>
          </p:cNvPr>
          <p:cNvPicPr>
            <a:picLocks noChangeAspect="1"/>
          </p:cNvPicPr>
          <p:nvPr/>
        </p:nvPicPr>
        <p:blipFill>
          <a:blip r:embed="rId2"/>
          <a:stretch>
            <a:fillRect/>
          </a:stretch>
        </p:blipFill>
        <p:spPr>
          <a:xfrm>
            <a:off x="2439683" y="2123237"/>
            <a:ext cx="4134427" cy="3505689"/>
          </a:xfrm>
          <a:prstGeom prst="rect">
            <a:avLst/>
          </a:prstGeom>
        </p:spPr>
      </p:pic>
    </p:spTree>
    <p:extLst>
      <p:ext uri="{BB962C8B-B14F-4D97-AF65-F5344CB8AC3E}">
        <p14:creationId xmlns:p14="http://schemas.microsoft.com/office/powerpoint/2010/main" val="4063467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2</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7981026" cy="461665"/>
          </a:xfrm>
          <a:prstGeom prst="rect">
            <a:avLst/>
          </a:prstGeom>
          <a:noFill/>
        </p:spPr>
        <p:txBody>
          <a:bodyPr wrap="square" rtlCol="0">
            <a:spAutoFit/>
          </a:bodyPr>
          <a:lstStyle/>
          <a:p>
            <a:r>
              <a:rPr lang="en-US" sz="2400" dirty="0">
                <a:effectLst/>
                <a:latin typeface="Times New Roman" panose="02020603050405020304" pitchFamily="18" charset="0"/>
                <a:ea typeface="Times New Roman" panose="02020603050405020304" pitchFamily="18" charset="0"/>
              </a:rPr>
              <a:t>Make a file for macros that contains the following macros</a:t>
            </a:r>
            <a:endParaRPr lang="en-US" sz="2400" dirty="0"/>
          </a:p>
        </p:txBody>
      </p:sp>
      <p:pic>
        <p:nvPicPr>
          <p:cNvPr id="4" name="Picture 3">
            <a:extLst>
              <a:ext uri="{FF2B5EF4-FFF2-40B4-BE49-F238E27FC236}">
                <a16:creationId xmlns:a16="http://schemas.microsoft.com/office/drawing/2014/main" id="{EC5896A6-5070-6B6B-E1F8-A6ECB7DC547F}"/>
              </a:ext>
            </a:extLst>
          </p:cNvPr>
          <p:cNvPicPr>
            <a:picLocks noChangeAspect="1"/>
          </p:cNvPicPr>
          <p:nvPr/>
        </p:nvPicPr>
        <p:blipFill>
          <a:blip r:embed="rId2"/>
          <a:stretch>
            <a:fillRect/>
          </a:stretch>
        </p:blipFill>
        <p:spPr>
          <a:xfrm>
            <a:off x="646111" y="2333472"/>
            <a:ext cx="10850489" cy="1095528"/>
          </a:xfrm>
          <a:prstGeom prst="rect">
            <a:avLst/>
          </a:prstGeom>
        </p:spPr>
      </p:pic>
      <p:sp>
        <p:nvSpPr>
          <p:cNvPr id="7" name="Rectangle 6">
            <a:extLst>
              <a:ext uri="{FF2B5EF4-FFF2-40B4-BE49-F238E27FC236}">
                <a16:creationId xmlns:a16="http://schemas.microsoft.com/office/drawing/2014/main" id="{CD9580A5-BEC8-5F04-B765-04125644C3E0}"/>
              </a:ext>
            </a:extLst>
          </p:cNvPr>
          <p:cNvSpPr/>
          <p:nvPr/>
        </p:nvSpPr>
        <p:spPr>
          <a:xfrm>
            <a:off x="6604986" y="4403324"/>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236722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3</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707886"/>
          </a:xfrm>
          <a:prstGeom prst="rect">
            <a:avLst/>
          </a:prstGeom>
          <a:noFill/>
        </p:spPr>
        <p:txBody>
          <a:bodyPr wrap="square" rtlCol="0">
            <a:spAutoFit/>
          </a:bodyPr>
          <a:lstStyle/>
          <a:p>
            <a:pPr marR="0" lvl="0" algn="just" rtl="0">
              <a:spcBef>
                <a:spcPts val="0"/>
              </a:spcBef>
              <a:spcAft>
                <a:spcPts val="0"/>
              </a:spcAft>
            </a:pPr>
            <a:r>
              <a:rPr lang="en-GB" sz="2000" dirty="0">
                <a:effectLst/>
                <a:latin typeface="Times New Roman" panose="02020603050405020304" pitchFamily="18" charset="0"/>
                <a:ea typeface="Times New Roman" panose="02020603050405020304" pitchFamily="18" charset="0"/>
              </a:rPr>
              <a:t>Use internet search to find the function of the following assembly commands:</a:t>
            </a:r>
            <a:endParaRPr lang="en-US" sz="2000" dirty="0">
              <a:effectLst/>
              <a:latin typeface="Courier New" panose="02070309020205020404" pitchFamily="49" charset="0"/>
              <a:ea typeface="Times New Roman" panose="02020603050405020304" pitchFamily="18" charset="0"/>
            </a:endParaRPr>
          </a:p>
          <a:p>
            <a:pPr marL="457200" marR="0" algn="just">
              <a:spcBef>
                <a:spcPts val="0"/>
              </a:spcBef>
              <a:spcAft>
                <a:spcPts val="0"/>
              </a:spcAft>
            </a:pPr>
            <a:r>
              <a:rPr lang="en-GB" sz="2000" dirty="0">
                <a:effectLst/>
                <a:latin typeface="Times New Roman" panose="02020603050405020304" pitchFamily="18" charset="0"/>
                <a:ea typeface="Times New Roman" panose="02020603050405020304" pitchFamily="18" charset="0"/>
              </a:rPr>
              <a:t>DAA, DAS, AAA, AAS, AAM and AAD. Write a simple code describing each one.</a:t>
            </a:r>
            <a:endParaRPr lang="en-US" sz="2000" dirty="0">
              <a:effectLst/>
              <a:latin typeface="Courier New" panose="02070309020205020404" pitchFamily="49" charset="0"/>
              <a:ea typeface="Times New Roman" panose="02020603050405020304" pitchFamily="18" charset="0"/>
            </a:endParaRPr>
          </a:p>
        </p:txBody>
      </p:sp>
      <p:sp>
        <p:nvSpPr>
          <p:cNvPr id="3" name="Rectangle 2">
            <a:extLst>
              <a:ext uri="{FF2B5EF4-FFF2-40B4-BE49-F238E27FC236}">
                <a16:creationId xmlns:a16="http://schemas.microsoft.com/office/drawing/2014/main" id="{0EF64512-8C9C-2197-7C8C-5566D292DCF9}"/>
              </a:ext>
            </a:extLst>
          </p:cNvPr>
          <p:cNvSpPr/>
          <p:nvPr/>
        </p:nvSpPr>
        <p:spPr>
          <a:xfrm>
            <a:off x="6604986" y="4403324"/>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100220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4</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523220"/>
          </a:xfrm>
          <a:prstGeom prst="rect">
            <a:avLst/>
          </a:prstGeom>
          <a:noFill/>
        </p:spPr>
        <p:txBody>
          <a:bodyPr wrap="square" rtlCol="0">
            <a:spAutoFit/>
          </a:bodyPr>
          <a:lstStyle/>
          <a:p>
            <a:pPr marR="0" lvl="0" algn="just">
              <a:spcBef>
                <a:spcPts val="0"/>
              </a:spcBef>
              <a:spcAft>
                <a:spcPts val="0"/>
              </a:spcAft>
            </a:pPr>
            <a:r>
              <a:rPr lang="en-GB" sz="2800" dirty="0">
                <a:effectLst/>
                <a:latin typeface="Times New Roman" panose="02020603050405020304" pitchFamily="18" charset="0"/>
                <a:ea typeface="Times New Roman" panose="02020603050405020304" pitchFamily="18" charset="0"/>
              </a:rPr>
              <a:t>Colour Code</a:t>
            </a:r>
            <a:endParaRPr lang="en-US" sz="28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316B1BAB-3EC3-11E7-7DCB-D9FFE9EA64E6}"/>
              </a:ext>
            </a:extLst>
          </p:cNvPr>
          <p:cNvSpPr>
            <a:spLocks noGrp="1"/>
          </p:cNvSpPr>
          <p:nvPr>
            <p:ph idx="1"/>
          </p:nvPr>
        </p:nvSpPr>
        <p:spPr>
          <a:xfrm>
            <a:off x="1104293" y="2631098"/>
            <a:ext cx="9788608" cy="1595804"/>
          </a:xfrm>
        </p:spPr>
        <p:txBody>
          <a:bodyPr>
            <a:normAutofit/>
          </a:bodyPr>
          <a:lstStyle/>
          <a:p>
            <a:r>
              <a:rPr lang="en-US" sz="2400" b="1" dirty="0">
                <a:solidFill>
                  <a:schemeClr val="bg1"/>
                </a:solidFill>
              </a:rPr>
              <a:t>Black Problems are not solved</a:t>
            </a:r>
          </a:p>
          <a:p>
            <a:r>
              <a:rPr lang="en-US" sz="2400" b="1" dirty="0">
                <a:solidFill>
                  <a:schemeClr val="accent3">
                    <a:lumMod val="60000"/>
                    <a:lumOff val="40000"/>
                  </a:schemeClr>
                </a:solidFill>
              </a:rPr>
              <a:t>Yellow Problems are solved and important (have math)</a:t>
            </a:r>
          </a:p>
          <a:p>
            <a:r>
              <a:rPr lang="en-US" sz="2400" b="1" dirty="0"/>
              <a:t>White Problems are solved but have no math (interrupts only)</a:t>
            </a:r>
          </a:p>
        </p:txBody>
      </p:sp>
    </p:spTree>
    <p:extLst>
      <p:ext uri="{BB962C8B-B14F-4D97-AF65-F5344CB8AC3E}">
        <p14:creationId xmlns:p14="http://schemas.microsoft.com/office/powerpoint/2010/main" val="2500932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4</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461665"/>
          </a:xfrm>
          <a:prstGeom prst="rect">
            <a:avLst/>
          </a:prstGeom>
          <a:noFill/>
        </p:spPr>
        <p:txBody>
          <a:bodyPr wrap="square" rtlCol="0">
            <a:spAutoFit/>
          </a:bodyPr>
          <a:lstStyle/>
          <a:p>
            <a:pPr marR="0" lvl="0" algn="just">
              <a:spcBef>
                <a:spcPts val="0"/>
              </a:spcBef>
              <a:spcAft>
                <a:spcPts val="0"/>
              </a:spcAft>
            </a:pPr>
            <a:r>
              <a:rPr lang="en-GB" sz="2400" dirty="0">
                <a:effectLst/>
                <a:latin typeface="Times New Roman" panose="02020603050405020304" pitchFamily="18" charset="0"/>
                <a:ea typeface="Times New Roman" panose="02020603050405020304" pitchFamily="18" charset="0"/>
              </a:rPr>
              <a:t>Write the following programs</a:t>
            </a:r>
            <a:endParaRPr lang="en-US" sz="24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316B1BAB-3EC3-11E7-7DCB-D9FFE9EA64E6}"/>
              </a:ext>
            </a:extLst>
          </p:cNvPr>
          <p:cNvSpPr>
            <a:spLocks noGrp="1"/>
          </p:cNvSpPr>
          <p:nvPr>
            <p:ph idx="1"/>
          </p:nvPr>
        </p:nvSpPr>
        <p:spPr>
          <a:xfrm>
            <a:off x="1104293" y="2337004"/>
            <a:ext cx="8946541" cy="3637668"/>
          </a:xfrm>
        </p:spPr>
        <p:txBody>
          <a:bodyPr>
            <a:normAutofit/>
          </a:bodyPr>
          <a:lstStyle/>
          <a:p>
            <a:r>
              <a:rPr lang="en-US" dirty="0"/>
              <a:t>Clears the screen and puts the cursor on position row = 15 and column = 20, displays the prompt "What is your name?", gets a response from the keyboard and displays it at row = 17 and column = 20.</a:t>
            </a:r>
          </a:p>
          <a:p>
            <a:r>
              <a:rPr lang="en-US" dirty="0">
                <a:solidFill>
                  <a:schemeClr val="accent3">
                    <a:lumMod val="60000"/>
                    <a:lumOff val="40000"/>
                  </a:schemeClr>
                </a:solidFill>
              </a:rPr>
              <a:t>Input two seven-digit numbers in response to the prompts "Enter the first number" and "Enter the second number". Add them together (using AAA) and display the sum with the message "The total sum is:”</a:t>
            </a:r>
          </a:p>
          <a:p>
            <a:r>
              <a:rPr lang="en-US" dirty="0">
                <a:solidFill>
                  <a:schemeClr val="tx2">
                    <a:lumMod val="10000"/>
                  </a:schemeClr>
                </a:solidFill>
              </a:rPr>
              <a:t>Accept 3 decimal digits from the KB, each digit is echoed to the display. Assuming the 3 digits represent a decimal number between 0-999, convert this number to binary and display the result. </a:t>
            </a:r>
          </a:p>
          <a:p>
            <a:pPr marL="0" indent="0">
              <a:buNone/>
            </a:pPr>
            <a:endParaRPr lang="en-US" dirty="0"/>
          </a:p>
        </p:txBody>
      </p:sp>
      <p:sp>
        <p:nvSpPr>
          <p:cNvPr id="4" name="Rectangle 3">
            <a:extLst>
              <a:ext uri="{FF2B5EF4-FFF2-40B4-BE49-F238E27FC236}">
                <a16:creationId xmlns:a16="http://schemas.microsoft.com/office/drawing/2014/main" id="{F24A0C5B-B8EF-09A0-33E5-79A294B8EB9A}"/>
              </a:ext>
            </a:extLst>
          </p:cNvPr>
          <p:cNvSpPr/>
          <p:nvPr/>
        </p:nvSpPr>
        <p:spPr>
          <a:xfrm>
            <a:off x="6569476" y="1109735"/>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1809772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4</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461665"/>
          </a:xfrm>
          <a:prstGeom prst="rect">
            <a:avLst/>
          </a:prstGeom>
          <a:noFill/>
        </p:spPr>
        <p:txBody>
          <a:bodyPr wrap="square" rtlCol="0">
            <a:spAutoFit/>
          </a:bodyPr>
          <a:lstStyle/>
          <a:p>
            <a:pPr marR="0" lvl="0" algn="just">
              <a:spcBef>
                <a:spcPts val="0"/>
              </a:spcBef>
              <a:spcAft>
                <a:spcPts val="0"/>
              </a:spcAft>
            </a:pPr>
            <a:r>
              <a:rPr lang="en-GB" sz="2400" dirty="0">
                <a:effectLst/>
                <a:latin typeface="Times New Roman" panose="02020603050405020304" pitchFamily="18" charset="0"/>
                <a:ea typeface="Times New Roman" panose="02020603050405020304" pitchFamily="18" charset="0"/>
              </a:rPr>
              <a:t>Write the following programs</a:t>
            </a:r>
            <a:endParaRPr lang="en-US" sz="24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316B1BAB-3EC3-11E7-7DCB-D9FFE9EA64E6}"/>
              </a:ext>
            </a:extLst>
          </p:cNvPr>
          <p:cNvSpPr>
            <a:spLocks noGrp="1"/>
          </p:cNvSpPr>
          <p:nvPr>
            <p:ph idx="1"/>
          </p:nvPr>
        </p:nvSpPr>
        <p:spPr>
          <a:xfrm>
            <a:off x="1104293" y="2209801"/>
            <a:ext cx="8946541" cy="3658339"/>
          </a:xfrm>
        </p:spPr>
        <p:txBody>
          <a:bodyPr>
            <a:normAutofit/>
          </a:bodyPr>
          <a:lstStyle/>
          <a:p>
            <a:r>
              <a:rPr lang="en-US" dirty="0">
                <a:solidFill>
                  <a:schemeClr val="accent3">
                    <a:lumMod val="60000"/>
                    <a:lumOff val="40000"/>
                  </a:schemeClr>
                </a:solidFill>
              </a:rPr>
              <a:t>Accepts a binary number (one byte) from the keyboard and echo it to the display in a hex-decimal form.</a:t>
            </a:r>
          </a:p>
          <a:p>
            <a:r>
              <a:rPr lang="en-US" dirty="0">
                <a:solidFill>
                  <a:schemeClr val="accent3">
                    <a:lumMod val="60000"/>
                    <a:lumOff val="40000"/>
                  </a:schemeClr>
                </a:solidFill>
              </a:rPr>
              <a:t>Displays the system time and the current day of the week at the upper right corner of the screen. Use the function 2CH, INT 21h to read the system time and the function 2AH, INT 21h to read the system date. The day should be displayed by its name and not its number.</a:t>
            </a:r>
          </a:p>
          <a:p>
            <a:r>
              <a:rPr lang="en-US" dirty="0"/>
              <a:t>Saves the contents of the current screen in a portion of the data segment, clears the screen, and then restores the contents of the screen if a key is pressed. </a:t>
            </a:r>
          </a:p>
          <a:p>
            <a:endParaRPr lang="en-US" dirty="0"/>
          </a:p>
        </p:txBody>
      </p:sp>
      <p:sp>
        <p:nvSpPr>
          <p:cNvPr id="4" name="Rectangle 3">
            <a:extLst>
              <a:ext uri="{FF2B5EF4-FFF2-40B4-BE49-F238E27FC236}">
                <a16:creationId xmlns:a16="http://schemas.microsoft.com/office/drawing/2014/main" id="{0FA8DE25-35EA-DCC8-9B5B-22E216F7D7EF}"/>
              </a:ext>
            </a:extLst>
          </p:cNvPr>
          <p:cNvSpPr/>
          <p:nvPr/>
        </p:nvSpPr>
        <p:spPr>
          <a:xfrm>
            <a:off x="6569476" y="1109735"/>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348118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4</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461665"/>
          </a:xfrm>
          <a:prstGeom prst="rect">
            <a:avLst/>
          </a:prstGeom>
          <a:noFill/>
        </p:spPr>
        <p:txBody>
          <a:bodyPr wrap="square" rtlCol="0">
            <a:spAutoFit/>
          </a:bodyPr>
          <a:lstStyle/>
          <a:p>
            <a:pPr marR="0" lvl="0" algn="just">
              <a:spcBef>
                <a:spcPts val="0"/>
              </a:spcBef>
              <a:spcAft>
                <a:spcPts val="0"/>
              </a:spcAft>
            </a:pPr>
            <a:r>
              <a:rPr lang="en-GB" sz="2400" dirty="0">
                <a:effectLst/>
                <a:latin typeface="Times New Roman" panose="02020603050405020304" pitchFamily="18" charset="0"/>
                <a:ea typeface="Times New Roman" panose="02020603050405020304" pitchFamily="18" charset="0"/>
              </a:rPr>
              <a:t>Write the following programs</a:t>
            </a:r>
            <a:endParaRPr lang="en-US" sz="24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316B1BAB-3EC3-11E7-7DCB-D9FFE9EA64E6}"/>
              </a:ext>
            </a:extLst>
          </p:cNvPr>
          <p:cNvSpPr>
            <a:spLocks noGrp="1"/>
          </p:cNvSpPr>
          <p:nvPr>
            <p:ph idx="1"/>
          </p:nvPr>
        </p:nvSpPr>
        <p:spPr>
          <a:xfrm>
            <a:off x="1104293" y="2683234"/>
            <a:ext cx="8946541" cy="2634492"/>
          </a:xfrm>
        </p:spPr>
        <p:txBody>
          <a:bodyPr>
            <a:normAutofit/>
          </a:bodyPr>
          <a:lstStyle/>
          <a:p>
            <a:r>
              <a:rPr lang="en-US" dirty="0"/>
              <a:t>Draws a vertical line in the middle of the screen, then draw a horizontal line across the middle of the screen.</a:t>
            </a:r>
          </a:p>
          <a:p>
            <a:r>
              <a:rPr lang="en-US" dirty="0"/>
              <a:t>Draw a square, a rectangle and a triangle using three different colors. Screen background should be white.</a:t>
            </a:r>
          </a:p>
          <a:p>
            <a:r>
              <a:rPr lang="en-US" dirty="0"/>
              <a:t>Counts upward by increments of 1 and displays the count with a l-second delay in between counting. When any key is pressed, it stops counting. The initial count entered by user.</a:t>
            </a:r>
          </a:p>
          <a:p>
            <a:endParaRPr lang="en-US" dirty="0"/>
          </a:p>
        </p:txBody>
      </p:sp>
      <p:sp>
        <p:nvSpPr>
          <p:cNvPr id="4" name="Rectangle 3">
            <a:extLst>
              <a:ext uri="{FF2B5EF4-FFF2-40B4-BE49-F238E27FC236}">
                <a16:creationId xmlns:a16="http://schemas.microsoft.com/office/drawing/2014/main" id="{3F737A06-12D3-178E-79B4-E26DC5995AB7}"/>
              </a:ext>
            </a:extLst>
          </p:cNvPr>
          <p:cNvSpPr/>
          <p:nvPr/>
        </p:nvSpPr>
        <p:spPr>
          <a:xfrm>
            <a:off x="6569476" y="1109735"/>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2773715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44F8-9BA7-F248-0E27-0DA0DB130E40}"/>
              </a:ext>
            </a:extLst>
          </p:cNvPr>
          <p:cNvSpPr>
            <a:spLocks noGrp="1"/>
          </p:cNvSpPr>
          <p:nvPr>
            <p:ph type="title"/>
          </p:nvPr>
        </p:nvSpPr>
        <p:spPr>
          <a:xfrm>
            <a:off x="646111" y="452718"/>
            <a:ext cx="9404723" cy="923321"/>
          </a:xfrm>
        </p:spPr>
        <p:txBody>
          <a:bodyPr/>
          <a:lstStyle/>
          <a:p>
            <a:r>
              <a:rPr lang="en-US" dirty="0"/>
              <a:t>Problem 5</a:t>
            </a:r>
          </a:p>
        </p:txBody>
      </p:sp>
      <p:sp>
        <p:nvSpPr>
          <p:cNvPr id="6" name="TextBox 5">
            <a:extLst>
              <a:ext uri="{FF2B5EF4-FFF2-40B4-BE49-F238E27FC236}">
                <a16:creationId xmlns:a16="http://schemas.microsoft.com/office/drawing/2014/main" id="{09070298-ED24-A5AB-AEF1-7E20C3B36C73}"/>
              </a:ext>
            </a:extLst>
          </p:cNvPr>
          <p:cNvSpPr txBox="1"/>
          <p:nvPr/>
        </p:nvSpPr>
        <p:spPr>
          <a:xfrm>
            <a:off x="646111" y="1438183"/>
            <a:ext cx="10557508" cy="461665"/>
          </a:xfrm>
          <a:prstGeom prst="rect">
            <a:avLst/>
          </a:prstGeom>
          <a:noFill/>
        </p:spPr>
        <p:txBody>
          <a:bodyPr wrap="square" rtlCol="0">
            <a:spAutoFit/>
          </a:bodyPr>
          <a:lstStyle/>
          <a:p>
            <a:pPr marR="0" lvl="0" algn="just">
              <a:spcBef>
                <a:spcPts val="0"/>
              </a:spcBef>
              <a:spcAft>
                <a:spcPts val="0"/>
              </a:spcAft>
            </a:pPr>
            <a:r>
              <a:rPr lang="en-US" sz="2400" dirty="0">
                <a:effectLst/>
                <a:latin typeface="Times New Roman" panose="02020603050405020304" pitchFamily="18" charset="0"/>
                <a:ea typeface="Times New Roman" panose="02020603050405020304" pitchFamily="18" charset="0"/>
              </a:rPr>
              <a:t>Write a program that performs the following</a:t>
            </a:r>
          </a:p>
        </p:txBody>
      </p:sp>
      <p:sp>
        <p:nvSpPr>
          <p:cNvPr id="3" name="Content Placeholder 2">
            <a:extLst>
              <a:ext uri="{FF2B5EF4-FFF2-40B4-BE49-F238E27FC236}">
                <a16:creationId xmlns:a16="http://schemas.microsoft.com/office/drawing/2014/main" id="{316B1BAB-3EC3-11E7-7DCB-D9FFE9EA64E6}"/>
              </a:ext>
            </a:extLst>
          </p:cNvPr>
          <p:cNvSpPr>
            <a:spLocks noGrp="1"/>
          </p:cNvSpPr>
          <p:nvPr>
            <p:ph idx="1"/>
          </p:nvPr>
        </p:nvSpPr>
        <p:spPr>
          <a:xfrm>
            <a:off x="1104293" y="2505732"/>
            <a:ext cx="8946541" cy="1844379"/>
          </a:xfrm>
        </p:spPr>
        <p:txBody>
          <a:bodyPr>
            <a:normAutofit/>
          </a:bodyPr>
          <a:lstStyle/>
          <a:p>
            <a:r>
              <a:rPr lang="en-US" dirty="0"/>
              <a:t>Save the video mode and change it to one of the graphics modes</a:t>
            </a:r>
          </a:p>
          <a:p>
            <a:r>
              <a:rPr lang="en-US" dirty="0"/>
              <a:t>Ask the user to press the left button several times</a:t>
            </a:r>
          </a:p>
          <a:p>
            <a:r>
              <a:rPr lang="en-US" dirty="0"/>
              <a:t>Upon pressing any key, restore the original video mode and display the number when a key is pressed</a:t>
            </a:r>
          </a:p>
          <a:p>
            <a:endParaRPr lang="en-US" dirty="0"/>
          </a:p>
        </p:txBody>
      </p:sp>
      <p:sp>
        <p:nvSpPr>
          <p:cNvPr id="4" name="Rectangle 3">
            <a:extLst>
              <a:ext uri="{FF2B5EF4-FFF2-40B4-BE49-F238E27FC236}">
                <a16:creationId xmlns:a16="http://schemas.microsoft.com/office/drawing/2014/main" id="{399F425E-C60B-2229-CCCC-62F33AC83088}"/>
              </a:ext>
            </a:extLst>
          </p:cNvPr>
          <p:cNvSpPr/>
          <p:nvPr/>
        </p:nvSpPr>
        <p:spPr>
          <a:xfrm>
            <a:off x="6569476" y="1109735"/>
            <a:ext cx="2601158" cy="790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a:t>
            </a:r>
          </a:p>
        </p:txBody>
      </p:sp>
    </p:spTree>
    <p:extLst>
      <p:ext uri="{BB962C8B-B14F-4D97-AF65-F5344CB8AC3E}">
        <p14:creationId xmlns:p14="http://schemas.microsoft.com/office/powerpoint/2010/main" val="13906676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796</TotalTime>
  <Words>817</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Century Gothic</vt:lpstr>
      <vt:lpstr>Courier New</vt:lpstr>
      <vt:lpstr>Times New Roman</vt:lpstr>
      <vt:lpstr>Wingdings 3</vt:lpstr>
      <vt:lpstr>Ion</vt:lpstr>
      <vt:lpstr>8086 Assembly</vt:lpstr>
      <vt:lpstr>Important Notes</vt:lpstr>
      <vt:lpstr>Important Notes</vt:lpstr>
      <vt:lpstr>Important Notes</vt:lpstr>
      <vt:lpstr>Important Notes</vt:lpstr>
      <vt:lpstr>Important Notes</vt:lpstr>
      <vt:lpstr>Important Notes</vt:lpstr>
      <vt:lpstr>Problem 1</vt:lpstr>
      <vt:lpstr>Problem 1</vt:lpstr>
      <vt:lpstr>Problem 2</vt:lpstr>
      <vt:lpstr>Problem 3</vt:lpstr>
      <vt:lpstr>Problem 4</vt:lpstr>
      <vt:lpstr>Problem 4</vt:lpstr>
      <vt:lpstr>Problem 4</vt:lpstr>
      <vt:lpstr>Problem 4</vt:lpstr>
      <vt:lpstr>Problem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Microprocessor Systems</dc:title>
  <dc:creator>Peter</dc:creator>
  <cp:lastModifiedBy>Peter</cp:lastModifiedBy>
  <cp:revision>138</cp:revision>
  <dcterms:created xsi:type="dcterms:W3CDTF">2025-02-23T18:09:19Z</dcterms:created>
  <dcterms:modified xsi:type="dcterms:W3CDTF">2026-03-16T14:44:52Z</dcterms:modified>
</cp:coreProperties>
</file>